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3749040" y="1371600"/>
            <a:ext cx="1371600" cy="1371600"/>
          </a:xfrm>
          <a:prstGeom prst="roundRect">
            <a:avLst>
              <a:gd name="adj" fmla="val 13333"/>
            </a:avLst>
          </a:prstGeom>
          <a:solidFill>
            <a:srgbClr val="14B8A6"/>
          </a:solidFill>
          <a:ln/>
        </p:spPr>
      </p:sp>
      <p:sp>
        <p:nvSpPr>
          <p:cNvPr id="3" name="Text 1"/>
          <p:cNvSpPr/>
          <p:nvPr/>
        </p:nvSpPr>
        <p:spPr>
          <a:xfrm>
            <a:off x="3749040" y="1371600"/>
            <a:ext cx="1371600" cy="1371600"/>
          </a:xfrm>
          <a:prstGeom prst="rect">
            <a:avLst/>
          </a:prstGeom>
          <a:noFill/>
          <a:ln/>
        </p:spPr>
        <p:txBody>
          <a:bodyPr wrap="square"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SER</a:t>
            </a:r>
            <a:endParaRPr lang="en-US" sz="2800" dirty="0"/>
          </a:p>
        </p:txBody>
      </p:sp>
      <p:sp>
        <p:nvSpPr>
          <p:cNvPr id="4" name="Text 2"/>
          <p:cNvSpPr/>
          <p:nvPr/>
        </p:nvSpPr>
        <p:spPr>
          <a:xfrm>
            <a:off x="914400" y="3017520"/>
            <a:ext cx="7315200" cy="731520"/>
          </a:xfrm>
          <a:prstGeom prst="rect">
            <a:avLst/>
          </a:prstGeom>
          <a:noFill/>
          <a:ln/>
        </p:spPr>
        <p:txBody>
          <a:bodyPr wrap="square" rtlCol="0" anchor="ctr"/>
          <a:lstStyle/>
          <a:p>
            <a:pPr algn="ctr" indent="0" marL="0">
              <a:buNone/>
            </a:pPr>
            <a:r>
              <a:rPr lang="en-US" sz="3600" b="1" dirty="0">
                <a:solidFill>
                  <a:srgbClr val="14B8A6"/>
                </a:solidFill>
                <a:latin typeface="Arial" pitchFamily="34" charset="0"/>
                <a:ea typeface="Arial" pitchFamily="34" charset="-122"/>
                <a:cs typeface="Arial" pitchFamily="34" charset="-120"/>
              </a:rPr>
              <a:t>Smart Emergency Router</a:t>
            </a:r>
            <a:endParaRPr lang="en-US" sz="3600" dirty="0"/>
          </a:p>
        </p:txBody>
      </p:sp>
      <p:sp>
        <p:nvSpPr>
          <p:cNvPr id="5" name="Text 3"/>
          <p:cNvSpPr/>
          <p:nvPr/>
        </p:nvSpPr>
        <p:spPr>
          <a:xfrm>
            <a:off x="914400" y="3840480"/>
            <a:ext cx="7315200" cy="457200"/>
          </a:xfrm>
          <a:prstGeom prst="rect">
            <a:avLst/>
          </a:prstGeom>
          <a:noFill/>
          <a:ln/>
        </p:spPr>
        <p:txBody>
          <a:bodyPr wrap="square" rtlCol="0" anchor="ctr"/>
          <a:lstStyle/>
          <a:p>
            <a:pPr algn="ctr" indent="0" marL="0">
              <a:buNone/>
            </a:pPr>
            <a:r>
              <a:rPr lang="en-US" sz="1600" dirty="0">
                <a:solidFill>
                  <a:srgbClr val="94A3B8"/>
                </a:solidFill>
                <a:latin typeface="Arial" pitchFamily="34" charset="0"/>
                <a:ea typeface="Arial" pitchFamily="34" charset="-122"/>
                <a:cs typeface="Arial" pitchFamily="34" charset="-120"/>
              </a:rPr>
              <a:t>AI-Powered Healthcare Navigation Infrastructure — Egypt</a:t>
            </a:r>
            <a:endParaRPr lang="en-US" sz="1600" dirty="0"/>
          </a:p>
        </p:txBody>
      </p:sp>
      <p:sp>
        <p:nvSpPr>
          <p:cNvPr id="6" name="Shape 4"/>
          <p:cNvSpPr/>
          <p:nvPr/>
        </p:nvSpPr>
        <p:spPr>
          <a:xfrm>
            <a:off x="1097280" y="4572000"/>
            <a:ext cx="1280160" cy="411480"/>
          </a:xfrm>
          <a:prstGeom prst="roundRect">
            <a:avLst>
              <a:gd name="adj" fmla="val 44444"/>
            </a:avLst>
          </a:prstGeom>
          <a:solidFill>
            <a:srgbClr val="1A2744"/>
          </a:solidFill>
          <a:ln w="12700">
            <a:solidFill>
              <a:srgbClr val="14B8A6"/>
            </a:solidFill>
            <a:prstDash val="solid"/>
          </a:ln>
        </p:spPr>
      </p:sp>
      <p:sp>
        <p:nvSpPr>
          <p:cNvPr id="7" name="Text 5"/>
          <p:cNvSpPr/>
          <p:nvPr/>
        </p:nvSpPr>
        <p:spPr>
          <a:xfrm>
            <a:off x="1097280" y="4572000"/>
            <a:ext cx="1280160" cy="411480"/>
          </a:xfrm>
          <a:prstGeom prst="rect">
            <a:avLst/>
          </a:prstGeom>
          <a:noFill/>
          <a:ln/>
        </p:spPr>
        <p:txBody>
          <a:bodyPr wrap="square" rtlCol="0" anchor="ctr"/>
          <a:lstStyle/>
          <a:p>
            <a:pPr algn="ctr" indent="0" marL="0">
              <a:buNone/>
            </a:pPr>
            <a:r>
              <a:rPr lang="en-US" sz="1100" dirty="0">
                <a:solidFill>
                  <a:srgbClr val="E2E8F0"/>
                </a:solidFill>
                <a:latin typeface="Arial" pitchFamily="34" charset="0"/>
                <a:ea typeface="Arial" pitchFamily="34" charset="-122"/>
                <a:cs typeface="Arial" pitchFamily="34" charset="-120"/>
              </a:rPr>
              <a:t>Doctors</a:t>
            </a:r>
            <a:endParaRPr lang="en-US" sz="1100" dirty="0"/>
          </a:p>
        </p:txBody>
      </p:sp>
      <p:sp>
        <p:nvSpPr>
          <p:cNvPr id="8" name="Shape 6"/>
          <p:cNvSpPr/>
          <p:nvPr/>
        </p:nvSpPr>
        <p:spPr>
          <a:xfrm>
            <a:off x="2560320" y="4572000"/>
            <a:ext cx="1280160" cy="411480"/>
          </a:xfrm>
          <a:prstGeom prst="roundRect">
            <a:avLst>
              <a:gd name="adj" fmla="val 44444"/>
            </a:avLst>
          </a:prstGeom>
          <a:solidFill>
            <a:srgbClr val="1A2744"/>
          </a:solidFill>
          <a:ln w="12700">
            <a:solidFill>
              <a:srgbClr val="14B8A6"/>
            </a:solidFill>
            <a:prstDash val="solid"/>
          </a:ln>
        </p:spPr>
      </p:sp>
      <p:sp>
        <p:nvSpPr>
          <p:cNvPr id="9" name="Text 7"/>
          <p:cNvSpPr/>
          <p:nvPr/>
        </p:nvSpPr>
        <p:spPr>
          <a:xfrm>
            <a:off x="2560320" y="4572000"/>
            <a:ext cx="1280160" cy="411480"/>
          </a:xfrm>
          <a:prstGeom prst="rect">
            <a:avLst/>
          </a:prstGeom>
          <a:noFill/>
          <a:ln/>
        </p:spPr>
        <p:txBody>
          <a:bodyPr wrap="square" rtlCol="0" anchor="ctr"/>
          <a:lstStyle/>
          <a:p>
            <a:pPr algn="ctr" indent="0" marL="0">
              <a:buNone/>
            </a:pPr>
            <a:r>
              <a:rPr lang="en-US" sz="1100" dirty="0">
                <a:solidFill>
                  <a:srgbClr val="E2E8F0"/>
                </a:solidFill>
                <a:latin typeface="Arial" pitchFamily="34" charset="0"/>
                <a:ea typeface="Arial" pitchFamily="34" charset="-122"/>
                <a:cs typeface="Arial" pitchFamily="34" charset="-120"/>
              </a:rPr>
              <a:t>Pharmacies</a:t>
            </a:r>
            <a:endParaRPr lang="en-US" sz="1100" dirty="0"/>
          </a:p>
        </p:txBody>
      </p:sp>
      <p:sp>
        <p:nvSpPr>
          <p:cNvPr id="10" name="Shape 8"/>
          <p:cNvSpPr/>
          <p:nvPr/>
        </p:nvSpPr>
        <p:spPr>
          <a:xfrm>
            <a:off x="4023360" y="4572000"/>
            <a:ext cx="1280160" cy="411480"/>
          </a:xfrm>
          <a:prstGeom prst="roundRect">
            <a:avLst>
              <a:gd name="adj" fmla="val 44444"/>
            </a:avLst>
          </a:prstGeom>
          <a:solidFill>
            <a:srgbClr val="1A2744"/>
          </a:solidFill>
          <a:ln w="12700">
            <a:solidFill>
              <a:srgbClr val="14B8A6"/>
            </a:solidFill>
            <a:prstDash val="solid"/>
          </a:ln>
        </p:spPr>
      </p:sp>
      <p:sp>
        <p:nvSpPr>
          <p:cNvPr id="11" name="Text 9"/>
          <p:cNvSpPr/>
          <p:nvPr/>
        </p:nvSpPr>
        <p:spPr>
          <a:xfrm>
            <a:off x="4023360" y="4572000"/>
            <a:ext cx="1280160" cy="411480"/>
          </a:xfrm>
          <a:prstGeom prst="rect">
            <a:avLst/>
          </a:prstGeom>
          <a:noFill/>
          <a:ln/>
        </p:spPr>
        <p:txBody>
          <a:bodyPr wrap="square" rtlCol="0" anchor="ctr"/>
          <a:lstStyle/>
          <a:p>
            <a:pPr algn="ctr" indent="0" marL="0">
              <a:buNone/>
            </a:pPr>
            <a:r>
              <a:rPr lang="en-US" sz="1100" dirty="0">
                <a:solidFill>
                  <a:srgbClr val="E2E8F0"/>
                </a:solidFill>
                <a:latin typeface="Arial" pitchFamily="34" charset="0"/>
                <a:ea typeface="Arial" pitchFamily="34" charset="-122"/>
                <a:cs typeface="Arial" pitchFamily="34" charset="-120"/>
              </a:rPr>
              <a:t>Labs</a:t>
            </a:r>
            <a:endParaRPr lang="en-US" sz="1100" dirty="0"/>
          </a:p>
        </p:txBody>
      </p:sp>
      <p:sp>
        <p:nvSpPr>
          <p:cNvPr id="12" name="Shape 10"/>
          <p:cNvSpPr/>
          <p:nvPr/>
        </p:nvSpPr>
        <p:spPr>
          <a:xfrm>
            <a:off x="5486400" y="4572000"/>
            <a:ext cx="1280160" cy="411480"/>
          </a:xfrm>
          <a:prstGeom prst="roundRect">
            <a:avLst>
              <a:gd name="adj" fmla="val 44444"/>
            </a:avLst>
          </a:prstGeom>
          <a:solidFill>
            <a:srgbClr val="1A2744"/>
          </a:solidFill>
          <a:ln w="12700">
            <a:solidFill>
              <a:srgbClr val="14B8A6"/>
            </a:solidFill>
            <a:prstDash val="solid"/>
          </a:ln>
        </p:spPr>
      </p:sp>
      <p:sp>
        <p:nvSpPr>
          <p:cNvPr id="13" name="Text 11"/>
          <p:cNvSpPr/>
          <p:nvPr/>
        </p:nvSpPr>
        <p:spPr>
          <a:xfrm>
            <a:off x="5486400" y="4572000"/>
            <a:ext cx="1280160" cy="411480"/>
          </a:xfrm>
          <a:prstGeom prst="rect">
            <a:avLst/>
          </a:prstGeom>
          <a:noFill/>
          <a:ln/>
        </p:spPr>
        <p:txBody>
          <a:bodyPr wrap="square" rtlCol="0" anchor="ctr"/>
          <a:lstStyle/>
          <a:p>
            <a:pPr algn="ctr" indent="0" marL="0">
              <a:buNone/>
            </a:pPr>
            <a:r>
              <a:rPr lang="en-US" sz="1100" dirty="0">
                <a:solidFill>
                  <a:srgbClr val="E2E8F0"/>
                </a:solidFill>
                <a:latin typeface="Arial" pitchFamily="34" charset="0"/>
                <a:ea typeface="Arial" pitchFamily="34" charset="-122"/>
                <a:cs typeface="Arial" pitchFamily="34" charset="-120"/>
              </a:rPr>
              <a:t>Ambulance</a:t>
            </a:r>
            <a:endParaRPr lang="en-US" sz="1100" dirty="0"/>
          </a:p>
        </p:txBody>
      </p:sp>
      <p:sp>
        <p:nvSpPr>
          <p:cNvPr id="14" name="Shape 12"/>
          <p:cNvSpPr/>
          <p:nvPr/>
        </p:nvSpPr>
        <p:spPr>
          <a:xfrm>
            <a:off x="6949440" y="4572000"/>
            <a:ext cx="1280160" cy="411480"/>
          </a:xfrm>
          <a:prstGeom prst="roundRect">
            <a:avLst>
              <a:gd name="adj" fmla="val 44444"/>
            </a:avLst>
          </a:prstGeom>
          <a:solidFill>
            <a:srgbClr val="1A2744"/>
          </a:solidFill>
          <a:ln w="12700">
            <a:solidFill>
              <a:srgbClr val="14B8A6"/>
            </a:solidFill>
            <a:prstDash val="solid"/>
          </a:ln>
        </p:spPr>
      </p:sp>
      <p:sp>
        <p:nvSpPr>
          <p:cNvPr id="15" name="Text 13"/>
          <p:cNvSpPr/>
          <p:nvPr/>
        </p:nvSpPr>
        <p:spPr>
          <a:xfrm>
            <a:off x="6949440" y="4572000"/>
            <a:ext cx="1280160" cy="411480"/>
          </a:xfrm>
          <a:prstGeom prst="rect">
            <a:avLst/>
          </a:prstGeom>
          <a:noFill/>
          <a:ln/>
        </p:spPr>
        <p:txBody>
          <a:bodyPr wrap="square" rtlCol="0" anchor="ctr"/>
          <a:lstStyle/>
          <a:p>
            <a:pPr algn="ctr" indent="0" marL="0">
              <a:buNone/>
            </a:pPr>
            <a:r>
              <a:rPr lang="en-US" sz="1100" dirty="0">
                <a:solidFill>
                  <a:srgbClr val="E2E8F0"/>
                </a:solidFill>
                <a:latin typeface="Arial" pitchFamily="34" charset="0"/>
                <a:ea typeface="Arial" pitchFamily="34" charset="-122"/>
                <a:cs typeface="Arial" pitchFamily="34" charset="-120"/>
              </a:rPr>
              <a:t>Blood Donors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1628"/>
        </a:solidFill>
      </p:bgPr>
    </p:bg>
    <p:spTree>
      <p:nvGrpSpPr>
        <p:cNvPr id="1" name=""/>
        <p:cNvGrpSpPr/>
        <p:nvPr/>
      </p:nvGrpSpPr>
      <p:grpSpPr>
        <a:xfrm>
          <a:off x="0" y="0"/>
          <a:ext cx="0" cy="0"/>
          <a:chOff x="0" y="0"/>
          <a:chExt cx="0" cy="0"/>
        </a:xfrm>
      </p:grpSpPr>
      <p:sp>
        <p:nvSpPr>
          <p:cNvPr id="2" name="Text 0"/>
          <p:cNvSpPr/>
          <p:nvPr/>
        </p:nvSpPr>
        <p:spPr>
          <a:xfrm>
            <a:off x="1554480" y="914400"/>
            <a:ext cx="914400" cy="365760"/>
          </a:xfrm>
          <a:prstGeom prst="rect">
            <a:avLst/>
          </a:prstGeom>
          <a:noFill/>
          <a:ln/>
        </p:spPr>
        <p:txBody>
          <a:bodyPr wrap="square" rtlCol="0" anchor="ctr"/>
          <a:lstStyle/>
          <a:p>
            <a:pPr indent="0" marL="0">
              <a:buNone/>
            </a:pPr>
            <a:r>
              <a:rPr lang="en-US" sz="1400" b="1" dirty="0">
                <a:solidFill>
                  <a:srgbClr val="14B8A6"/>
                </a:solidFill>
                <a:latin typeface="Arial" pitchFamily="34" charset="0"/>
                <a:ea typeface="Arial" pitchFamily="34" charset="-122"/>
                <a:cs typeface="Arial" pitchFamily="34" charset="-120"/>
              </a:rPr>
              <a:t>01</a:t>
            </a:r>
            <a:endParaRPr lang="en-US" sz="1400" dirty="0"/>
          </a:p>
        </p:txBody>
      </p:sp>
      <p:sp>
        <p:nvSpPr>
          <p:cNvPr id="3" name="Text 1"/>
          <p:cNvSpPr/>
          <p:nvPr/>
        </p:nvSpPr>
        <p:spPr>
          <a:xfrm>
            <a:off x="1554480" y="1234440"/>
            <a:ext cx="6400800" cy="548640"/>
          </a:xfrm>
          <a:prstGeom prst="rect">
            <a:avLst/>
          </a:prstGeom>
          <a:noFill/>
          <a:ln/>
        </p:spPr>
        <p:txBody>
          <a:bodyPr wrap="square" rtlCol="0" anchor="ctr"/>
          <a:lstStyle/>
          <a:p>
            <a:pPr indent="0" marL="0">
              <a:buNone/>
            </a:pPr>
            <a:r>
              <a:rPr lang="en-US" sz="3200" b="1" dirty="0">
                <a:solidFill>
                  <a:srgbClr val="E2E8F0"/>
                </a:solidFill>
                <a:latin typeface="Arial" pitchFamily="34" charset="0"/>
                <a:ea typeface="Arial" pitchFamily="34" charset="-122"/>
                <a:cs typeface="Arial" pitchFamily="34" charset="-120"/>
              </a:rPr>
              <a:t>Executive Summary</a:t>
            </a:r>
            <a:endParaRPr lang="en-US" sz="3200" dirty="0"/>
          </a:p>
        </p:txBody>
      </p:sp>
      <p:sp>
        <p:nvSpPr>
          <p:cNvPr id="4" name="Text 2"/>
          <p:cNvSpPr/>
          <p:nvPr/>
        </p:nvSpPr>
        <p:spPr>
          <a:xfrm>
            <a:off x="1554480" y="2011680"/>
            <a:ext cx="6400800" cy="914400"/>
          </a:xfrm>
          <a:prstGeom prst="rect">
            <a:avLst/>
          </a:prstGeom>
          <a:noFill/>
          <a:ln/>
        </p:spPr>
        <p:txBody>
          <a:bodyPr wrap="square" rtlCol="0" anchor="ctr"/>
          <a:lstStyle/>
          <a:p>
            <a:pPr indent="0" marL="0">
              <a:lnSpc>
                <a:spcPct val="130000"/>
              </a:lnSpc>
              <a:buNone/>
            </a:pPr>
            <a:r>
              <a:rPr lang="en-US" sz="1400" dirty="0">
                <a:solidFill>
                  <a:srgbClr val="94A3B8"/>
                </a:solidFill>
                <a:latin typeface="Arial" pitchFamily="34" charset="0"/>
                <a:ea typeface="Arial" pitchFamily="34" charset="-122"/>
                <a:cs typeface="Arial" pitchFamily="34" charset="-120"/>
              </a:rPr>
              <a:t>SER is an AI-powered healthcare routing platform designed to optimize access to medical services in Egypt. The system analyzes user symptoms and intelligently routes them to the appropriate medical specialty and nearest trusted healthcare provider.</a:t>
            </a:r>
            <a:endParaRPr lang="en-US" sz="1400" dirty="0"/>
          </a:p>
        </p:txBody>
      </p:sp>
      <p:sp>
        <p:nvSpPr>
          <p:cNvPr id="5" name="Shape 3"/>
          <p:cNvSpPr/>
          <p:nvPr/>
        </p:nvSpPr>
        <p:spPr>
          <a:xfrm>
            <a:off x="1554480" y="3291840"/>
            <a:ext cx="2103120" cy="2011680"/>
          </a:xfrm>
          <a:prstGeom prst="roundRect">
            <a:avLst>
              <a:gd name="adj" fmla="val 6818"/>
            </a:avLst>
          </a:prstGeom>
          <a:solidFill>
            <a:srgbClr val="111D32"/>
          </a:solidFill>
          <a:ln w="12700">
            <a:solidFill>
              <a:srgbClr val="1E3048"/>
            </a:solidFill>
            <a:prstDash val="solid"/>
          </a:ln>
        </p:spPr>
      </p:sp>
      <p:sp>
        <p:nvSpPr>
          <p:cNvPr id="6" name="Text 4"/>
          <p:cNvSpPr/>
          <p:nvPr/>
        </p:nvSpPr>
        <p:spPr>
          <a:xfrm>
            <a:off x="1554480" y="3566160"/>
            <a:ext cx="2103120" cy="365760"/>
          </a:xfrm>
          <a:prstGeom prst="rect">
            <a:avLst/>
          </a:prstGeom>
          <a:noFill/>
          <a:ln/>
        </p:spPr>
        <p:txBody>
          <a:bodyPr wrap="square" rtlCol="0" anchor="ctr"/>
          <a:lstStyle/>
          <a:p>
            <a:pPr algn="ctr" indent="0" marL="0">
              <a:buNone/>
            </a:pPr>
            <a:r>
              <a:rPr lang="en-US" sz="1600" b="1" dirty="0">
                <a:solidFill>
                  <a:srgbClr val="E2E8F0"/>
                </a:solidFill>
                <a:latin typeface="Arial" pitchFamily="34" charset="0"/>
                <a:ea typeface="Arial" pitchFamily="34" charset="-122"/>
                <a:cs typeface="Arial" pitchFamily="34" charset="-120"/>
              </a:rPr>
              <a:t>AI-Powered</a:t>
            </a:r>
            <a:endParaRPr lang="en-US" sz="1600" dirty="0"/>
          </a:p>
        </p:txBody>
      </p:sp>
      <p:sp>
        <p:nvSpPr>
          <p:cNvPr id="7" name="Text 5"/>
          <p:cNvSpPr/>
          <p:nvPr/>
        </p:nvSpPr>
        <p:spPr>
          <a:xfrm>
            <a:off x="1737360" y="4023360"/>
            <a:ext cx="1737360" cy="731520"/>
          </a:xfrm>
          <a:prstGeom prst="rect">
            <a:avLst/>
          </a:prstGeom>
          <a:noFill/>
          <a:ln/>
        </p:spPr>
        <p:txBody>
          <a:bodyPr wrap="square" rtlCol="0" anchor="ctr"/>
          <a:lstStyle/>
          <a:p>
            <a:pPr algn="ctr" indent="0" marL="0">
              <a:buNone/>
            </a:pPr>
            <a:r>
              <a:rPr lang="en-US" sz="1200" dirty="0">
                <a:solidFill>
                  <a:srgbClr val="94A3B8"/>
                </a:solidFill>
                <a:latin typeface="Arial" pitchFamily="34" charset="0"/>
                <a:ea typeface="Arial" pitchFamily="34" charset="-122"/>
                <a:cs typeface="Arial" pitchFamily="34" charset="-120"/>
              </a:rPr>
              <a:t>Symptom analysis &amp; intelligent specialty routing</a:t>
            </a:r>
            <a:endParaRPr lang="en-US" sz="1200" dirty="0"/>
          </a:p>
        </p:txBody>
      </p:sp>
      <p:sp>
        <p:nvSpPr>
          <p:cNvPr id="8" name="Shape 6"/>
          <p:cNvSpPr/>
          <p:nvPr/>
        </p:nvSpPr>
        <p:spPr>
          <a:xfrm>
            <a:off x="3840480" y="3291840"/>
            <a:ext cx="2103120" cy="2011680"/>
          </a:xfrm>
          <a:prstGeom prst="roundRect">
            <a:avLst>
              <a:gd name="adj" fmla="val 6818"/>
            </a:avLst>
          </a:prstGeom>
          <a:solidFill>
            <a:srgbClr val="111D32"/>
          </a:solidFill>
          <a:ln w="12700">
            <a:solidFill>
              <a:srgbClr val="1E3048"/>
            </a:solidFill>
            <a:prstDash val="solid"/>
          </a:ln>
        </p:spPr>
      </p:sp>
      <p:sp>
        <p:nvSpPr>
          <p:cNvPr id="9" name="Text 7"/>
          <p:cNvSpPr/>
          <p:nvPr/>
        </p:nvSpPr>
        <p:spPr>
          <a:xfrm>
            <a:off x="3840480" y="3566160"/>
            <a:ext cx="2103120" cy="365760"/>
          </a:xfrm>
          <a:prstGeom prst="rect">
            <a:avLst/>
          </a:prstGeom>
          <a:noFill/>
          <a:ln/>
        </p:spPr>
        <p:txBody>
          <a:bodyPr wrap="square" rtlCol="0" anchor="ctr"/>
          <a:lstStyle/>
          <a:p>
            <a:pPr algn="ctr" indent="0" marL="0">
              <a:buNone/>
            </a:pPr>
            <a:r>
              <a:rPr lang="en-US" sz="1600" b="1" dirty="0">
                <a:solidFill>
                  <a:srgbClr val="E2E8F0"/>
                </a:solidFill>
                <a:latin typeface="Arial" pitchFamily="34" charset="0"/>
                <a:ea typeface="Arial" pitchFamily="34" charset="-122"/>
                <a:cs typeface="Arial" pitchFamily="34" charset="-120"/>
              </a:rPr>
              <a:t>Location-Based</a:t>
            </a:r>
            <a:endParaRPr lang="en-US" sz="1600" dirty="0"/>
          </a:p>
        </p:txBody>
      </p:sp>
      <p:sp>
        <p:nvSpPr>
          <p:cNvPr id="10" name="Text 8"/>
          <p:cNvSpPr/>
          <p:nvPr/>
        </p:nvSpPr>
        <p:spPr>
          <a:xfrm>
            <a:off x="4023360" y="4023360"/>
            <a:ext cx="1737360" cy="731520"/>
          </a:xfrm>
          <a:prstGeom prst="rect">
            <a:avLst/>
          </a:prstGeom>
          <a:noFill/>
          <a:ln/>
        </p:spPr>
        <p:txBody>
          <a:bodyPr wrap="square" rtlCol="0" anchor="ctr"/>
          <a:lstStyle/>
          <a:p>
            <a:pPr algn="ctr" indent="0" marL="0">
              <a:buNone/>
            </a:pPr>
            <a:r>
              <a:rPr lang="en-US" sz="1200" dirty="0">
                <a:solidFill>
                  <a:srgbClr val="94A3B8"/>
                </a:solidFill>
                <a:latin typeface="Arial" pitchFamily="34" charset="0"/>
                <a:ea typeface="Arial" pitchFamily="34" charset="-122"/>
                <a:cs typeface="Arial" pitchFamily="34" charset="-120"/>
              </a:rPr>
              <a:t>Find nearest trusted healthcare providers</a:t>
            </a:r>
            <a:endParaRPr lang="en-US" sz="1200" dirty="0"/>
          </a:p>
        </p:txBody>
      </p:sp>
      <p:sp>
        <p:nvSpPr>
          <p:cNvPr id="11" name="Shape 9"/>
          <p:cNvSpPr/>
          <p:nvPr/>
        </p:nvSpPr>
        <p:spPr>
          <a:xfrm>
            <a:off x="6126480" y="3291840"/>
            <a:ext cx="2103120" cy="2011680"/>
          </a:xfrm>
          <a:prstGeom prst="roundRect">
            <a:avLst>
              <a:gd name="adj" fmla="val 6818"/>
            </a:avLst>
          </a:prstGeom>
          <a:solidFill>
            <a:srgbClr val="111D32"/>
          </a:solidFill>
          <a:ln w="12700">
            <a:solidFill>
              <a:srgbClr val="1E3048"/>
            </a:solidFill>
            <a:prstDash val="solid"/>
          </a:ln>
        </p:spPr>
      </p:sp>
      <p:sp>
        <p:nvSpPr>
          <p:cNvPr id="12" name="Text 10"/>
          <p:cNvSpPr/>
          <p:nvPr/>
        </p:nvSpPr>
        <p:spPr>
          <a:xfrm>
            <a:off x="6126480" y="3566160"/>
            <a:ext cx="2103120" cy="365760"/>
          </a:xfrm>
          <a:prstGeom prst="rect">
            <a:avLst/>
          </a:prstGeom>
          <a:noFill/>
          <a:ln/>
        </p:spPr>
        <p:txBody>
          <a:bodyPr wrap="square" rtlCol="0" anchor="ctr"/>
          <a:lstStyle/>
          <a:p>
            <a:pPr algn="ctr" indent="0" marL="0">
              <a:buNone/>
            </a:pPr>
            <a:r>
              <a:rPr lang="en-US" sz="1600" b="1" dirty="0">
                <a:solidFill>
                  <a:srgbClr val="E2E8F0"/>
                </a:solidFill>
                <a:latin typeface="Arial" pitchFamily="34" charset="0"/>
                <a:ea typeface="Arial" pitchFamily="34" charset="-122"/>
                <a:cs typeface="Arial" pitchFamily="34" charset="-120"/>
              </a:rPr>
              <a:t>Unified Platform</a:t>
            </a:r>
            <a:endParaRPr lang="en-US" sz="1600" dirty="0"/>
          </a:p>
        </p:txBody>
      </p:sp>
      <p:sp>
        <p:nvSpPr>
          <p:cNvPr id="13" name="Text 11"/>
          <p:cNvSpPr/>
          <p:nvPr/>
        </p:nvSpPr>
        <p:spPr>
          <a:xfrm>
            <a:off x="6309360" y="4023360"/>
            <a:ext cx="1737360" cy="731520"/>
          </a:xfrm>
          <a:prstGeom prst="rect">
            <a:avLst/>
          </a:prstGeom>
          <a:noFill/>
          <a:ln/>
        </p:spPr>
        <p:txBody>
          <a:bodyPr wrap="square" rtlCol="0" anchor="ctr"/>
          <a:lstStyle/>
          <a:p>
            <a:pPr algn="ctr" indent="0" marL="0">
              <a:buNone/>
            </a:pPr>
            <a:r>
              <a:rPr lang="en-US" sz="1200" dirty="0">
                <a:solidFill>
                  <a:srgbClr val="94A3B8"/>
                </a:solidFill>
                <a:latin typeface="Arial" pitchFamily="34" charset="0"/>
                <a:ea typeface="Arial" pitchFamily="34" charset="-122"/>
                <a:cs typeface="Arial" pitchFamily="34" charset="-120"/>
              </a:rPr>
              <a:t>Doctors, pharmacies, labs, ambulance &amp; blood donors</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1628"/>
        </a:solidFill>
      </p:bgPr>
    </p:bg>
    <p:spTree>
      <p:nvGrpSpPr>
        <p:cNvPr id="1" name=""/>
        <p:cNvGrpSpPr/>
        <p:nvPr/>
      </p:nvGrpSpPr>
      <p:grpSpPr>
        <a:xfrm>
          <a:off x="0" y="0"/>
          <a:ext cx="0" cy="0"/>
          <a:chOff x="0" y="0"/>
          <a:chExt cx="0" cy="0"/>
        </a:xfrm>
      </p:grpSpPr>
      <p:sp>
        <p:nvSpPr>
          <p:cNvPr id="2" name="Text 0"/>
          <p:cNvSpPr/>
          <p:nvPr/>
        </p:nvSpPr>
        <p:spPr>
          <a:xfrm>
            <a:off x="1554480" y="914400"/>
            <a:ext cx="914400" cy="365760"/>
          </a:xfrm>
          <a:prstGeom prst="rect">
            <a:avLst/>
          </a:prstGeom>
          <a:noFill/>
          <a:ln/>
        </p:spPr>
        <p:txBody>
          <a:bodyPr wrap="square" rtlCol="0" anchor="ctr"/>
          <a:lstStyle/>
          <a:p>
            <a:pPr indent="0" marL="0">
              <a:buNone/>
            </a:pPr>
            <a:r>
              <a:rPr lang="en-US" sz="1400" b="1" dirty="0">
                <a:solidFill>
                  <a:srgbClr val="14B8A6"/>
                </a:solidFill>
                <a:latin typeface="Arial" pitchFamily="34" charset="0"/>
                <a:ea typeface="Arial" pitchFamily="34" charset="-122"/>
                <a:cs typeface="Arial" pitchFamily="34" charset="-120"/>
              </a:rPr>
              <a:t>02</a:t>
            </a:r>
            <a:endParaRPr lang="en-US" sz="1400" dirty="0"/>
          </a:p>
        </p:txBody>
      </p:sp>
      <p:sp>
        <p:nvSpPr>
          <p:cNvPr id="3" name="Text 1"/>
          <p:cNvSpPr/>
          <p:nvPr/>
        </p:nvSpPr>
        <p:spPr>
          <a:xfrm>
            <a:off x="1554480" y="1234440"/>
            <a:ext cx="6400800" cy="548640"/>
          </a:xfrm>
          <a:prstGeom prst="rect">
            <a:avLst/>
          </a:prstGeom>
          <a:noFill/>
          <a:ln/>
        </p:spPr>
        <p:txBody>
          <a:bodyPr wrap="square" rtlCol="0" anchor="ctr"/>
          <a:lstStyle/>
          <a:p>
            <a:pPr indent="0" marL="0">
              <a:buNone/>
            </a:pPr>
            <a:r>
              <a:rPr lang="en-US" sz="3200" b="1" dirty="0">
                <a:solidFill>
                  <a:srgbClr val="E2E8F0"/>
                </a:solidFill>
                <a:latin typeface="Arial" pitchFamily="34" charset="0"/>
                <a:ea typeface="Arial" pitchFamily="34" charset="-122"/>
                <a:cs typeface="Arial" pitchFamily="34" charset="-120"/>
              </a:rPr>
              <a:t>Problem Statement</a:t>
            </a:r>
            <a:endParaRPr lang="en-US" sz="3200" dirty="0"/>
          </a:p>
        </p:txBody>
      </p:sp>
      <p:sp>
        <p:nvSpPr>
          <p:cNvPr id="4" name="Text 2"/>
          <p:cNvSpPr/>
          <p:nvPr/>
        </p:nvSpPr>
        <p:spPr>
          <a:xfrm>
            <a:off x="1554480" y="1920240"/>
            <a:ext cx="5486400" cy="365760"/>
          </a:xfrm>
          <a:prstGeom prst="rect">
            <a:avLst/>
          </a:prstGeom>
          <a:noFill/>
          <a:ln/>
        </p:spPr>
        <p:txBody>
          <a:bodyPr wrap="square" rtlCol="0" anchor="ctr"/>
          <a:lstStyle/>
          <a:p>
            <a:pPr indent="0" marL="0">
              <a:buNone/>
            </a:pPr>
            <a:r>
              <a:rPr lang="en-US" sz="1400" dirty="0">
                <a:solidFill>
                  <a:srgbClr val="94A3B8"/>
                </a:solidFill>
                <a:latin typeface="Arial" pitchFamily="34" charset="0"/>
                <a:ea typeface="Arial" pitchFamily="34" charset="-122"/>
                <a:cs typeface="Arial" pitchFamily="34" charset="-120"/>
              </a:rPr>
              <a:t>Egypt's healthcare system faces critical accessibility challenges</a:t>
            </a:r>
            <a:endParaRPr lang="en-US" sz="1400" dirty="0"/>
          </a:p>
        </p:txBody>
      </p:sp>
      <p:sp>
        <p:nvSpPr>
          <p:cNvPr id="5" name="Shape 3"/>
          <p:cNvSpPr/>
          <p:nvPr/>
        </p:nvSpPr>
        <p:spPr>
          <a:xfrm>
            <a:off x="1554480" y="2560320"/>
            <a:ext cx="5029200" cy="548640"/>
          </a:xfrm>
          <a:prstGeom prst="roundRect">
            <a:avLst>
              <a:gd name="adj" fmla="val 16667"/>
            </a:avLst>
          </a:prstGeom>
          <a:solidFill>
            <a:srgbClr val="111D32"/>
          </a:solidFill>
          <a:ln w="12700">
            <a:solidFill>
              <a:srgbClr val="1E3048"/>
            </a:solidFill>
            <a:prstDash val="solid"/>
          </a:ln>
        </p:spPr>
      </p:sp>
      <p:sp>
        <p:nvSpPr>
          <p:cNvPr id="6" name="Text 4"/>
          <p:cNvSpPr/>
          <p:nvPr/>
        </p:nvSpPr>
        <p:spPr>
          <a:xfrm>
            <a:off x="1737360" y="2560320"/>
            <a:ext cx="4846320" cy="548640"/>
          </a:xfrm>
          <a:prstGeom prst="rect">
            <a:avLst/>
          </a:prstGeom>
          <a:noFill/>
          <a:ln/>
        </p:spPr>
        <p:txBody>
          <a:bodyPr wrap="square" rtlCol="0" anchor="ctr"/>
          <a:lstStyle/>
          <a:p>
            <a:pPr indent="0" marL="0">
              <a:buNone/>
            </a:pPr>
            <a:r>
              <a:rPr lang="en-US" sz="1300" dirty="0">
                <a:solidFill>
                  <a:srgbClr val="E2E8F0"/>
                </a:solidFill>
                <a:latin typeface="Arial" pitchFamily="34" charset="0"/>
                <a:ea typeface="Arial" pitchFamily="34" charset="-122"/>
                <a:cs typeface="Arial" pitchFamily="34" charset="-120"/>
              </a:rPr>
              <a:t>• Patients often do not know which medical specialty to visit</a:t>
            </a:r>
            <a:endParaRPr lang="en-US" sz="1300" dirty="0"/>
          </a:p>
        </p:txBody>
      </p:sp>
      <p:sp>
        <p:nvSpPr>
          <p:cNvPr id="7" name="Shape 5"/>
          <p:cNvSpPr/>
          <p:nvPr/>
        </p:nvSpPr>
        <p:spPr>
          <a:xfrm>
            <a:off x="1554480" y="3246120"/>
            <a:ext cx="5029200" cy="548640"/>
          </a:xfrm>
          <a:prstGeom prst="roundRect">
            <a:avLst>
              <a:gd name="adj" fmla="val 16667"/>
            </a:avLst>
          </a:prstGeom>
          <a:solidFill>
            <a:srgbClr val="111D32"/>
          </a:solidFill>
          <a:ln w="12700">
            <a:solidFill>
              <a:srgbClr val="1E3048"/>
            </a:solidFill>
            <a:prstDash val="solid"/>
          </a:ln>
        </p:spPr>
      </p:sp>
      <p:sp>
        <p:nvSpPr>
          <p:cNvPr id="8" name="Text 6"/>
          <p:cNvSpPr/>
          <p:nvPr/>
        </p:nvSpPr>
        <p:spPr>
          <a:xfrm>
            <a:off x="1737360" y="3246120"/>
            <a:ext cx="4846320" cy="548640"/>
          </a:xfrm>
          <a:prstGeom prst="rect">
            <a:avLst/>
          </a:prstGeom>
          <a:noFill/>
          <a:ln/>
        </p:spPr>
        <p:txBody>
          <a:bodyPr wrap="square" rtlCol="0" anchor="ctr"/>
          <a:lstStyle/>
          <a:p>
            <a:pPr indent="0" marL="0">
              <a:buNone/>
            </a:pPr>
            <a:r>
              <a:rPr lang="en-US" sz="1300" dirty="0">
                <a:solidFill>
                  <a:srgbClr val="E2E8F0"/>
                </a:solidFill>
                <a:latin typeface="Arial" pitchFamily="34" charset="0"/>
                <a:ea typeface="Arial" pitchFamily="34" charset="-122"/>
                <a:cs typeface="Arial" pitchFamily="34" charset="-120"/>
              </a:rPr>
              <a:t>• Searching for nearby trusted providers is time-consuming</a:t>
            </a:r>
            <a:endParaRPr lang="en-US" sz="1300" dirty="0"/>
          </a:p>
        </p:txBody>
      </p:sp>
      <p:sp>
        <p:nvSpPr>
          <p:cNvPr id="9" name="Shape 7"/>
          <p:cNvSpPr/>
          <p:nvPr/>
        </p:nvSpPr>
        <p:spPr>
          <a:xfrm>
            <a:off x="1554480" y="3931920"/>
            <a:ext cx="5029200" cy="548640"/>
          </a:xfrm>
          <a:prstGeom prst="roundRect">
            <a:avLst>
              <a:gd name="adj" fmla="val 16667"/>
            </a:avLst>
          </a:prstGeom>
          <a:solidFill>
            <a:srgbClr val="111D32"/>
          </a:solidFill>
          <a:ln w="12700">
            <a:solidFill>
              <a:srgbClr val="1E3048"/>
            </a:solidFill>
            <a:prstDash val="solid"/>
          </a:ln>
        </p:spPr>
      </p:sp>
      <p:sp>
        <p:nvSpPr>
          <p:cNvPr id="10" name="Text 8"/>
          <p:cNvSpPr/>
          <p:nvPr/>
        </p:nvSpPr>
        <p:spPr>
          <a:xfrm>
            <a:off x="1737360" y="3931920"/>
            <a:ext cx="4846320" cy="548640"/>
          </a:xfrm>
          <a:prstGeom prst="rect">
            <a:avLst/>
          </a:prstGeom>
          <a:noFill/>
          <a:ln/>
        </p:spPr>
        <p:txBody>
          <a:bodyPr wrap="square" rtlCol="0" anchor="ctr"/>
          <a:lstStyle/>
          <a:p>
            <a:pPr indent="0" marL="0">
              <a:buNone/>
            </a:pPr>
            <a:r>
              <a:rPr lang="en-US" sz="1300" dirty="0">
                <a:solidFill>
                  <a:srgbClr val="E2E8F0"/>
                </a:solidFill>
                <a:latin typeface="Arial" pitchFamily="34" charset="0"/>
                <a:ea typeface="Arial" pitchFamily="34" charset="-122"/>
                <a:cs typeface="Arial" pitchFamily="34" charset="-120"/>
              </a:rPr>
              <a:t>• Delays in emergencies can lead to serious complications</a:t>
            </a:r>
            <a:endParaRPr lang="en-US" sz="1300" dirty="0"/>
          </a:p>
        </p:txBody>
      </p:sp>
      <p:sp>
        <p:nvSpPr>
          <p:cNvPr id="11" name="Shape 9"/>
          <p:cNvSpPr/>
          <p:nvPr/>
        </p:nvSpPr>
        <p:spPr>
          <a:xfrm>
            <a:off x="1554480" y="4617720"/>
            <a:ext cx="5029200" cy="548640"/>
          </a:xfrm>
          <a:prstGeom prst="roundRect">
            <a:avLst>
              <a:gd name="adj" fmla="val 16667"/>
            </a:avLst>
          </a:prstGeom>
          <a:solidFill>
            <a:srgbClr val="111D32"/>
          </a:solidFill>
          <a:ln w="12700">
            <a:solidFill>
              <a:srgbClr val="1E3048"/>
            </a:solidFill>
            <a:prstDash val="solid"/>
          </a:ln>
        </p:spPr>
      </p:sp>
      <p:sp>
        <p:nvSpPr>
          <p:cNvPr id="12" name="Text 10"/>
          <p:cNvSpPr/>
          <p:nvPr/>
        </p:nvSpPr>
        <p:spPr>
          <a:xfrm>
            <a:off x="1737360" y="4617720"/>
            <a:ext cx="4846320" cy="548640"/>
          </a:xfrm>
          <a:prstGeom prst="rect">
            <a:avLst/>
          </a:prstGeom>
          <a:noFill/>
          <a:ln/>
        </p:spPr>
        <p:txBody>
          <a:bodyPr wrap="square" rtlCol="0" anchor="ctr"/>
          <a:lstStyle/>
          <a:p>
            <a:pPr indent="0" marL="0">
              <a:buNone/>
            </a:pPr>
            <a:r>
              <a:rPr lang="en-US" sz="1300" dirty="0">
                <a:solidFill>
                  <a:srgbClr val="E2E8F0"/>
                </a:solidFill>
                <a:latin typeface="Arial" pitchFamily="34" charset="0"/>
                <a:ea typeface="Arial" pitchFamily="34" charset="-122"/>
                <a:cs typeface="Arial" pitchFamily="34" charset="-120"/>
              </a:rPr>
              <a:t>• No unified system integrates doctors, pharmacies, labs, blood donors, and ambulance services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1628"/>
        </a:solidFill>
      </p:bgPr>
    </p:bg>
    <p:spTree>
      <p:nvGrpSpPr>
        <p:cNvPr id="1" name=""/>
        <p:cNvGrpSpPr/>
        <p:nvPr/>
      </p:nvGrpSpPr>
      <p:grpSpPr>
        <a:xfrm>
          <a:off x="0" y="0"/>
          <a:ext cx="0" cy="0"/>
          <a:chOff x="0" y="0"/>
          <a:chExt cx="0" cy="0"/>
        </a:xfrm>
      </p:grpSpPr>
      <p:sp>
        <p:nvSpPr>
          <p:cNvPr id="2" name="Text 0"/>
          <p:cNvSpPr/>
          <p:nvPr/>
        </p:nvSpPr>
        <p:spPr>
          <a:xfrm>
            <a:off x="1554480" y="914400"/>
            <a:ext cx="914400" cy="365760"/>
          </a:xfrm>
          <a:prstGeom prst="rect">
            <a:avLst/>
          </a:prstGeom>
          <a:noFill/>
          <a:ln/>
        </p:spPr>
        <p:txBody>
          <a:bodyPr wrap="square" rtlCol="0" anchor="ctr"/>
          <a:lstStyle/>
          <a:p>
            <a:pPr indent="0" marL="0">
              <a:buNone/>
            </a:pPr>
            <a:r>
              <a:rPr lang="en-US" sz="1400" b="1" dirty="0">
                <a:solidFill>
                  <a:srgbClr val="14B8A6"/>
                </a:solidFill>
                <a:latin typeface="Arial" pitchFamily="34" charset="0"/>
                <a:ea typeface="Arial" pitchFamily="34" charset="-122"/>
                <a:cs typeface="Arial" pitchFamily="34" charset="-120"/>
              </a:rPr>
              <a:t>03</a:t>
            </a:r>
            <a:endParaRPr lang="en-US" sz="1400" dirty="0"/>
          </a:p>
        </p:txBody>
      </p:sp>
      <p:sp>
        <p:nvSpPr>
          <p:cNvPr id="3" name="Text 1"/>
          <p:cNvSpPr/>
          <p:nvPr/>
        </p:nvSpPr>
        <p:spPr>
          <a:xfrm>
            <a:off x="1554480" y="1234440"/>
            <a:ext cx="6400800" cy="548640"/>
          </a:xfrm>
          <a:prstGeom prst="rect">
            <a:avLst/>
          </a:prstGeom>
          <a:noFill/>
          <a:ln/>
        </p:spPr>
        <p:txBody>
          <a:bodyPr wrap="square" rtlCol="0" anchor="ctr"/>
          <a:lstStyle/>
          <a:p>
            <a:pPr indent="0" marL="0">
              <a:buNone/>
            </a:pPr>
            <a:r>
              <a:rPr lang="en-US" sz="3200" b="1" dirty="0">
                <a:solidFill>
                  <a:srgbClr val="E2E8F0"/>
                </a:solidFill>
                <a:latin typeface="Arial" pitchFamily="34" charset="0"/>
                <a:ea typeface="Arial" pitchFamily="34" charset="-122"/>
                <a:cs typeface="Arial" pitchFamily="34" charset="-120"/>
              </a:rPr>
              <a:t>The SER Solution</a:t>
            </a:r>
            <a:endParaRPr lang="en-US" sz="3200" dirty="0"/>
          </a:p>
        </p:txBody>
      </p:sp>
      <p:sp>
        <p:nvSpPr>
          <p:cNvPr id="4" name="Shape 2"/>
          <p:cNvSpPr/>
          <p:nvPr/>
        </p:nvSpPr>
        <p:spPr>
          <a:xfrm>
            <a:off x="1554480" y="2103120"/>
            <a:ext cx="2103120" cy="1554480"/>
          </a:xfrm>
          <a:prstGeom prst="roundRect">
            <a:avLst>
              <a:gd name="adj" fmla="val 8824"/>
            </a:avLst>
          </a:prstGeom>
          <a:solidFill>
            <a:srgbClr val="111D32"/>
          </a:solidFill>
          <a:ln w="12700">
            <a:solidFill>
              <a:srgbClr val="1E3048"/>
            </a:solidFill>
            <a:prstDash val="solid"/>
          </a:ln>
        </p:spPr>
      </p:sp>
      <p:sp>
        <p:nvSpPr>
          <p:cNvPr id="5" name="Text 3"/>
          <p:cNvSpPr/>
          <p:nvPr/>
        </p:nvSpPr>
        <p:spPr>
          <a:xfrm>
            <a:off x="1554480" y="2377440"/>
            <a:ext cx="2103120" cy="365760"/>
          </a:xfrm>
          <a:prstGeom prst="rect">
            <a:avLst/>
          </a:prstGeom>
          <a:noFill/>
          <a:ln/>
        </p:spPr>
        <p:txBody>
          <a:bodyPr wrap="square" rtlCol="0" anchor="ctr"/>
          <a:lstStyle/>
          <a:p>
            <a:pPr algn="ctr" indent="0" marL="0">
              <a:buNone/>
            </a:pPr>
            <a:r>
              <a:rPr lang="en-US" sz="1500" b="1" dirty="0">
                <a:solidFill>
                  <a:srgbClr val="E2E8F0"/>
                </a:solidFill>
                <a:latin typeface="Arial" pitchFamily="34" charset="0"/>
                <a:ea typeface="Arial" pitchFamily="34" charset="-122"/>
                <a:cs typeface="Arial" pitchFamily="34" charset="-120"/>
              </a:rPr>
              <a:t>AI Symptom Analysis</a:t>
            </a:r>
            <a:endParaRPr lang="en-US" sz="1500" dirty="0"/>
          </a:p>
        </p:txBody>
      </p:sp>
      <p:sp>
        <p:nvSpPr>
          <p:cNvPr id="6" name="Text 4"/>
          <p:cNvSpPr/>
          <p:nvPr/>
        </p:nvSpPr>
        <p:spPr>
          <a:xfrm>
            <a:off x="1554480" y="2834640"/>
            <a:ext cx="2103120" cy="365760"/>
          </a:xfrm>
          <a:prstGeom prst="rect">
            <a:avLst/>
          </a:prstGeom>
          <a:noFill/>
          <a:ln/>
        </p:spPr>
        <p:txBody>
          <a:bodyPr wrap="square" rtlCol="0" anchor="ctr"/>
          <a:lstStyle/>
          <a:p>
            <a:pPr algn="ctr" indent="0" marL="0">
              <a:buNone/>
            </a:pPr>
            <a:r>
              <a:rPr lang="en-US" sz="1200" dirty="0">
                <a:solidFill>
                  <a:srgbClr val="94A3B8"/>
                </a:solidFill>
                <a:latin typeface="Arial" pitchFamily="34" charset="0"/>
                <a:ea typeface="Arial" pitchFamily="34" charset="-122"/>
                <a:cs typeface="Arial" pitchFamily="34" charset="-120"/>
              </a:rPr>
              <a:t>Specialty recommendation</a:t>
            </a:r>
            <a:endParaRPr lang="en-US" sz="1200" dirty="0"/>
          </a:p>
        </p:txBody>
      </p:sp>
      <p:sp>
        <p:nvSpPr>
          <p:cNvPr id="7" name="Shape 5"/>
          <p:cNvSpPr/>
          <p:nvPr/>
        </p:nvSpPr>
        <p:spPr>
          <a:xfrm>
            <a:off x="3840480" y="2103120"/>
            <a:ext cx="2103120" cy="1554480"/>
          </a:xfrm>
          <a:prstGeom prst="roundRect">
            <a:avLst>
              <a:gd name="adj" fmla="val 8824"/>
            </a:avLst>
          </a:prstGeom>
          <a:solidFill>
            <a:srgbClr val="111D32"/>
          </a:solidFill>
          <a:ln w="12700">
            <a:solidFill>
              <a:srgbClr val="1E3048"/>
            </a:solidFill>
            <a:prstDash val="solid"/>
          </a:ln>
        </p:spPr>
      </p:sp>
      <p:sp>
        <p:nvSpPr>
          <p:cNvPr id="8" name="Text 6"/>
          <p:cNvSpPr/>
          <p:nvPr/>
        </p:nvSpPr>
        <p:spPr>
          <a:xfrm>
            <a:off x="3840480" y="2377440"/>
            <a:ext cx="2103120" cy="365760"/>
          </a:xfrm>
          <a:prstGeom prst="rect">
            <a:avLst/>
          </a:prstGeom>
          <a:noFill/>
          <a:ln/>
        </p:spPr>
        <p:txBody>
          <a:bodyPr wrap="square" rtlCol="0" anchor="ctr"/>
          <a:lstStyle/>
          <a:p>
            <a:pPr algn="ctr" indent="0" marL="0">
              <a:buNone/>
            </a:pPr>
            <a:r>
              <a:rPr lang="en-US" sz="1500" b="1" dirty="0">
                <a:solidFill>
                  <a:srgbClr val="E2E8F0"/>
                </a:solidFill>
                <a:latin typeface="Arial" pitchFamily="34" charset="0"/>
                <a:ea typeface="Arial" pitchFamily="34" charset="-122"/>
                <a:cs typeface="Arial" pitchFamily="34" charset="-120"/>
              </a:rPr>
              <a:t>Real-time Routing</a:t>
            </a:r>
            <a:endParaRPr lang="en-US" sz="1500" dirty="0"/>
          </a:p>
        </p:txBody>
      </p:sp>
      <p:sp>
        <p:nvSpPr>
          <p:cNvPr id="9" name="Text 7"/>
          <p:cNvSpPr/>
          <p:nvPr/>
        </p:nvSpPr>
        <p:spPr>
          <a:xfrm>
            <a:off x="3840480" y="2834640"/>
            <a:ext cx="2103120" cy="365760"/>
          </a:xfrm>
          <a:prstGeom prst="rect">
            <a:avLst/>
          </a:prstGeom>
          <a:noFill/>
          <a:ln/>
        </p:spPr>
        <p:txBody>
          <a:bodyPr wrap="square" rtlCol="0" anchor="ctr"/>
          <a:lstStyle/>
          <a:p>
            <a:pPr algn="ctr" indent="0" marL="0">
              <a:buNone/>
            </a:pPr>
            <a:r>
              <a:rPr lang="en-US" sz="1200" dirty="0">
                <a:solidFill>
                  <a:srgbClr val="94A3B8"/>
                </a:solidFill>
                <a:latin typeface="Arial" pitchFamily="34" charset="0"/>
                <a:ea typeface="Arial" pitchFamily="34" charset="-122"/>
                <a:cs typeface="Arial" pitchFamily="34" charset="-120"/>
              </a:rPr>
              <a:t>Nearest provider geolocation</a:t>
            </a:r>
            <a:endParaRPr lang="en-US" sz="1200" dirty="0"/>
          </a:p>
        </p:txBody>
      </p:sp>
      <p:sp>
        <p:nvSpPr>
          <p:cNvPr id="10" name="Shape 8"/>
          <p:cNvSpPr/>
          <p:nvPr/>
        </p:nvSpPr>
        <p:spPr>
          <a:xfrm>
            <a:off x="6126480" y="2103120"/>
            <a:ext cx="2103120" cy="1554480"/>
          </a:xfrm>
          <a:prstGeom prst="roundRect">
            <a:avLst>
              <a:gd name="adj" fmla="val 8824"/>
            </a:avLst>
          </a:prstGeom>
          <a:solidFill>
            <a:srgbClr val="111D32"/>
          </a:solidFill>
          <a:ln w="12700">
            <a:solidFill>
              <a:srgbClr val="1E3048"/>
            </a:solidFill>
            <a:prstDash val="solid"/>
          </a:ln>
        </p:spPr>
      </p:sp>
      <p:sp>
        <p:nvSpPr>
          <p:cNvPr id="11" name="Text 9"/>
          <p:cNvSpPr/>
          <p:nvPr/>
        </p:nvSpPr>
        <p:spPr>
          <a:xfrm>
            <a:off x="6126480" y="2377440"/>
            <a:ext cx="2103120" cy="365760"/>
          </a:xfrm>
          <a:prstGeom prst="rect">
            <a:avLst/>
          </a:prstGeom>
          <a:noFill/>
          <a:ln/>
        </p:spPr>
        <p:txBody>
          <a:bodyPr wrap="square" rtlCol="0" anchor="ctr"/>
          <a:lstStyle/>
          <a:p>
            <a:pPr algn="ctr" indent="0" marL="0">
              <a:buNone/>
            </a:pPr>
            <a:r>
              <a:rPr lang="en-US" sz="1500" b="1" dirty="0">
                <a:solidFill>
                  <a:srgbClr val="E2E8F0"/>
                </a:solidFill>
                <a:latin typeface="Arial" pitchFamily="34" charset="0"/>
                <a:ea typeface="Arial" pitchFamily="34" charset="-122"/>
                <a:cs typeface="Arial" pitchFamily="34" charset="-120"/>
              </a:rPr>
              <a:t>Medicine Availability</a:t>
            </a:r>
            <a:endParaRPr lang="en-US" sz="1500" dirty="0"/>
          </a:p>
        </p:txBody>
      </p:sp>
      <p:sp>
        <p:nvSpPr>
          <p:cNvPr id="12" name="Text 10"/>
          <p:cNvSpPr/>
          <p:nvPr/>
        </p:nvSpPr>
        <p:spPr>
          <a:xfrm>
            <a:off x="6126480" y="2834640"/>
            <a:ext cx="2103120" cy="365760"/>
          </a:xfrm>
          <a:prstGeom prst="rect">
            <a:avLst/>
          </a:prstGeom>
          <a:noFill/>
          <a:ln/>
        </p:spPr>
        <p:txBody>
          <a:bodyPr wrap="square" rtlCol="0" anchor="ctr"/>
          <a:lstStyle/>
          <a:p>
            <a:pPr algn="ctr" indent="0" marL="0">
              <a:buNone/>
            </a:pPr>
            <a:r>
              <a:rPr lang="en-US" sz="1200" dirty="0">
                <a:solidFill>
                  <a:srgbClr val="94A3B8"/>
                </a:solidFill>
                <a:latin typeface="Arial" pitchFamily="34" charset="0"/>
                <a:ea typeface="Arial" pitchFamily="34" charset="-122"/>
                <a:cs typeface="Arial" pitchFamily="34" charset="-120"/>
              </a:rPr>
              <a:t>Pharmacy comparison</a:t>
            </a:r>
            <a:endParaRPr lang="en-US" sz="1200" dirty="0"/>
          </a:p>
        </p:txBody>
      </p:sp>
      <p:sp>
        <p:nvSpPr>
          <p:cNvPr id="13" name="Shape 11"/>
          <p:cNvSpPr/>
          <p:nvPr/>
        </p:nvSpPr>
        <p:spPr>
          <a:xfrm>
            <a:off x="1554480" y="3931920"/>
            <a:ext cx="2103120" cy="1554480"/>
          </a:xfrm>
          <a:prstGeom prst="roundRect">
            <a:avLst>
              <a:gd name="adj" fmla="val 8824"/>
            </a:avLst>
          </a:prstGeom>
          <a:solidFill>
            <a:srgbClr val="111D32"/>
          </a:solidFill>
          <a:ln w="12700">
            <a:solidFill>
              <a:srgbClr val="1E3048"/>
            </a:solidFill>
            <a:prstDash val="solid"/>
          </a:ln>
        </p:spPr>
      </p:sp>
      <p:sp>
        <p:nvSpPr>
          <p:cNvPr id="14" name="Text 12"/>
          <p:cNvSpPr/>
          <p:nvPr/>
        </p:nvSpPr>
        <p:spPr>
          <a:xfrm>
            <a:off x="1554480" y="4206240"/>
            <a:ext cx="2103120" cy="365760"/>
          </a:xfrm>
          <a:prstGeom prst="rect">
            <a:avLst/>
          </a:prstGeom>
          <a:noFill/>
          <a:ln/>
        </p:spPr>
        <p:txBody>
          <a:bodyPr wrap="square" rtlCol="0" anchor="ctr"/>
          <a:lstStyle/>
          <a:p>
            <a:pPr algn="ctr" indent="0" marL="0">
              <a:buNone/>
            </a:pPr>
            <a:r>
              <a:rPr lang="en-US" sz="1500" b="1" dirty="0">
                <a:solidFill>
                  <a:srgbClr val="E2E8F0"/>
                </a:solidFill>
                <a:latin typeface="Arial" pitchFamily="34" charset="0"/>
                <a:ea typeface="Arial" pitchFamily="34" charset="-122"/>
                <a:cs typeface="Arial" pitchFamily="34" charset="-120"/>
              </a:rPr>
              <a:t>Lab Booking</a:t>
            </a:r>
            <a:endParaRPr lang="en-US" sz="1500" dirty="0"/>
          </a:p>
        </p:txBody>
      </p:sp>
      <p:sp>
        <p:nvSpPr>
          <p:cNvPr id="15" name="Text 13"/>
          <p:cNvSpPr/>
          <p:nvPr/>
        </p:nvSpPr>
        <p:spPr>
          <a:xfrm>
            <a:off x="1554480" y="4663440"/>
            <a:ext cx="2103120" cy="365760"/>
          </a:xfrm>
          <a:prstGeom prst="rect">
            <a:avLst/>
          </a:prstGeom>
          <a:noFill/>
          <a:ln/>
        </p:spPr>
        <p:txBody>
          <a:bodyPr wrap="square" rtlCol="0" anchor="ctr"/>
          <a:lstStyle/>
          <a:p>
            <a:pPr algn="ctr" indent="0" marL="0">
              <a:buNone/>
            </a:pPr>
            <a:r>
              <a:rPr lang="en-US" sz="1200" dirty="0">
                <a:solidFill>
                  <a:srgbClr val="94A3B8"/>
                </a:solidFill>
                <a:latin typeface="Arial" pitchFamily="34" charset="0"/>
                <a:ea typeface="Arial" pitchFamily="34" charset="-122"/>
                <a:cs typeface="Arial" pitchFamily="34" charset="-120"/>
              </a:rPr>
              <a:t>Filtering &amp; scheduling</a:t>
            </a:r>
            <a:endParaRPr lang="en-US" sz="1200" dirty="0"/>
          </a:p>
        </p:txBody>
      </p:sp>
      <p:sp>
        <p:nvSpPr>
          <p:cNvPr id="16" name="Shape 14"/>
          <p:cNvSpPr/>
          <p:nvPr/>
        </p:nvSpPr>
        <p:spPr>
          <a:xfrm>
            <a:off x="3840480" y="3931920"/>
            <a:ext cx="2103120" cy="1554480"/>
          </a:xfrm>
          <a:prstGeom prst="roundRect">
            <a:avLst>
              <a:gd name="adj" fmla="val 8824"/>
            </a:avLst>
          </a:prstGeom>
          <a:solidFill>
            <a:srgbClr val="111D32"/>
          </a:solidFill>
          <a:ln w="12700">
            <a:solidFill>
              <a:srgbClr val="1E3048"/>
            </a:solidFill>
            <a:prstDash val="solid"/>
          </a:ln>
        </p:spPr>
      </p:sp>
      <p:sp>
        <p:nvSpPr>
          <p:cNvPr id="17" name="Text 15"/>
          <p:cNvSpPr/>
          <p:nvPr/>
        </p:nvSpPr>
        <p:spPr>
          <a:xfrm>
            <a:off x="3840480" y="4206240"/>
            <a:ext cx="2103120" cy="365760"/>
          </a:xfrm>
          <a:prstGeom prst="rect">
            <a:avLst/>
          </a:prstGeom>
          <a:noFill/>
          <a:ln/>
        </p:spPr>
        <p:txBody>
          <a:bodyPr wrap="square" rtlCol="0" anchor="ctr"/>
          <a:lstStyle/>
          <a:p>
            <a:pPr algn="ctr" indent="0" marL="0">
              <a:buNone/>
            </a:pPr>
            <a:r>
              <a:rPr lang="en-US" sz="1500" b="1" dirty="0">
                <a:solidFill>
                  <a:srgbClr val="E2E8F0"/>
                </a:solidFill>
                <a:latin typeface="Arial" pitchFamily="34" charset="0"/>
                <a:ea typeface="Arial" pitchFamily="34" charset="-122"/>
                <a:cs typeface="Arial" pitchFamily="34" charset="-120"/>
              </a:rPr>
              <a:t>Emergency Services</a:t>
            </a:r>
            <a:endParaRPr lang="en-US" sz="1500" dirty="0"/>
          </a:p>
        </p:txBody>
      </p:sp>
      <p:sp>
        <p:nvSpPr>
          <p:cNvPr id="18" name="Text 16"/>
          <p:cNvSpPr/>
          <p:nvPr/>
        </p:nvSpPr>
        <p:spPr>
          <a:xfrm>
            <a:off x="3840480" y="4663440"/>
            <a:ext cx="2103120" cy="365760"/>
          </a:xfrm>
          <a:prstGeom prst="rect">
            <a:avLst/>
          </a:prstGeom>
          <a:noFill/>
          <a:ln/>
        </p:spPr>
        <p:txBody>
          <a:bodyPr wrap="square" rtlCol="0" anchor="ctr"/>
          <a:lstStyle/>
          <a:p>
            <a:pPr algn="ctr" indent="0" marL="0">
              <a:buNone/>
            </a:pPr>
            <a:r>
              <a:rPr lang="en-US" sz="1200" dirty="0">
                <a:solidFill>
                  <a:srgbClr val="94A3B8"/>
                </a:solidFill>
                <a:latin typeface="Arial" pitchFamily="34" charset="0"/>
                <a:ea typeface="Arial" pitchFamily="34" charset="-122"/>
                <a:cs typeface="Arial" pitchFamily="34" charset="-120"/>
              </a:rPr>
              <a:t>Ambulance request system</a:t>
            </a:r>
            <a:endParaRPr lang="en-US" sz="1200" dirty="0"/>
          </a:p>
        </p:txBody>
      </p:sp>
      <p:sp>
        <p:nvSpPr>
          <p:cNvPr id="19" name="Shape 17"/>
          <p:cNvSpPr/>
          <p:nvPr/>
        </p:nvSpPr>
        <p:spPr>
          <a:xfrm>
            <a:off x="6126480" y="3931920"/>
            <a:ext cx="2103120" cy="1554480"/>
          </a:xfrm>
          <a:prstGeom prst="roundRect">
            <a:avLst>
              <a:gd name="adj" fmla="val 8824"/>
            </a:avLst>
          </a:prstGeom>
          <a:solidFill>
            <a:srgbClr val="111D32"/>
          </a:solidFill>
          <a:ln w="12700">
            <a:solidFill>
              <a:srgbClr val="1E3048"/>
            </a:solidFill>
            <a:prstDash val="solid"/>
          </a:ln>
        </p:spPr>
      </p:sp>
      <p:sp>
        <p:nvSpPr>
          <p:cNvPr id="20" name="Text 18"/>
          <p:cNvSpPr/>
          <p:nvPr/>
        </p:nvSpPr>
        <p:spPr>
          <a:xfrm>
            <a:off x="6126480" y="4206240"/>
            <a:ext cx="2103120" cy="365760"/>
          </a:xfrm>
          <a:prstGeom prst="rect">
            <a:avLst/>
          </a:prstGeom>
          <a:noFill/>
          <a:ln/>
        </p:spPr>
        <p:txBody>
          <a:bodyPr wrap="square" rtlCol="0" anchor="ctr"/>
          <a:lstStyle/>
          <a:p>
            <a:pPr algn="ctr" indent="0" marL="0">
              <a:buNone/>
            </a:pPr>
            <a:r>
              <a:rPr lang="en-US" sz="1500" b="1" dirty="0">
                <a:solidFill>
                  <a:srgbClr val="E2E8F0"/>
                </a:solidFill>
                <a:latin typeface="Arial" pitchFamily="34" charset="0"/>
                <a:ea typeface="Arial" pitchFamily="34" charset="-122"/>
                <a:cs typeface="Arial" pitchFamily="34" charset="-120"/>
              </a:rPr>
              <a:t>Blood Matching</a:t>
            </a:r>
            <a:endParaRPr lang="en-US" sz="1500" dirty="0"/>
          </a:p>
        </p:txBody>
      </p:sp>
      <p:sp>
        <p:nvSpPr>
          <p:cNvPr id="21" name="Text 19"/>
          <p:cNvSpPr/>
          <p:nvPr/>
        </p:nvSpPr>
        <p:spPr>
          <a:xfrm>
            <a:off x="6126480" y="4663440"/>
            <a:ext cx="2103120" cy="365760"/>
          </a:xfrm>
          <a:prstGeom prst="rect">
            <a:avLst/>
          </a:prstGeom>
          <a:noFill/>
          <a:ln/>
        </p:spPr>
        <p:txBody>
          <a:bodyPr wrap="square" rtlCol="0" anchor="ctr"/>
          <a:lstStyle/>
          <a:p>
            <a:pPr algn="ctr" indent="0" marL="0">
              <a:buNone/>
            </a:pPr>
            <a:r>
              <a:rPr lang="en-US" sz="1200" dirty="0">
                <a:solidFill>
                  <a:srgbClr val="94A3B8"/>
                </a:solidFill>
                <a:latin typeface="Arial" pitchFamily="34" charset="0"/>
                <a:ea typeface="Arial" pitchFamily="34" charset="-122"/>
                <a:cs typeface="Arial" pitchFamily="34" charset="-120"/>
              </a:rPr>
              <a:t>By type &amp; location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1628"/>
        </a:solidFill>
      </p:bgPr>
    </p:bg>
    <p:spTree>
      <p:nvGrpSpPr>
        <p:cNvPr id="1" name=""/>
        <p:cNvGrpSpPr/>
        <p:nvPr/>
      </p:nvGrpSpPr>
      <p:grpSpPr>
        <a:xfrm>
          <a:off x="0" y="0"/>
          <a:ext cx="0" cy="0"/>
          <a:chOff x="0" y="0"/>
          <a:chExt cx="0" cy="0"/>
        </a:xfrm>
      </p:grpSpPr>
      <p:sp>
        <p:nvSpPr>
          <p:cNvPr id="2" name="Text 0"/>
          <p:cNvSpPr/>
          <p:nvPr/>
        </p:nvSpPr>
        <p:spPr>
          <a:xfrm>
            <a:off x="1554480" y="914400"/>
            <a:ext cx="914400" cy="365760"/>
          </a:xfrm>
          <a:prstGeom prst="rect">
            <a:avLst/>
          </a:prstGeom>
          <a:noFill/>
          <a:ln/>
        </p:spPr>
        <p:txBody>
          <a:bodyPr wrap="square" rtlCol="0" anchor="ctr"/>
          <a:lstStyle/>
          <a:p>
            <a:pPr indent="0" marL="0">
              <a:buNone/>
            </a:pPr>
            <a:r>
              <a:rPr lang="en-US" sz="1400" b="1" dirty="0">
                <a:solidFill>
                  <a:srgbClr val="14B8A6"/>
                </a:solidFill>
                <a:latin typeface="Arial" pitchFamily="34" charset="0"/>
                <a:ea typeface="Arial" pitchFamily="34" charset="-122"/>
                <a:cs typeface="Arial" pitchFamily="34" charset="-120"/>
              </a:rPr>
              <a:t>04</a:t>
            </a:r>
            <a:endParaRPr lang="en-US" sz="1400" dirty="0"/>
          </a:p>
        </p:txBody>
      </p:sp>
      <p:sp>
        <p:nvSpPr>
          <p:cNvPr id="3" name="Text 1"/>
          <p:cNvSpPr/>
          <p:nvPr/>
        </p:nvSpPr>
        <p:spPr>
          <a:xfrm>
            <a:off x="1554480" y="1234440"/>
            <a:ext cx="6400800" cy="548640"/>
          </a:xfrm>
          <a:prstGeom prst="rect">
            <a:avLst/>
          </a:prstGeom>
          <a:noFill/>
          <a:ln/>
        </p:spPr>
        <p:txBody>
          <a:bodyPr wrap="square" rtlCol="0" anchor="ctr"/>
          <a:lstStyle/>
          <a:p>
            <a:pPr indent="0" marL="0">
              <a:buNone/>
            </a:pPr>
            <a:r>
              <a:rPr lang="en-US" sz="3200" b="1" dirty="0">
                <a:solidFill>
                  <a:srgbClr val="E2E8F0"/>
                </a:solidFill>
                <a:latin typeface="Arial" pitchFamily="34" charset="0"/>
                <a:ea typeface="Arial" pitchFamily="34" charset="-122"/>
                <a:cs typeface="Arial" pitchFamily="34" charset="-120"/>
              </a:rPr>
              <a:t>How It Works</a:t>
            </a:r>
            <a:endParaRPr lang="en-US" sz="3200" dirty="0"/>
          </a:p>
        </p:txBody>
      </p:sp>
      <p:sp>
        <p:nvSpPr>
          <p:cNvPr id="4" name="Shape 2"/>
          <p:cNvSpPr/>
          <p:nvPr/>
        </p:nvSpPr>
        <p:spPr>
          <a:xfrm>
            <a:off x="1143000" y="2560320"/>
            <a:ext cx="822960" cy="822960"/>
          </a:xfrm>
          <a:prstGeom prst="ellipse">
            <a:avLst/>
          </a:prstGeom>
          <a:solidFill>
            <a:srgbClr val="0D2847"/>
          </a:solidFill>
          <a:ln w="19050">
            <a:solidFill>
              <a:srgbClr val="14B8A6"/>
            </a:solidFill>
            <a:prstDash val="solid"/>
          </a:ln>
        </p:spPr>
      </p:sp>
      <p:sp>
        <p:nvSpPr>
          <p:cNvPr id="5" name="Text 3"/>
          <p:cNvSpPr/>
          <p:nvPr/>
        </p:nvSpPr>
        <p:spPr>
          <a:xfrm>
            <a:off x="1143000" y="2560320"/>
            <a:ext cx="822960" cy="822960"/>
          </a:xfrm>
          <a:prstGeom prst="rect">
            <a:avLst/>
          </a:prstGeom>
          <a:noFill/>
          <a:ln/>
        </p:spPr>
        <p:txBody>
          <a:bodyPr wrap="square" rtlCol="0" anchor="ctr"/>
          <a:lstStyle/>
          <a:p>
            <a:pPr algn="ctr" indent="0" marL="0">
              <a:buNone/>
            </a:pPr>
            <a:r>
              <a:rPr lang="en-US" sz="1600" b="1" dirty="0">
                <a:solidFill>
                  <a:srgbClr val="14B8A6"/>
                </a:solidFill>
                <a:latin typeface="Arial" pitchFamily="34" charset="0"/>
                <a:ea typeface="Arial" pitchFamily="34" charset="-122"/>
                <a:cs typeface="Arial" pitchFamily="34" charset="-120"/>
              </a:rPr>
              <a:t>01</a:t>
            </a:r>
            <a:endParaRPr lang="en-US" sz="1600" dirty="0"/>
          </a:p>
        </p:txBody>
      </p:sp>
      <p:sp>
        <p:nvSpPr>
          <p:cNvPr id="6" name="Text 4"/>
          <p:cNvSpPr/>
          <p:nvPr/>
        </p:nvSpPr>
        <p:spPr>
          <a:xfrm>
            <a:off x="731520" y="3566160"/>
            <a:ext cx="1645920" cy="457200"/>
          </a:xfrm>
          <a:prstGeom prst="rect">
            <a:avLst/>
          </a:prstGeom>
          <a:noFill/>
          <a:ln/>
        </p:spPr>
        <p:txBody>
          <a:bodyPr wrap="square" rtlCol="0" anchor="ctr"/>
          <a:lstStyle/>
          <a:p>
            <a:pPr algn="ctr" indent="0" marL="0">
              <a:buNone/>
            </a:pPr>
            <a:r>
              <a:rPr lang="en-US" sz="1300" b="1" dirty="0">
                <a:solidFill>
                  <a:srgbClr val="E2E8F0"/>
                </a:solidFill>
                <a:latin typeface="Arial" pitchFamily="34" charset="0"/>
                <a:ea typeface="Arial" pitchFamily="34" charset="-122"/>
                <a:cs typeface="Arial" pitchFamily="34" charset="-120"/>
              </a:rPr>
              <a:t>Enter Symptoms</a:t>
            </a:r>
            <a:endParaRPr lang="en-US" sz="1300" dirty="0"/>
          </a:p>
        </p:txBody>
      </p:sp>
      <p:sp>
        <p:nvSpPr>
          <p:cNvPr id="7" name="Shape 5"/>
          <p:cNvSpPr/>
          <p:nvPr/>
        </p:nvSpPr>
        <p:spPr>
          <a:xfrm>
            <a:off x="1965960" y="2971800"/>
            <a:ext cx="822960" cy="0"/>
          </a:xfrm>
          <a:prstGeom prst="line">
            <a:avLst/>
          </a:prstGeom>
          <a:noFill/>
          <a:ln w="12700">
            <a:solidFill>
              <a:srgbClr val="14B8A6"/>
            </a:solidFill>
            <a:prstDash val="dash"/>
          </a:ln>
        </p:spPr>
      </p:sp>
      <p:sp>
        <p:nvSpPr>
          <p:cNvPr id="8" name="Shape 6"/>
          <p:cNvSpPr/>
          <p:nvPr/>
        </p:nvSpPr>
        <p:spPr>
          <a:xfrm>
            <a:off x="2788920" y="2560320"/>
            <a:ext cx="822960" cy="822960"/>
          </a:xfrm>
          <a:prstGeom prst="ellipse">
            <a:avLst/>
          </a:prstGeom>
          <a:solidFill>
            <a:srgbClr val="0D2847"/>
          </a:solidFill>
          <a:ln w="19050">
            <a:solidFill>
              <a:srgbClr val="14B8A6"/>
            </a:solidFill>
            <a:prstDash val="solid"/>
          </a:ln>
        </p:spPr>
      </p:sp>
      <p:sp>
        <p:nvSpPr>
          <p:cNvPr id="9" name="Text 7"/>
          <p:cNvSpPr/>
          <p:nvPr/>
        </p:nvSpPr>
        <p:spPr>
          <a:xfrm>
            <a:off x="2788920" y="2560320"/>
            <a:ext cx="822960" cy="822960"/>
          </a:xfrm>
          <a:prstGeom prst="rect">
            <a:avLst/>
          </a:prstGeom>
          <a:noFill/>
          <a:ln/>
        </p:spPr>
        <p:txBody>
          <a:bodyPr wrap="square" rtlCol="0" anchor="ctr"/>
          <a:lstStyle/>
          <a:p>
            <a:pPr algn="ctr" indent="0" marL="0">
              <a:buNone/>
            </a:pPr>
            <a:r>
              <a:rPr lang="en-US" sz="1600" b="1" dirty="0">
                <a:solidFill>
                  <a:srgbClr val="14B8A6"/>
                </a:solidFill>
                <a:latin typeface="Arial" pitchFamily="34" charset="0"/>
                <a:ea typeface="Arial" pitchFamily="34" charset="-122"/>
                <a:cs typeface="Arial" pitchFamily="34" charset="-120"/>
              </a:rPr>
              <a:t>02</a:t>
            </a:r>
            <a:endParaRPr lang="en-US" sz="1600" dirty="0"/>
          </a:p>
        </p:txBody>
      </p:sp>
      <p:sp>
        <p:nvSpPr>
          <p:cNvPr id="10" name="Text 8"/>
          <p:cNvSpPr/>
          <p:nvPr/>
        </p:nvSpPr>
        <p:spPr>
          <a:xfrm>
            <a:off x="2377440" y="3566160"/>
            <a:ext cx="1645920" cy="457200"/>
          </a:xfrm>
          <a:prstGeom prst="rect">
            <a:avLst/>
          </a:prstGeom>
          <a:noFill/>
          <a:ln/>
        </p:spPr>
        <p:txBody>
          <a:bodyPr wrap="square" rtlCol="0" anchor="ctr"/>
          <a:lstStyle/>
          <a:p>
            <a:pPr algn="ctr" indent="0" marL="0">
              <a:buNone/>
            </a:pPr>
            <a:r>
              <a:rPr lang="en-US" sz="1300" b="1" dirty="0">
                <a:solidFill>
                  <a:srgbClr val="E2E8F0"/>
                </a:solidFill>
                <a:latin typeface="Arial" pitchFamily="34" charset="0"/>
                <a:ea typeface="Arial" pitchFamily="34" charset="-122"/>
                <a:cs typeface="Arial" pitchFamily="34" charset="-120"/>
              </a:rPr>
              <a:t>AI Analysis</a:t>
            </a:r>
            <a:endParaRPr lang="en-US" sz="1300" dirty="0"/>
          </a:p>
        </p:txBody>
      </p:sp>
      <p:sp>
        <p:nvSpPr>
          <p:cNvPr id="11" name="Shape 9"/>
          <p:cNvSpPr/>
          <p:nvPr/>
        </p:nvSpPr>
        <p:spPr>
          <a:xfrm>
            <a:off x="3611880" y="2971800"/>
            <a:ext cx="822960" cy="0"/>
          </a:xfrm>
          <a:prstGeom prst="line">
            <a:avLst/>
          </a:prstGeom>
          <a:noFill/>
          <a:ln w="12700">
            <a:solidFill>
              <a:srgbClr val="14B8A6"/>
            </a:solidFill>
            <a:prstDash val="dash"/>
          </a:ln>
        </p:spPr>
      </p:sp>
      <p:sp>
        <p:nvSpPr>
          <p:cNvPr id="12" name="Shape 10"/>
          <p:cNvSpPr/>
          <p:nvPr/>
        </p:nvSpPr>
        <p:spPr>
          <a:xfrm>
            <a:off x="4434840" y="2560320"/>
            <a:ext cx="822960" cy="822960"/>
          </a:xfrm>
          <a:prstGeom prst="ellipse">
            <a:avLst/>
          </a:prstGeom>
          <a:solidFill>
            <a:srgbClr val="0D2847"/>
          </a:solidFill>
          <a:ln w="19050">
            <a:solidFill>
              <a:srgbClr val="14B8A6"/>
            </a:solidFill>
            <a:prstDash val="solid"/>
          </a:ln>
        </p:spPr>
      </p:sp>
      <p:sp>
        <p:nvSpPr>
          <p:cNvPr id="13" name="Text 11"/>
          <p:cNvSpPr/>
          <p:nvPr/>
        </p:nvSpPr>
        <p:spPr>
          <a:xfrm>
            <a:off x="4434840" y="2560320"/>
            <a:ext cx="822960" cy="822960"/>
          </a:xfrm>
          <a:prstGeom prst="rect">
            <a:avLst/>
          </a:prstGeom>
          <a:noFill/>
          <a:ln/>
        </p:spPr>
        <p:txBody>
          <a:bodyPr wrap="square" rtlCol="0" anchor="ctr"/>
          <a:lstStyle/>
          <a:p>
            <a:pPr algn="ctr" indent="0" marL="0">
              <a:buNone/>
            </a:pPr>
            <a:r>
              <a:rPr lang="en-US" sz="1600" b="1" dirty="0">
                <a:solidFill>
                  <a:srgbClr val="14B8A6"/>
                </a:solidFill>
                <a:latin typeface="Arial" pitchFamily="34" charset="0"/>
                <a:ea typeface="Arial" pitchFamily="34" charset="-122"/>
                <a:cs typeface="Arial" pitchFamily="34" charset="-120"/>
              </a:rPr>
              <a:t>03</a:t>
            </a:r>
            <a:endParaRPr lang="en-US" sz="1600" dirty="0"/>
          </a:p>
        </p:txBody>
      </p:sp>
      <p:sp>
        <p:nvSpPr>
          <p:cNvPr id="14" name="Text 12"/>
          <p:cNvSpPr/>
          <p:nvPr/>
        </p:nvSpPr>
        <p:spPr>
          <a:xfrm>
            <a:off x="4023360" y="3566160"/>
            <a:ext cx="1645920" cy="457200"/>
          </a:xfrm>
          <a:prstGeom prst="rect">
            <a:avLst/>
          </a:prstGeom>
          <a:noFill/>
          <a:ln/>
        </p:spPr>
        <p:txBody>
          <a:bodyPr wrap="square" rtlCol="0" anchor="ctr"/>
          <a:lstStyle/>
          <a:p>
            <a:pPr algn="ctr" indent="0" marL="0">
              <a:buNone/>
            </a:pPr>
            <a:r>
              <a:rPr lang="en-US" sz="1300" b="1" dirty="0">
                <a:solidFill>
                  <a:srgbClr val="E2E8F0"/>
                </a:solidFill>
                <a:latin typeface="Arial" pitchFamily="34" charset="0"/>
                <a:ea typeface="Arial" pitchFamily="34" charset="-122"/>
                <a:cs typeface="Arial" pitchFamily="34" charset="-120"/>
              </a:rPr>
              <a:t>Specialty Match</a:t>
            </a:r>
            <a:endParaRPr lang="en-US" sz="1300" dirty="0"/>
          </a:p>
        </p:txBody>
      </p:sp>
      <p:sp>
        <p:nvSpPr>
          <p:cNvPr id="15" name="Shape 13"/>
          <p:cNvSpPr/>
          <p:nvPr/>
        </p:nvSpPr>
        <p:spPr>
          <a:xfrm>
            <a:off x="5257800" y="2971800"/>
            <a:ext cx="822960" cy="0"/>
          </a:xfrm>
          <a:prstGeom prst="line">
            <a:avLst/>
          </a:prstGeom>
          <a:noFill/>
          <a:ln w="12700">
            <a:solidFill>
              <a:srgbClr val="14B8A6"/>
            </a:solidFill>
            <a:prstDash val="dash"/>
          </a:ln>
        </p:spPr>
      </p:sp>
      <p:sp>
        <p:nvSpPr>
          <p:cNvPr id="16" name="Shape 14"/>
          <p:cNvSpPr/>
          <p:nvPr/>
        </p:nvSpPr>
        <p:spPr>
          <a:xfrm>
            <a:off x="6080760" y="2560320"/>
            <a:ext cx="822960" cy="822960"/>
          </a:xfrm>
          <a:prstGeom prst="ellipse">
            <a:avLst/>
          </a:prstGeom>
          <a:solidFill>
            <a:srgbClr val="0D2847"/>
          </a:solidFill>
          <a:ln w="19050">
            <a:solidFill>
              <a:srgbClr val="14B8A6"/>
            </a:solidFill>
            <a:prstDash val="solid"/>
          </a:ln>
        </p:spPr>
      </p:sp>
      <p:sp>
        <p:nvSpPr>
          <p:cNvPr id="17" name="Text 15"/>
          <p:cNvSpPr/>
          <p:nvPr/>
        </p:nvSpPr>
        <p:spPr>
          <a:xfrm>
            <a:off x="6080760" y="2560320"/>
            <a:ext cx="822960" cy="822960"/>
          </a:xfrm>
          <a:prstGeom prst="rect">
            <a:avLst/>
          </a:prstGeom>
          <a:noFill/>
          <a:ln/>
        </p:spPr>
        <p:txBody>
          <a:bodyPr wrap="square" rtlCol="0" anchor="ctr"/>
          <a:lstStyle/>
          <a:p>
            <a:pPr algn="ctr" indent="0" marL="0">
              <a:buNone/>
            </a:pPr>
            <a:r>
              <a:rPr lang="en-US" sz="1600" b="1" dirty="0">
                <a:solidFill>
                  <a:srgbClr val="14B8A6"/>
                </a:solidFill>
                <a:latin typeface="Arial" pitchFamily="34" charset="0"/>
                <a:ea typeface="Arial" pitchFamily="34" charset="-122"/>
                <a:cs typeface="Arial" pitchFamily="34" charset="-120"/>
              </a:rPr>
              <a:t>04</a:t>
            </a:r>
            <a:endParaRPr lang="en-US" sz="1600" dirty="0"/>
          </a:p>
        </p:txBody>
      </p:sp>
      <p:sp>
        <p:nvSpPr>
          <p:cNvPr id="18" name="Text 16"/>
          <p:cNvSpPr/>
          <p:nvPr/>
        </p:nvSpPr>
        <p:spPr>
          <a:xfrm>
            <a:off x="5669280" y="3566160"/>
            <a:ext cx="1645920" cy="457200"/>
          </a:xfrm>
          <a:prstGeom prst="rect">
            <a:avLst/>
          </a:prstGeom>
          <a:noFill/>
          <a:ln/>
        </p:spPr>
        <p:txBody>
          <a:bodyPr wrap="square" rtlCol="0" anchor="ctr"/>
          <a:lstStyle/>
          <a:p>
            <a:pPr algn="ctr" indent="0" marL="0">
              <a:buNone/>
            </a:pPr>
            <a:r>
              <a:rPr lang="en-US" sz="1300" b="1" dirty="0">
                <a:solidFill>
                  <a:srgbClr val="E2E8F0"/>
                </a:solidFill>
                <a:latin typeface="Arial" pitchFamily="34" charset="0"/>
                <a:ea typeface="Arial" pitchFamily="34" charset="-122"/>
                <a:cs typeface="Arial" pitchFamily="34" charset="-120"/>
              </a:rPr>
              <a:t>Provider Display</a:t>
            </a:r>
            <a:endParaRPr lang="en-US" sz="1300" dirty="0"/>
          </a:p>
        </p:txBody>
      </p:sp>
      <p:sp>
        <p:nvSpPr>
          <p:cNvPr id="19" name="Shape 17"/>
          <p:cNvSpPr/>
          <p:nvPr/>
        </p:nvSpPr>
        <p:spPr>
          <a:xfrm>
            <a:off x="6903720" y="2971800"/>
            <a:ext cx="822960" cy="0"/>
          </a:xfrm>
          <a:prstGeom prst="line">
            <a:avLst/>
          </a:prstGeom>
          <a:noFill/>
          <a:ln w="12700">
            <a:solidFill>
              <a:srgbClr val="14B8A6"/>
            </a:solidFill>
            <a:prstDash val="dash"/>
          </a:ln>
        </p:spPr>
      </p:sp>
      <p:sp>
        <p:nvSpPr>
          <p:cNvPr id="20" name="Shape 18"/>
          <p:cNvSpPr/>
          <p:nvPr/>
        </p:nvSpPr>
        <p:spPr>
          <a:xfrm>
            <a:off x="7726680" y="2560320"/>
            <a:ext cx="822960" cy="822960"/>
          </a:xfrm>
          <a:prstGeom prst="ellipse">
            <a:avLst/>
          </a:prstGeom>
          <a:solidFill>
            <a:srgbClr val="0D2847"/>
          </a:solidFill>
          <a:ln w="19050">
            <a:solidFill>
              <a:srgbClr val="14B8A6"/>
            </a:solidFill>
            <a:prstDash val="solid"/>
          </a:ln>
        </p:spPr>
      </p:sp>
      <p:sp>
        <p:nvSpPr>
          <p:cNvPr id="21" name="Text 19"/>
          <p:cNvSpPr/>
          <p:nvPr/>
        </p:nvSpPr>
        <p:spPr>
          <a:xfrm>
            <a:off x="7726680" y="2560320"/>
            <a:ext cx="822960" cy="822960"/>
          </a:xfrm>
          <a:prstGeom prst="rect">
            <a:avLst/>
          </a:prstGeom>
          <a:noFill/>
          <a:ln/>
        </p:spPr>
        <p:txBody>
          <a:bodyPr wrap="square" rtlCol="0" anchor="ctr"/>
          <a:lstStyle/>
          <a:p>
            <a:pPr algn="ctr" indent="0" marL="0">
              <a:buNone/>
            </a:pPr>
            <a:r>
              <a:rPr lang="en-US" sz="1600" b="1" dirty="0">
                <a:solidFill>
                  <a:srgbClr val="14B8A6"/>
                </a:solidFill>
                <a:latin typeface="Arial" pitchFamily="34" charset="0"/>
                <a:ea typeface="Arial" pitchFamily="34" charset="-122"/>
                <a:cs typeface="Arial" pitchFamily="34" charset="-120"/>
              </a:rPr>
              <a:t>05</a:t>
            </a:r>
            <a:endParaRPr lang="en-US" sz="1600" dirty="0"/>
          </a:p>
        </p:txBody>
      </p:sp>
      <p:sp>
        <p:nvSpPr>
          <p:cNvPr id="22" name="Text 20"/>
          <p:cNvSpPr/>
          <p:nvPr/>
        </p:nvSpPr>
        <p:spPr>
          <a:xfrm>
            <a:off x="7315200" y="3566160"/>
            <a:ext cx="1645920" cy="457200"/>
          </a:xfrm>
          <a:prstGeom prst="rect">
            <a:avLst/>
          </a:prstGeom>
          <a:noFill/>
          <a:ln/>
        </p:spPr>
        <p:txBody>
          <a:bodyPr wrap="square" rtlCol="0" anchor="ctr"/>
          <a:lstStyle/>
          <a:p>
            <a:pPr algn="ctr" indent="0" marL="0">
              <a:buNone/>
            </a:pPr>
            <a:r>
              <a:rPr lang="en-US" sz="1300" b="1" dirty="0">
                <a:solidFill>
                  <a:srgbClr val="E2E8F0"/>
                </a:solidFill>
                <a:latin typeface="Arial" pitchFamily="34" charset="0"/>
                <a:ea typeface="Arial" pitchFamily="34" charset="-122"/>
                <a:cs typeface="Arial" pitchFamily="34" charset="-120"/>
              </a:rPr>
              <a:t>Instant Booking</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1628"/>
        </a:solidFill>
      </p:bgPr>
    </p:bg>
    <p:spTree>
      <p:nvGrpSpPr>
        <p:cNvPr id="1" name=""/>
        <p:cNvGrpSpPr/>
        <p:nvPr/>
      </p:nvGrpSpPr>
      <p:grpSpPr>
        <a:xfrm>
          <a:off x="0" y="0"/>
          <a:ext cx="0" cy="0"/>
          <a:chOff x="0" y="0"/>
          <a:chExt cx="0" cy="0"/>
        </a:xfrm>
      </p:grpSpPr>
      <p:sp>
        <p:nvSpPr>
          <p:cNvPr id="2" name="Text 0"/>
          <p:cNvSpPr/>
          <p:nvPr/>
        </p:nvSpPr>
        <p:spPr>
          <a:xfrm>
            <a:off x="1554480" y="914400"/>
            <a:ext cx="914400" cy="365760"/>
          </a:xfrm>
          <a:prstGeom prst="rect">
            <a:avLst/>
          </a:prstGeom>
          <a:noFill/>
          <a:ln/>
        </p:spPr>
        <p:txBody>
          <a:bodyPr wrap="square" rtlCol="0" anchor="ctr"/>
          <a:lstStyle/>
          <a:p>
            <a:pPr indent="0" marL="0">
              <a:buNone/>
            </a:pPr>
            <a:r>
              <a:rPr lang="en-US" sz="1400" b="1" dirty="0">
                <a:solidFill>
                  <a:srgbClr val="14B8A6"/>
                </a:solidFill>
                <a:latin typeface="Arial" pitchFamily="34" charset="0"/>
                <a:ea typeface="Arial" pitchFamily="34" charset="-122"/>
                <a:cs typeface="Arial" pitchFamily="34" charset="-120"/>
              </a:rPr>
              <a:t>05</a:t>
            </a:r>
            <a:endParaRPr lang="en-US" sz="1400" dirty="0"/>
          </a:p>
        </p:txBody>
      </p:sp>
      <p:sp>
        <p:nvSpPr>
          <p:cNvPr id="3" name="Text 1"/>
          <p:cNvSpPr/>
          <p:nvPr/>
        </p:nvSpPr>
        <p:spPr>
          <a:xfrm>
            <a:off x="1554480" y="1234440"/>
            <a:ext cx="6400800" cy="548640"/>
          </a:xfrm>
          <a:prstGeom prst="rect">
            <a:avLst/>
          </a:prstGeom>
          <a:noFill/>
          <a:ln/>
        </p:spPr>
        <p:txBody>
          <a:bodyPr wrap="square" rtlCol="0" anchor="ctr"/>
          <a:lstStyle/>
          <a:p>
            <a:pPr indent="0" marL="0">
              <a:buNone/>
            </a:pPr>
            <a:r>
              <a:rPr lang="en-US" sz="3200" b="1" dirty="0">
                <a:solidFill>
                  <a:srgbClr val="E2E8F0"/>
                </a:solidFill>
                <a:latin typeface="Arial" pitchFamily="34" charset="0"/>
                <a:ea typeface="Arial" pitchFamily="34" charset="-122"/>
                <a:cs typeface="Arial" pitchFamily="34" charset="-120"/>
              </a:rPr>
              <a:t>Market Opportunity</a:t>
            </a:r>
            <a:endParaRPr lang="en-US" sz="3200" dirty="0"/>
          </a:p>
        </p:txBody>
      </p:sp>
      <p:sp>
        <p:nvSpPr>
          <p:cNvPr id="4" name="Text 2"/>
          <p:cNvSpPr/>
          <p:nvPr/>
        </p:nvSpPr>
        <p:spPr>
          <a:xfrm>
            <a:off x="1554480" y="1920240"/>
            <a:ext cx="5486400" cy="365760"/>
          </a:xfrm>
          <a:prstGeom prst="rect">
            <a:avLst/>
          </a:prstGeom>
          <a:noFill/>
          <a:ln/>
        </p:spPr>
        <p:txBody>
          <a:bodyPr wrap="square" rtlCol="0" anchor="ctr"/>
          <a:lstStyle/>
          <a:p>
            <a:pPr indent="0" marL="0">
              <a:buNone/>
            </a:pPr>
            <a:r>
              <a:rPr lang="en-US" sz="1400" dirty="0">
                <a:solidFill>
                  <a:srgbClr val="94A3B8"/>
                </a:solidFill>
                <a:latin typeface="Arial" pitchFamily="34" charset="0"/>
                <a:ea typeface="Arial" pitchFamily="34" charset="-122"/>
                <a:cs typeface="Arial" pitchFamily="34" charset="-120"/>
              </a:rPr>
              <a:t>Egypt's healthcare market presents massive potential</a:t>
            </a:r>
            <a:endParaRPr lang="en-US" sz="1400" dirty="0"/>
          </a:p>
        </p:txBody>
      </p:sp>
      <p:sp>
        <p:nvSpPr>
          <p:cNvPr id="5" name="Shape 3"/>
          <p:cNvSpPr/>
          <p:nvPr/>
        </p:nvSpPr>
        <p:spPr>
          <a:xfrm>
            <a:off x="1554480" y="2560320"/>
            <a:ext cx="2926080" cy="1188720"/>
          </a:xfrm>
          <a:prstGeom prst="roundRect">
            <a:avLst>
              <a:gd name="adj" fmla="val 11538"/>
            </a:avLst>
          </a:prstGeom>
          <a:solidFill>
            <a:srgbClr val="111D32"/>
          </a:solidFill>
          <a:ln w="12700">
            <a:solidFill>
              <a:srgbClr val="1E3048"/>
            </a:solidFill>
            <a:prstDash val="solid"/>
          </a:ln>
        </p:spPr>
      </p:sp>
      <p:sp>
        <p:nvSpPr>
          <p:cNvPr id="6" name="Text 4"/>
          <p:cNvSpPr/>
          <p:nvPr/>
        </p:nvSpPr>
        <p:spPr>
          <a:xfrm>
            <a:off x="1828800" y="2697480"/>
            <a:ext cx="2377440" cy="548640"/>
          </a:xfrm>
          <a:prstGeom prst="rect">
            <a:avLst/>
          </a:prstGeom>
          <a:noFill/>
          <a:ln/>
        </p:spPr>
        <p:txBody>
          <a:bodyPr wrap="square" rtlCol="0" anchor="ctr"/>
          <a:lstStyle/>
          <a:p>
            <a:pPr indent="0" marL="0">
              <a:buNone/>
            </a:pPr>
            <a:r>
              <a:rPr lang="en-US" sz="2600" b="1" dirty="0">
                <a:solidFill>
                  <a:srgbClr val="E2E8F0"/>
                </a:solidFill>
                <a:latin typeface="Arial" pitchFamily="34" charset="0"/>
                <a:ea typeface="Arial" pitchFamily="34" charset="-122"/>
                <a:cs typeface="Arial" pitchFamily="34" charset="-120"/>
              </a:rPr>
              <a:t>110M+</a:t>
            </a:r>
            <a:endParaRPr lang="en-US" sz="2600" dirty="0"/>
          </a:p>
        </p:txBody>
      </p:sp>
      <p:sp>
        <p:nvSpPr>
          <p:cNvPr id="7" name="Text 5"/>
          <p:cNvSpPr/>
          <p:nvPr/>
        </p:nvSpPr>
        <p:spPr>
          <a:xfrm>
            <a:off x="1828800" y="3200400"/>
            <a:ext cx="2377440" cy="365760"/>
          </a:xfrm>
          <a:prstGeom prst="rect">
            <a:avLst/>
          </a:prstGeom>
          <a:noFill/>
          <a:ln/>
        </p:spPr>
        <p:txBody>
          <a:bodyPr wrap="square" rtlCol="0" anchor="ctr"/>
          <a:lstStyle/>
          <a:p>
            <a:pPr indent="0" marL="0">
              <a:buNone/>
            </a:pPr>
            <a:r>
              <a:rPr lang="en-US" sz="1200" dirty="0">
                <a:solidFill>
                  <a:srgbClr val="94A3B8"/>
                </a:solidFill>
                <a:latin typeface="Arial" pitchFamily="34" charset="0"/>
                <a:ea typeface="Arial" pitchFamily="34" charset="-122"/>
                <a:cs typeface="Arial" pitchFamily="34" charset="-120"/>
              </a:rPr>
              <a:t>Population</a:t>
            </a:r>
            <a:endParaRPr lang="en-US" sz="1200" dirty="0"/>
          </a:p>
        </p:txBody>
      </p:sp>
      <p:sp>
        <p:nvSpPr>
          <p:cNvPr id="8" name="Shape 6"/>
          <p:cNvSpPr/>
          <p:nvPr/>
        </p:nvSpPr>
        <p:spPr>
          <a:xfrm>
            <a:off x="4754880" y="2560320"/>
            <a:ext cx="2926080" cy="1188720"/>
          </a:xfrm>
          <a:prstGeom prst="roundRect">
            <a:avLst>
              <a:gd name="adj" fmla="val 11538"/>
            </a:avLst>
          </a:prstGeom>
          <a:solidFill>
            <a:srgbClr val="111D32"/>
          </a:solidFill>
          <a:ln w="12700">
            <a:solidFill>
              <a:srgbClr val="1E3048"/>
            </a:solidFill>
            <a:prstDash val="solid"/>
          </a:ln>
        </p:spPr>
      </p:sp>
      <p:sp>
        <p:nvSpPr>
          <p:cNvPr id="9" name="Text 7"/>
          <p:cNvSpPr/>
          <p:nvPr/>
        </p:nvSpPr>
        <p:spPr>
          <a:xfrm>
            <a:off x="5029200" y="2697480"/>
            <a:ext cx="2377440" cy="548640"/>
          </a:xfrm>
          <a:prstGeom prst="rect">
            <a:avLst/>
          </a:prstGeom>
          <a:noFill/>
          <a:ln/>
        </p:spPr>
        <p:txBody>
          <a:bodyPr wrap="square" rtlCol="0" anchor="ctr"/>
          <a:lstStyle/>
          <a:p>
            <a:pPr indent="0" marL="0">
              <a:buNone/>
            </a:pPr>
            <a:r>
              <a:rPr lang="en-US" sz="2600" b="1" dirty="0">
                <a:solidFill>
                  <a:srgbClr val="E2E8F0"/>
                </a:solidFill>
                <a:latin typeface="Arial" pitchFamily="34" charset="0"/>
                <a:ea typeface="Arial" pitchFamily="34" charset="-122"/>
                <a:cs typeface="Arial" pitchFamily="34" charset="-120"/>
              </a:rPr>
              <a:t>1000s</a:t>
            </a:r>
            <a:endParaRPr lang="en-US" sz="2600" dirty="0"/>
          </a:p>
        </p:txBody>
      </p:sp>
      <p:sp>
        <p:nvSpPr>
          <p:cNvPr id="10" name="Text 8"/>
          <p:cNvSpPr/>
          <p:nvPr/>
        </p:nvSpPr>
        <p:spPr>
          <a:xfrm>
            <a:off x="5029200" y="3200400"/>
            <a:ext cx="2377440" cy="365760"/>
          </a:xfrm>
          <a:prstGeom prst="rect">
            <a:avLst/>
          </a:prstGeom>
          <a:noFill/>
          <a:ln/>
        </p:spPr>
        <p:txBody>
          <a:bodyPr wrap="square" rtlCol="0" anchor="ctr"/>
          <a:lstStyle/>
          <a:p>
            <a:pPr indent="0" marL="0">
              <a:buNone/>
            </a:pPr>
            <a:r>
              <a:rPr lang="en-US" sz="1200" dirty="0">
                <a:solidFill>
                  <a:srgbClr val="94A3B8"/>
                </a:solidFill>
                <a:latin typeface="Arial" pitchFamily="34" charset="0"/>
                <a:ea typeface="Arial" pitchFamily="34" charset="-122"/>
                <a:cs typeface="Arial" pitchFamily="34" charset="-120"/>
              </a:rPr>
              <a:t>Private Clinics &amp; Pharmacies</a:t>
            </a:r>
            <a:endParaRPr lang="en-US" sz="1200" dirty="0"/>
          </a:p>
        </p:txBody>
      </p:sp>
      <p:sp>
        <p:nvSpPr>
          <p:cNvPr id="11" name="Shape 9"/>
          <p:cNvSpPr/>
          <p:nvPr/>
        </p:nvSpPr>
        <p:spPr>
          <a:xfrm>
            <a:off x="1554480" y="4023360"/>
            <a:ext cx="2926080" cy="1188720"/>
          </a:xfrm>
          <a:prstGeom prst="roundRect">
            <a:avLst>
              <a:gd name="adj" fmla="val 11538"/>
            </a:avLst>
          </a:prstGeom>
          <a:solidFill>
            <a:srgbClr val="111D32"/>
          </a:solidFill>
          <a:ln w="12700">
            <a:solidFill>
              <a:srgbClr val="1E3048"/>
            </a:solidFill>
            <a:prstDash val="solid"/>
          </a:ln>
        </p:spPr>
      </p:sp>
      <p:sp>
        <p:nvSpPr>
          <p:cNvPr id="12" name="Text 10"/>
          <p:cNvSpPr/>
          <p:nvPr/>
        </p:nvSpPr>
        <p:spPr>
          <a:xfrm>
            <a:off x="1828800" y="4160520"/>
            <a:ext cx="2377440" cy="548640"/>
          </a:xfrm>
          <a:prstGeom prst="rect">
            <a:avLst/>
          </a:prstGeom>
          <a:noFill/>
          <a:ln/>
        </p:spPr>
        <p:txBody>
          <a:bodyPr wrap="square" rtlCol="0" anchor="ctr"/>
          <a:lstStyle/>
          <a:p>
            <a:pPr indent="0" marL="0">
              <a:buNone/>
            </a:pPr>
            <a:r>
              <a:rPr lang="en-US" sz="2600" b="1" dirty="0">
                <a:solidFill>
                  <a:srgbClr val="E2E8F0"/>
                </a:solidFill>
                <a:latin typeface="Arial" pitchFamily="34" charset="0"/>
                <a:ea typeface="Arial" pitchFamily="34" charset="-122"/>
                <a:cs typeface="Arial" pitchFamily="34" charset="-120"/>
              </a:rPr>
              <a:t>Billions</a:t>
            </a:r>
            <a:endParaRPr lang="en-US" sz="2600" dirty="0"/>
          </a:p>
        </p:txBody>
      </p:sp>
      <p:sp>
        <p:nvSpPr>
          <p:cNvPr id="13" name="Text 11"/>
          <p:cNvSpPr/>
          <p:nvPr/>
        </p:nvSpPr>
        <p:spPr>
          <a:xfrm>
            <a:off x="1828800" y="4663440"/>
            <a:ext cx="2377440" cy="365760"/>
          </a:xfrm>
          <a:prstGeom prst="rect">
            <a:avLst/>
          </a:prstGeom>
          <a:noFill/>
          <a:ln/>
        </p:spPr>
        <p:txBody>
          <a:bodyPr wrap="square" rtlCol="0" anchor="ctr"/>
          <a:lstStyle/>
          <a:p>
            <a:pPr indent="0" marL="0">
              <a:buNone/>
            </a:pPr>
            <a:r>
              <a:rPr lang="en-US" sz="1200" dirty="0">
                <a:solidFill>
                  <a:srgbClr val="94A3B8"/>
                </a:solidFill>
                <a:latin typeface="Arial" pitchFamily="34" charset="0"/>
                <a:ea typeface="Arial" pitchFamily="34" charset="-122"/>
                <a:cs typeface="Arial" pitchFamily="34" charset="-120"/>
              </a:rPr>
              <a:t>Annual Healthcare Market (EGP)</a:t>
            </a:r>
            <a:endParaRPr lang="en-US" sz="1200" dirty="0"/>
          </a:p>
        </p:txBody>
      </p:sp>
      <p:sp>
        <p:nvSpPr>
          <p:cNvPr id="14" name="Shape 12"/>
          <p:cNvSpPr/>
          <p:nvPr/>
        </p:nvSpPr>
        <p:spPr>
          <a:xfrm>
            <a:off x="4754880" y="4023360"/>
            <a:ext cx="2926080" cy="1188720"/>
          </a:xfrm>
          <a:prstGeom prst="roundRect">
            <a:avLst>
              <a:gd name="adj" fmla="val 11538"/>
            </a:avLst>
          </a:prstGeom>
          <a:solidFill>
            <a:srgbClr val="111D32"/>
          </a:solidFill>
          <a:ln w="12700">
            <a:solidFill>
              <a:srgbClr val="1E3048"/>
            </a:solidFill>
            <a:prstDash val="solid"/>
          </a:ln>
        </p:spPr>
      </p:sp>
      <p:sp>
        <p:nvSpPr>
          <p:cNvPr id="15" name="Text 13"/>
          <p:cNvSpPr/>
          <p:nvPr/>
        </p:nvSpPr>
        <p:spPr>
          <a:xfrm>
            <a:off x="5029200" y="4160520"/>
            <a:ext cx="2377440" cy="548640"/>
          </a:xfrm>
          <a:prstGeom prst="rect">
            <a:avLst/>
          </a:prstGeom>
          <a:noFill/>
          <a:ln/>
        </p:spPr>
        <p:txBody>
          <a:bodyPr wrap="square" rtlCol="0" anchor="ctr"/>
          <a:lstStyle/>
          <a:p>
            <a:pPr indent="0" marL="0">
              <a:buNone/>
            </a:pPr>
            <a:r>
              <a:rPr lang="en-US" sz="2600" b="1" dirty="0">
                <a:solidFill>
                  <a:srgbClr val="E2E8F0"/>
                </a:solidFill>
                <a:latin typeface="Arial" pitchFamily="34" charset="0"/>
                <a:ea typeface="Arial" pitchFamily="34" charset="-122"/>
                <a:cs typeface="Arial" pitchFamily="34" charset="-120"/>
              </a:rPr>
              <a:t>Egypt</a:t>
            </a:r>
            <a:endParaRPr lang="en-US" sz="2600" dirty="0"/>
          </a:p>
        </p:txBody>
      </p:sp>
      <p:sp>
        <p:nvSpPr>
          <p:cNvPr id="16" name="Text 14"/>
          <p:cNvSpPr/>
          <p:nvPr/>
        </p:nvSpPr>
        <p:spPr>
          <a:xfrm>
            <a:off x="5029200" y="4663440"/>
            <a:ext cx="2377440" cy="365760"/>
          </a:xfrm>
          <a:prstGeom prst="rect">
            <a:avLst/>
          </a:prstGeom>
          <a:noFill/>
          <a:ln/>
        </p:spPr>
        <p:txBody>
          <a:bodyPr wrap="square" rtlCol="0" anchor="ctr"/>
          <a:lstStyle/>
          <a:p>
            <a:pPr indent="0" marL="0">
              <a:buNone/>
            </a:pPr>
            <a:r>
              <a:rPr lang="en-US" sz="1200" dirty="0">
                <a:solidFill>
                  <a:srgbClr val="94A3B8"/>
                </a:solidFill>
                <a:latin typeface="Arial" pitchFamily="34" charset="0"/>
                <a:ea typeface="Arial" pitchFamily="34" charset="-122"/>
                <a:cs typeface="Arial" pitchFamily="34" charset="-120"/>
              </a:rPr>
              <a:t>Launch Nationwide</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1628"/>
        </a:solidFill>
      </p:bgPr>
    </p:bg>
    <p:spTree>
      <p:nvGrpSpPr>
        <p:cNvPr id="1" name=""/>
        <p:cNvGrpSpPr/>
        <p:nvPr/>
      </p:nvGrpSpPr>
      <p:grpSpPr>
        <a:xfrm>
          <a:off x="0" y="0"/>
          <a:ext cx="0" cy="0"/>
          <a:chOff x="0" y="0"/>
          <a:chExt cx="0" cy="0"/>
        </a:xfrm>
      </p:grpSpPr>
      <p:sp>
        <p:nvSpPr>
          <p:cNvPr id="2" name="Text 0"/>
          <p:cNvSpPr/>
          <p:nvPr/>
        </p:nvSpPr>
        <p:spPr>
          <a:xfrm>
            <a:off x="1554480" y="914400"/>
            <a:ext cx="914400" cy="365760"/>
          </a:xfrm>
          <a:prstGeom prst="rect">
            <a:avLst/>
          </a:prstGeom>
          <a:noFill/>
          <a:ln/>
        </p:spPr>
        <p:txBody>
          <a:bodyPr wrap="square" rtlCol="0" anchor="ctr"/>
          <a:lstStyle/>
          <a:p>
            <a:pPr indent="0" marL="0">
              <a:buNone/>
            </a:pPr>
            <a:r>
              <a:rPr lang="en-US" sz="1400" b="1" dirty="0">
                <a:solidFill>
                  <a:srgbClr val="14B8A6"/>
                </a:solidFill>
                <a:latin typeface="Arial" pitchFamily="34" charset="0"/>
                <a:ea typeface="Arial" pitchFamily="34" charset="-122"/>
                <a:cs typeface="Arial" pitchFamily="34" charset="-120"/>
              </a:rPr>
              <a:t>06</a:t>
            </a:r>
            <a:endParaRPr lang="en-US" sz="1400" dirty="0"/>
          </a:p>
        </p:txBody>
      </p:sp>
      <p:sp>
        <p:nvSpPr>
          <p:cNvPr id="3" name="Text 1"/>
          <p:cNvSpPr/>
          <p:nvPr/>
        </p:nvSpPr>
        <p:spPr>
          <a:xfrm>
            <a:off x="1554480" y="1234440"/>
            <a:ext cx="6400800" cy="548640"/>
          </a:xfrm>
          <a:prstGeom prst="rect">
            <a:avLst/>
          </a:prstGeom>
          <a:noFill/>
          <a:ln/>
        </p:spPr>
        <p:txBody>
          <a:bodyPr wrap="square" rtlCol="0" anchor="ctr"/>
          <a:lstStyle/>
          <a:p>
            <a:pPr indent="0" marL="0">
              <a:buNone/>
            </a:pPr>
            <a:r>
              <a:rPr lang="en-US" sz="3200" b="1" dirty="0">
                <a:solidFill>
                  <a:srgbClr val="E2E8F0"/>
                </a:solidFill>
                <a:latin typeface="Arial" pitchFamily="34" charset="0"/>
                <a:ea typeface="Arial" pitchFamily="34" charset="-122"/>
                <a:cs typeface="Arial" pitchFamily="34" charset="-120"/>
              </a:rPr>
              <a:t>TAM / SAM / SOM</a:t>
            </a:r>
            <a:endParaRPr lang="en-US" sz="3200" dirty="0"/>
          </a:p>
        </p:txBody>
      </p:sp>
      <p:sp>
        <p:nvSpPr>
          <p:cNvPr id="4" name="Text 2"/>
          <p:cNvSpPr/>
          <p:nvPr/>
        </p:nvSpPr>
        <p:spPr>
          <a:xfrm>
            <a:off x="1554480" y="2103120"/>
            <a:ext cx="4572000" cy="457200"/>
          </a:xfrm>
          <a:prstGeom prst="rect">
            <a:avLst/>
          </a:prstGeom>
          <a:noFill/>
          <a:ln/>
        </p:spPr>
        <p:txBody>
          <a:bodyPr wrap="square" rtlCol="0" anchor="ctr"/>
          <a:lstStyle/>
          <a:p>
            <a:pPr indent="0" marL="0">
              <a:buNone/>
            </a:pPr>
            <a:r>
              <a:rPr lang="en-US" sz="1500" b="1" dirty="0">
                <a:solidFill>
                  <a:srgbClr val="E2E8F0"/>
                </a:solidFill>
                <a:latin typeface="Arial" pitchFamily="34" charset="0"/>
                <a:ea typeface="Arial" pitchFamily="34" charset="-122"/>
                <a:cs typeface="Arial" pitchFamily="34" charset="-120"/>
              </a:rPr>
              <a:t>TAM  ~110M — All healthcare service seekers</a:t>
            </a:r>
            <a:endParaRPr lang="en-US" sz="1500" dirty="0"/>
          </a:p>
        </p:txBody>
      </p:sp>
      <p:sp>
        <p:nvSpPr>
          <p:cNvPr id="5" name="Text 3"/>
          <p:cNvSpPr/>
          <p:nvPr/>
        </p:nvSpPr>
        <p:spPr>
          <a:xfrm>
            <a:off x="1554480" y="2743200"/>
            <a:ext cx="4572000" cy="457200"/>
          </a:xfrm>
          <a:prstGeom prst="rect">
            <a:avLst/>
          </a:prstGeom>
          <a:noFill/>
          <a:ln/>
        </p:spPr>
        <p:txBody>
          <a:bodyPr wrap="square" rtlCol="0" anchor="ctr"/>
          <a:lstStyle/>
          <a:p>
            <a:pPr indent="0" marL="0">
              <a:buNone/>
            </a:pPr>
            <a:r>
              <a:rPr lang="en-US" sz="1500" b="1" dirty="0">
                <a:solidFill>
                  <a:srgbClr val="E2E8F0"/>
                </a:solidFill>
                <a:latin typeface="Arial" pitchFamily="34" charset="0"/>
                <a:ea typeface="Arial" pitchFamily="34" charset="-122"/>
                <a:cs typeface="Arial" pitchFamily="34" charset="-120"/>
              </a:rPr>
              <a:t>SAM  ~45M — Urban population</a:t>
            </a:r>
            <a:endParaRPr lang="en-US" sz="1500" dirty="0"/>
          </a:p>
        </p:txBody>
      </p:sp>
      <p:sp>
        <p:nvSpPr>
          <p:cNvPr id="6" name="Text 4"/>
          <p:cNvSpPr/>
          <p:nvPr/>
        </p:nvSpPr>
        <p:spPr>
          <a:xfrm>
            <a:off x="1554480" y="3383280"/>
            <a:ext cx="4572000" cy="457200"/>
          </a:xfrm>
          <a:prstGeom prst="rect">
            <a:avLst/>
          </a:prstGeom>
          <a:noFill/>
          <a:ln/>
        </p:spPr>
        <p:txBody>
          <a:bodyPr wrap="square" rtlCol="0" anchor="ctr"/>
          <a:lstStyle/>
          <a:p>
            <a:pPr indent="0" marL="0">
              <a:buNone/>
            </a:pPr>
            <a:r>
              <a:rPr lang="en-US" sz="1500" b="1" dirty="0">
                <a:solidFill>
                  <a:srgbClr val="E2E8F0"/>
                </a:solidFill>
                <a:latin typeface="Arial" pitchFamily="34" charset="0"/>
                <a:ea typeface="Arial" pitchFamily="34" charset="-122"/>
                <a:cs typeface="Arial" pitchFamily="34" charset="-120"/>
              </a:rPr>
              <a:t>SOM  100K — Year 1 Active users</a:t>
            </a:r>
            <a:endParaRPr lang="en-US" sz="1500" dirty="0"/>
          </a:p>
        </p:txBody>
      </p:sp>
      <p:sp>
        <p:nvSpPr>
          <p:cNvPr id="7" name="Shape 5"/>
          <p:cNvSpPr/>
          <p:nvPr/>
        </p:nvSpPr>
        <p:spPr>
          <a:xfrm>
            <a:off x="5029200" y="1828800"/>
            <a:ext cx="2743200" cy="2743200"/>
          </a:xfrm>
          <a:prstGeom prst="ellipse">
            <a:avLst/>
          </a:prstGeom>
          <a:solidFill>
            <a:srgbClr val="0D3530"/>
          </a:solidFill>
          <a:ln w="19050">
            <a:solidFill>
              <a:srgbClr val="14B8A6"/>
            </a:solidFill>
            <a:prstDash val="solid"/>
          </a:ln>
        </p:spPr>
      </p:sp>
      <p:sp>
        <p:nvSpPr>
          <p:cNvPr id="8" name="Text 6"/>
          <p:cNvSpPr/>
          <p:nvPr/>
        </p:nvSpPr>
        <p:spPr>
          <a:xfrm>
            <a:off x="5029200" y="1828800"/>
            <a:ext cx="2743200" cy="2743200"/>
          </a:xfrm>
          <a:prstGeom prst="rect">
            <a:avLst/>
          </a:prstGeom>
          <a:noFill/>
          <a:ln/>
        </p:spPr>
        <p:txBody>
          <a:bodyPr wrap="square" rtlCol="0" anchor="ctr"/>
          <a:lstStyle/>
          <a:p>
            <a:pPr algn="ctr" indent="0" marL="0">
              <a:buNone/>
            </a:pPr>
            <a:r>
              <a:rPr lang="en-US" sz="1600" b="1" dirty="0">
                <a:solidFill>
                  <a:srgbClr val="E2E8F0"/>
                </a:solidFill>
                <a:latin typeface="Arial" pitchFamily="34" charset="0"/>
                <a:ea typeface="Arial" pitchFamily="34" charset="-122"/>
                <a:cs typeface="Arial" pitchFamily="34" charset="-120"/>
              </a:rPr>
              <a:t>~110M</a:t>
            </a:r>
            <a:endParaRPr lang="en-US" sz="1600" dirty="0"/>
          </a:p>
          <a:p>
            <a:pPr algn="ctr" indent="0" marL="0">
              <a:buNone/>
            </a:pPr>
            <a:r>
              <a:rPr lang="en-US" sz="1600" b="1" dirty="0">
                <a:solidFill>
                  <a:srgbClr val="E2E8F0"/>
                </a:solidFill>
                <a:latin typeface="Arial" pitchFamily="34" charset="0"/>
                <a:ea typeface="Arial" pitchFamily="34" charset="-122"/>
                <a:cs typeface="Arial" pitchFamily="34" charset="-120"/>
              </a:rPr>
              <a:t>💰 Money</a:t>
            </a:r>
            <a:endParaRPr lang="en-US" sz="1600" dirty="0"/>
          </a:p>
        </p:txBody>
      </p:sp>
      <p:sp>
        <p:nvSpPr>
          <p:cNvPr id="9" name="Shape 7"/>
          <p:cNvSpPr/>
          <p:nvPr/>
        </p:nvSpPr>
        <p:spPr>
          <a:xfrm>
            <a:off x="5440680" y="2240280"/>
            <a:ext cx="1920240" cy="1920240"/>
          </a:xfrm>
          <a:prstGeom prst="ellipse">
            <a:avLst/>
          </a:prstGeom>
          <a:solidFill>
            <a:srgbClr val="0D2847"/>
          </a:solidFill>
          <a:ln w="19050">
            <a:solidFill>
              <a:srgbClr val="06B6D4"/>
            </a:solidFill>
            <a:prstDash val="solid"/>
          </a:ln>
        </p:spPr>
      </p:sp>
      <p:sp>
        <p:nvSpPr>
          <p:cNvPr id="10" name="Text 8"/>
          <p:cNvSpPr/>
          <p:nvPr/>
        </p:nvSpPr>
        <p:spPr>
          <a:xfrm>
            <a:off x="5440680" y="2240280"/>
            <a:ext cx="1920240" cy="1920240"/>
          </a:xfrm>
          <a:prstGeom prst="rect">
            <a:avLst/>
          </a:prstGeom>
          <a:noFill/>
          <a:ln/>
        </p:spPr>
        <p:txBody>
          <a:bodyPr wrap="square" rtlCol="0" anchor="ctr"/>
          <a:lstStyle/>
          <a:p>
            <a:pPr algn="ctr" indent="0" marL="0">
              <a:buNone/>
            </a:pPr>
            <a:r>
              <a:rPr lang="en-US" sz="1400" b="1" dirty="0">
                <a:solidFill>
                  <a:srgbClr val="E2E8F0"/>
                </a:solidFill>
                <a:latin typeface="Arial" pitchFamily="34" charset="0"/>
                <a:ea typeface="Arial" pitchFamily="34" charset="-122"/>
                <a:cs typeface="Arial" pitchFamily="34" charset="-120"/>
              </a:rPr>
              <a:t>~45M</a:t>
            </a:r>
            <a:endParaRPr lang="en-US" sz="1400" dirty="0"/>
          </a:p>
        </p:txBody>
      </p:sp>
      <p:sp>
        <p:nvSpPr>
          <p:cNvPr id="11" name="Shape 9"/>
          <p:cNvSpPr/>
          <p:nvPr/>
        </p:nvSpPr>
        <p:spPr>
          <a:xfrm>
            <a:off x="5852160" y="2651760"/>
            <a:ext cx="1097280" cy="1097280"/>
          </a:xfrm>
          <a:prstGeom prst="ellipse">
            <a:avLst/>
          </a:prstGeom>
          <a:solidFill>
            <a:srgbClr val="2D1F0A"/>
          </a:solidFill>
          <a:ln w="19050">
            <a:solidFill>
              <a:srgbClr val="F59E0B"/>
            </a:solidFill>
            <a:prstDash val="solid"/>
          </a:ln>
        </p:spPr>
      </p:sp>
      <p:sp>
        <p:nvSpPr>
          <p:cNvPr id="12" name="Text 10"/>
          <p:cNvSpPr/>
          <p:nvPr/>
        </p:nvSpPr>
        <p:spPr>
          <a:xfrm>
            <a:off x="5852160" y="2651760"/>
            <a:ext cx="1097280" cy="1097280"/>
          </a:xfrm>
          <a:prstGeom prst="rect">
            <a:avLst/>
          </a:prstGeom>
          <a:noFill/>
          <a:ln/>
        </p:spPr>
        <p:txBody>
          <a:bodyPr wrap="square" rtlCol="0" anchor="ctr"/>
          <a:lstStyle/>
          <a:p>
            <a:pPr algn="ctr" indent="0" marL="0">
              <a:buNone/>
            </a:pPr>
            <a:r>
              <a:rPr lang="en-US" sz="1400" b="1" dirty="0">
                <a:solidFill>
                  <a:srgbClr val="E2E8F0"/>
                </a:solidFill>
                <a:latin typeface="Arial" pitchFamily="34" charset="0"/>
                <a:ea typeface="Arial" pitchFamily="34" charset="-122"/>
                <a:cs typeface="Arial" pitchFamily="34" charset="-120"/>
              </a:rPr>
              <a:t>100K</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1628"/>
        </a:solidFill>
      </p:bgPr>
    </p:bg>
    <p:spTree>
      <p:nvGrpSpPr>
        <p:cNvPr id="1" name=""/>
        <p:cNvGrpSpPr/>
        <p:nvPr/>
      </p:nvGrpSpPr>
      <p:grpSpPr>
        <a:xfrm>
          <a:off x="0" y="0"/>
          <a:ext cx="0" cy="0"/>
          <a:chOff x="0" y="0"/>
          <a:chExt cx="0" cy="0"/>
        </a:xfrm>
      </p:grpSpPr>
      <p:sp>
        <p:nvSpPr>
          <p:cNvPr id="2" name="Text 0"/>
          <p:cNvSpPr/>
          <p:nvPr/>
        </p:nvSpPr>
        <p:spPr>
          <a:xfrm>
            <a:off x="1554480" y="914400"/>
            <a:ext cx="914400" cy="365760"/>
          </a:xfrm>
          <a:prstGeom prst="rect">
            <a:avLst/>
          </a:prstGeom>
          <a:noFill/>
          <a:ln/>
        </p:spPr>
        <p:txBody>
          <a:bodyPr wrap="square" rtlCol="0" anchor="ctr"/>
          <a:lstStyle/>
          <a:p>
            <a:pPr indent="0" marL="0">
              <a:buNone/>
            </a:pPr>
            <a:r>
              <a:rPr lang="en-US" sz="1400" b="1" dirty="0">
                <a:solidFill>
                  <a:srgbClr val="14B8A6"/>
                </a:solidFill>
                <a:latin typeface="Arial" pitchFamily="34" charset="0"/>
                <a:ea typeface="Arial" pitchFamily="34" charset="-122"/>
                <a:cs typeface="Arial" pitchFamily="34" charset="-120"/>
              </a:rPr>
              <a:t>07</a:t>
            </a:r>
            <a:endParaRPr lang="en-US" sz="1400" dirty="0"/>
          </a:p>
        </p:txBody>
      </p:sp>
      <p:sp>
        <p:nvSpPr>
          <p:cNvPr id="3" name="Text 1"/>
          <p:cNvSpPr/>
          <p:nvPr/>
        </p:nvSpPr>
        <p:spPr>
          <a:xfrm>
            <a:off x="1554480" y="1234440"/>
            <a:ext cx="6400800" cy="548640"/>
          </a:xfrm>
          <a:prstGeom prst="rect">
            <a:avLst/>
          </a:prstGeom>
          <a:noFill/>
          <a:ln/>
        </p:spPr>
        <p:txBody>
          <a:bodyPr wrap="square" rtlCol="0" anchor="ctr"/>
          <a:lstStyle/>
          <a:p>
            <a:pPr indent="0" marL="0">
              <a:buNone/>
            </a:pPr>
            <a:r>
              <a:rPr lang="en-US" sz="3200" b="1" dirty="0">
                <a:solidFill>
                  <a:srgbClr val="E2E8F0"/>
                </a:solidFill>
                <a:latin typeface="Arial" pitchFamily="34" charset="0"/>
                <a:ea typeface="Arial" pitchFamily="34" charset="-122"/>
                <a:cs typeface="Arial" pitchFamily="34" charset="-120"/>
              </a:rPr>
              <a:t>Business Model</a:t>
            </a:r>
            <a:endParaRPr lang="en-US" sz="3200" dirty="0"/>
          </a:p>
        </p:txBody>
      </p:sp>
      <p:sp>
        <p:nvSpPr>
          <p:cNvPr id="4" name="Shape 2"/>
          <p:cNvSpPr/>
          <p:nvPr/>
        </p:nvSpPr>
        <p:spPr>
          <a:xfrm>
            <a:off x="457200" y="2103120"/>
            <a:ext cx="1554480" cy="3200400"/>
          </a:xfrm>
          <a:prstGeom prst="roundRect">
            <a:avLst>
              <a:gd name="adj" fmla="val 8824"/>
            </a:avLst>
          </a:prstGeom>
          <a:solidFill>
            <a:srgbClr val="111D32"/>
          </a:solidFill>
          <a:ln w="12700">
            <a:solidFill>
              <a:srgbClr val="1E3048"/>
            </a:solidFill>
            <a:prstDash val="solid"/>
          </a:ln>
        </p:spPr>
      </p:sp>
      <p:sp>
        <p:nvSpPr>
          <p:cNvPr id="5" name="Text 3"/>
          <p:cNvSpPr/>
          <p:nvPr/>
        </p:nvSpPr>
        <p:spPr>
          <a:xfrm>
            <a:off x="457200" y="2560320"/>
            <a:ext cx="1554480" cy="457200"/>
          </a:xfrm>
          <a:prstGeom prst="rect">
            <a:avLst/>
          </a:prstGeom>
          <a:noFill/>
          <a:ln/>
        </p:spPr>
        <p:txBody>
          <a:bodyPr wrap="square" rtlCol="0" anchor="ctr"/>
          <a:lstStyle/>
          <a:p>
            <a:pPr algn="ctr" indent="0" marL="0">
              <a:buNone/>
            </a:pPr>
            <a:r>
              <a:rPr lang="en-US" sz="1500" b="1" dirty="0">
                <a:solidFill>
                  <a:srgbClr val="E2E8F0"/>
                </a:solidFill>
                <a:latin typeface="Arial" pitchFamily="34" charset="0"/>
                <a:ea typeface="Arial" pitchFamily="34" charset="-122"/>
                <a:cs typeface="Arial" pitchFamily="34" charset="-120"/>
              </a:rPr>
              <a:t>Doctors</a:t>
            </a:r>
            <a:endParaRPr lang="en-US" sz="1500" dirty="0"/>
          </a:p>
        </p:txBody>
      </p:sp>
      <p:sp>
        <p:nvSpPr>
          <p:cNvPr id="6" name="Text 4"/>
          <p:cNvSpPr/>
          <p:nvPr/>
        </p:nvSpPr>
        <p:spPr>
          <a:xfrm>
            <a:off x="457200" y="3200400"/>
            <a:ext cx="1554480" cy="548640"/>
          </a:xfrm>
          <a:prstGeom prst="rect">
            <a:avLst/>
          </a:prstGeom>
          <a:noFill/>
          <a:ln/>
        </p:spPr>
        <p:txBody>
          <a:bodyPr wrap="square" rtlCol="0" anchor="ctr"/>
          <a:lstStyle/>
          <a:p>
            <a:pPr algn="ctr" indent="0" marL="0">
              <a:buNone/>
            </a:pPr>
            <a:r>
              <a:rPr lang="en-US" sz="1200" b="1" dirty="0">
                <a:solidFill>
                  <a:srgbClr val="06B6D4"/>
                </a:solidFill>
                <a:latin typeface="Arial" pitchFamily="34" charset="0"/>
                <a:ea typeface="Arial" pitchFamily="34" charset="-122"/>
                <a:cs typeface="Arial" pitchFamily="34" charset="-120"/>
              </a:rPr>
              <a:t>1,000 – 5,000 EGP/month</a:t>
            </a:r>
            <a:endParaRPr lang="en-US" sz="1200" dirty="0"/>
          </a:p>
        </p:txBody>
      </p:sp>
      <p:sp>
        <p:nvSpPr>
          <p:cNvPr id="7" name="Text 5"/>
          <p:cNvSpPr/>
          <p:nvPr/>
        </p:nvSpPr>
        <p:spPr>
          <a:xfrm>
            <a:off x="457200" y="3840480"/>
            <a:ext cx="1554480" cy="457200"/>
          </a:xfrm>
          <a:prstGeom prst="rect">
            <a:avLst/>
          </a:prstGeom>
          <a:noFill/>
          <a:ln/>
        </p:spPr>
        <p:txBody>
          <a:bodyPr wrap="square" rtlCol="0" anchor="ctr"/>
          <a:lstStyle/>
          <a:p>
            <a:pPr algn="ctr" indent="0" marL="0">
              <a:buNone/>
            </a:pPr>
            <a:r>
              <a:rPr lang="en-US" sz="1100" dirty="0">
                <a:solidFill>
                  <a:srgbClr val="94A3B8"/>
                </a:solidFill>
                <a:latin typeface="Arial" pitchFamily="34" charset="0"/>
                <a:ea typeface="Arial" pitchFamily="34" charset="-122"/>
                <a:cs typeface="Arial" pitchFamily="34" charset="-120"/>
              </a:rPr>
              <a:t>5% commission</a:t>
            </a:r>
            <a:endParaRPr lang="en-US" sz="1100" dirty="0"/>
          </a:p>
        </p:txBody>
      </p:sp>
      <p:sp>
        <p:nvSpPr>
          <p:cNvPr id="8" name="Shape 6"/>
          <p:cNvSpPr/>
          <p:nvPr/>
        </p:nvSpPr>
        <p:spPr>
          <a:xfrm>
            <a:off x="2148840" y="2103120"/>
            <a:ext cx="1554480" cy="3200400"/>
          </a:xfrm>
          <a:prstGeom prst="roundRect">
            <a:avLst>
              <a:gd name="adj" fmla="val 8824"/>
            </a:avLst>
          </a:prstGeom>
          <a:solidFill>
            <a:srgbClr val="111D32"/>
          </a:solidFill>
          <a:ln w="12700">
            <a:solidFill>
              <a:srgbClr val="1E3048"/>
            </a:solidFill>
            <a:prstDash val="solid"/>
          </a:ln>
        </p:spPr>
      </p:sp>
      <p:sp>
        <p:nvSpPr>
          <p:cNvPr id="9" name="Text 7"/>
          <p:cNvSpPr/>
          <p:nvPr/>
        </p:nvSpPr>
        <p:spPr>
          <a:xfrm>
            <a:off x="2148840" y="2560320"/>
            <a:ext cx="1554480" cy="457200"/>
          </a:xfrm>
          <a:prstGeom prst="rect">
            <a:avLst/>
          </a:prstGeom>
          <a:noFill/>
          <a:ln/>
        </p:spPr>
        <p:txBody>
          <a:bodyPr wrap="square" rtlCol="0" anchor="ctr"/>
          <a:lstStyle/>
          <a:p>
            <a:pPr algn="ctr" indent="0" marL="0">
              <a:buNone/>
            </a:pPr>
            <a:r>
              <a:rPr lang="en-US" sz="1500" b="1" dirty="0">
                <a:solidFill>
                  <a:srgbClr val="E2E8F0"/>
                </a:solidFill>
                <a:latin typeface="Arial" pitchFamily="34" charset="0"/>
                <a:ea typeface="Arial" pitchFamily="34" charset="-122"/>
                <a:cs typeface="Arial" pitchFamily="34" charset="-120"/>
              </a:rPr>
              <a:t>Pharmacies</a:t>
            </a:r>
            <a:endParaRPr lang="en-US" sz="1500" dirty="0"/>
          </a:p>
        </p:txBody>
      </p:sp>
      <p:sp>
        <p:nvSpPr>
          <p:cNvPr id="10" name="Text 8"/>
          <p:cNvSpPr/>
          <p:nvPr/>
        </p:nvSpPr>
        <p:spPr>
          <a:xfrm>
            <a:off x="2148840" y="3200400"/>
            <a:ext cx="1554480" cy="548640"/>
          </a:xfrm>
          <a:prstGeom prst="rect">
            <a:avLst/>
          </a:prstGeom>
          <a:noFill/>
          <a:ln/>
        </p:spPr>
        <p:txBody>
          <a:bodyPr wrap="square" rtlCol="0" anchor="ctr"/>
          <a:lstStyle/>
          <a:p>
            <a:pPr algn="ctr" indent="0" marL="0">
              <a:buNone/>
            </a:pPr>
            <a:r>
              <a:rPr lang="en-US" sz="1200" b="1" dirty="0">
                <a:solidFill>
                  <a:srgbClr val="06B6D4"/>
                </a:solidFill>
                <a:latin typeface="Arial" pitchFamily="34" charset="0"/>
                <a:ea typeface="Arial" pitchFamily="34" charset="-122"/>
                <a:cs typeface="Arial" pitchFamily="34" charset="-120"/>
              </a:rPr>
              <a:t>800 – 2,000 EGP/month</a:t>
            </a:r>
            <a:endParaRPr lang="en-US" sz="1200" dirty="0"/>
          </a:p>
        </p:txBody>
      </p:sp>
      <p:sp>
        <p:nvSpPr>
          <p:cNvPr id="11" name="Text 9"/>
          <p:cNvSpPr/>
          <p:nvPr/>
        </p:nvSpPr>
        <p:spPr>
          <a:xfrm>
            <a:off x="2148840" y="3840480"/>
            <a:ext cx="1554480" cy="457200"/>
          </a:xfrm>
          <a:prstGeom prst="rect">
            <a:avLst/>
          </a:prstGeom>
          <a:noFill/>
          <a:ln/>
        </p:spPr>
        <p:txBody>
          <a:bodyPr wrap="square" rtlCol="0" anchor="ctr"/>
          <a:lstStyle/>
          <a:p>
            <a:pPr algn="ctr" indent="0" marL="0">
              <a:buNone/>
            </a:pPr>
            <a:r>
              <a:rPr lang="en-US" sz="1100" dirty="0">
                <a:solidFill>
                  <a:srgbClr val="94A3B8"/>
                </a:solidFill>
                <a:latin typeface="Arial" pitchFamily="34" charset="0"/>
                <a:ea typeface="Arial" pitchFamily="34" charset="-122"/>
                <a:cs typeface="Arial" pitchFamily="34" charset="-120"/>
              </a:rPr>
              <a:t>3% commission</a:t>
            </a:r>
            <a:endParaRPr lang="en-US" sz="1100" dirty="0"/>
          </a:p>
        </p:txBody>
      </p:sp>
      <p:sp>
        <p:nvSpPr>
          <p:cNvPr id="12" name="Shape 10"/>
          <p:cNvSpPr/>
          <p:nvPr/>
        </p:nvSpPr>
        <p:spPr>
          <a:xfrm>
            <a:off x="3840480" y="2103120"/>
            <a:ext cx="1554480" cy="3200400"/>
          </a:xfrm>
          <a:prstGeom prst="roundRect">
            <a:avLst>
              <a:gd name="adj" fmla="val 8824"/>
            </a:avLst>
          </a:prstGeom>
          <a:solidFill>
            <a:srgbClr val="111D32"/>
          </a:solidFill>
          <a:ln w="12700">
            <a:solidFill>
              <a:srgbClr val="1E3048"/>
            </a:solidFill>
            <a:prstDash val="solid"/>
          </a:ln>
        </p:spPr>
      </p:sp>
      <p:sp>
        <p:nvSpPr>
          <p:cNvPr id="13" name="Text 11"/>
          <p:cNvSpPr/>
          <p:nvPr/>
        </p:nvSpPr>
        <p:spPr>
          <a:xfrm>
            <a:off x="3840480" y="2560320"/>
            <a:ext cx="1554480" cy="457200"/>
          </a:xfrm>
          <a:prstGeom prst="rect">
            <a:avLst/>
          </a:prstGeom>
          <a:noFill/>
          <a:ln/>
        </p:spPr>
        <p:txBody>
          <a:bodyPr wrap="square" rtlCol="0" anchor="ctr"/>
          <a:lstStyle/>
          <a:p>
            <a:pPr algn="ctr" indent="0" marL="0">
              <a:buNone/>
            </a:pPr>
            <a:r>
              <a:rPr lang="en-US" sz="1500" b="1" dirty="0">
                <a:solidFill>
                  <a:srgbClr val="E2E8F0"/>
                </a:solidFill>
                <a:latin typeface="Arial" pitchFamily="34" charset="0"/>
                <a:ea typeface="Arial" pitchFamily="34" charset="-122"/>
                <a:cs typeface="Arial" pitchFamily="34" charset="-120"/>
              </a:rPr>
              <a:t>Laboratories</a:t>
            </a:r>
            <a:endParaRPr lang="en-US" sz="1500" dirty="0"/>
          </a:p>
        </p:txBody>
      </p:sp>
      <p:sp>
        <p:nvSpPr>
          <p:cNvPr id="14" name="Text 12"/>
          <p:cNvSpPr/>
          <p:nvPr/>
        </p:nvSpPr>
        <p:spPr>
          <a:xfrm>
            <a:off x="3840480" y="3200400"/>
            <a:ext cx="1554480" cy="548640"/>
          </a:xfrm>
          <a:prstGeom prst="rect">
            <a:avLst/>
          </a:prstGeom>
          <a:noFill/>
          <a:ln/>
        </p:spPr>
        <p:txBody>
          <a:bodyPr wrap="square" rtlCol="0" anchor="ctr"/>
          <a:lstStyle/>
          <a:p>
            <a:pPr algn="ctr" indent="0" marL="0">
              <a:buNone/>
            </a:pPr>
            <a:r>
              <a:rPr lang="en-US" sz="1200" b="1" dirty="0">
                <a:solidFill>
                  <a:srgbClr val="06B6D4"/>
                </a:solidFill>
                <a:latin typeface="Arial" pitchFamily="34" charset="0"/>
                <a:ea typeface="Arial" pitchFamily="34" charset="-122"/>
                <a:cs typeface="Arial" pitchFamily="34" charset="-120"/>
              </a:rPr>
              <a:t>Subscription</a:t>
            </a:r>
            <a:endParaRPr lang="en-US" sz="1200" dirty="0"/>
          </a:p>
        </p:txBody>
      </p:sp>
      <p:sp>
        <p:nvSpPr>
          <p:cNvPr id="15" name="Text 13"/>
          <p:cNvSpPr/>
          <p:nvPr/>
        </p:nvSpPr>
        <p:spPr>
          <a:xfrm>
            <a:off x="3840480" y="3840480"/>
            <a:ext cx="1554480" cy="457200"/>
          </a:xfrm>
          <a:prstGeom prst="rect">
            <a:avLst/>
          </a:prstGeom>
          <a:noFill/>
          <a:ln/>
        </p:spPr>
        <p:txBody>
          <a:bodyPr wrap="square" rtlCol="0" anchor="ctr"/>
          <a:lstStyle/>
          <a:p>
            <a:pPr algn="ctr" indent="0" marL="0">
              <a:buNone/>
            </a:pPr>
            <a:r>
              <a:rPr lang="en-US" sz="1100" dirty="0">
                <a:solidFill>
                  <a:srgbClr val="94A3B8"/>
                </a:solidFill>
                <a:latin typeface="Arial" pitchFamily="34" charset="0"/>
                <a:ea typeface="Arial" pitchFamily="34" charset="-122"/>
                <a:cs typeface="Arial" pitchFamily="34" charset="-120"/>
              </a:rPr>
              <a:t>7% booking commission</a:t>
            </a:r>
            <a:endParaRPr lang="en-US" sz="1100" dirty="0"/>
          </a:p>
        </p:txBody>
      </p:sp>
      <p:sp>
        <p:nvSpPr>
          <p:cNvPr id="16" name="Shape 14"/>
          <p:cNvSpPr/>
          <p:nvPr/>
        </p:nvSpPr>
        <p:spPr>
          <a:xfrm>
            <a:off x="5532120" y="2103120"/>
            <a:ext cx="1554480" cy="3200400"/>
          </a:xfrm>
          <a:prstGeom prst="roundRect">
            <a:avLst>
              <a:gd name="adj" fmla="val 8824"/>
            </a:avLst>
          </a:prstGeom>
          <a:solidFill>
            <a:srgbClr val="111D32"/>
          </a:solidFill>
          <a:ln w="12700">
            <a:solidFill>
              <a:srgbClr val="1E3048"/>
            </a:solidFill>
            <a:prstDash val="solid"/>
          </a:ln>
        </p:spPr>
      </p:sp>
      <p:sp>
        <p:nvSpPr>
          <p:cNvPr id="17" name="Text 15"/>
          <p:cNvSpPr/>
          <p:nvPr/>
        </p:nvSpPr>
        <p:spPr>
          <a:xfrm>
            <a:off x="5532120" y="2560320"/>
            <a:ext cx="1554480" cy="457200"/>
          </a:xfrm>
          <a:prstGeom prst="rect">
            <a:avLst/>
          </a:prstGeom>
          <a:noFill/>
          <a:ln/>
        </p:spPr>
        <p:txBody>
          <a:bodyPr wrap="square" rtlCol="0" anchor="ctr"/>
          <a:lstStyle/>
          <a:p>
            <a:pPr algn="ctr" indent="0" marL="0">
              <a:buNone/>
            </a:pPr>
            <a:r>
              <a:rPr lang="en-US" sz="1500" b="1" dirty="0">
                <a:solidFill>
                  <a:srgbClr val="E2E8F0"/>
                </a:solidFill>
                <a:latin typeface="Arial" pitchFamily="34" charset="0"/>
                <a:ea typeface="Arial" pitchFamily="34" charset="-122"/>
                <a:cs typeface="Arial" pitchFamily="34" charset="-120"/>
              </a:rPr>
              <a:t>Corporate</a:t>
            </a:r>
            <a:endParaRPr lang="en-US" sz="1500" dirty="0"/>
          </a:p>
        </p:txBody>
      </p:sp>
      <p:sp>
        <p:nvSpPr>
          <p:cNvPr id="18" name="Text 16"/>
          <p:cNvSpPr/>
          <p:nvPr/>
        </p:nvSpPr>
        <p:spPr>
          <a:xfrm>
            <a:off x="5532120" y="3200400"/>
            <a:ext cx="1554480" cy="548640"/>
          </a:xfrm>
          <a:prstGeom prst="rect">
            <a:avLst/>
          </a:prstGeom>
          <a:noFill/>
          <a:ln/>
        </p:spPr>
        <p:txBody>
          <a:bodyPr wrap="square" rtlCol="0" anchor="ctr"/>
          <a:lstStyle/>
          <a:p>
            <a:pPr algn="ctr" indent="0" marL="0">
              <a:buNone/>
            </a:pPr>
            <a:r>
              <a:rPr lang="en-US" sz="1200" b="1" dirty="0">
                <a:solidFill>
                  <a:srgbClr val="06B6D4"/>
                </a:solidFill>
                <a:latin typeface="Arial" pitchFamily="34" charset="0"/>
                <a:ea typeface="Arial" pitchFamily="34" charset="-122"/>
                <a:cs typeface="Arial" pitchFamily="34" charset="-120"/>
              </a:rPr>
              <a:t>50 EGP/employee/month</a:t>
            </a:r>
            <a:endParaRPr lang="en-US" sz="1200" dirty="0"/>
          </a:p>
        </p:txBody>
      </p:sp>
      <p:sp>
        <p:nvSpPr>
          <p:cNvPr id="19" name="Text 17"/>
          <p:cNvSpPr/>
          <p:nvPr/>
        </p:nvSpPr>
        <p:spPr>
          <a:xfrm>
            <a:off x="5532120" y="3840480"/>
            <a:ext cx="1554480" cy="457200"/>
          </a:xfrm>
          <a:prstGeom prst="rect">
            <a:avLst/>
          </a:prstGeom>
          <a:noFill/>
          <a:ln/>
        </p:spPr>
        <p:txBody>
          <a:bodyPr wrap="square" rtlCol="0" anchor="ctr"/>
          <a:lstStyle/>
          <a:p>
            <a:pPr algn="ctr" indent="0" marL="0">
              <a:buNone/>
            </a:pPr>
            <a:r>
              <a:rPr lang="en-US" sz="1100" dirty="0">
                <a:solidFill>
                  <a:srgbClr val="94A3B8"/>
                </a:solidFill>
                <a:latin typeface="Arial" pitchFamily="34" charset="0"/>
                <a:ea typeface="Arial" pitchFamily="34" charset="-122"/>
                <a:cs typeface="Arial" pitchFamily="34" charset="-120"/>
              </a:rPr>
              <a:t>Package deals</a:t>
            </a:r>
            <a:endParaRPr lang="en-US" sz="1100" dirty="0"/>
          </a:p>
        </p:txBody>
      </p:sp>
      <p:sp>
        <p:nvSpPr>
          <p:cNvPr id="20" name="Shape 18"/>
          <p:cNvSpPr/>
          <p:nvPr/>
        </p:nvSpPr>
        <p:spPr>
          <a:xfrm>
            <a:off x="7223760" y="2103120"/>
            <a:ext cx="1554480" cy="3200400"/>
          </a:xfrm>
          <a:prstGeom prst="roundRect">
            <a:avLst>
              <a:gd name="adj" fmla="val 8824"/>
            </a:avLst>
          </a:prstGeom>
          <a:solidFill>
            <a:srgbClr val="111D32"/>
          </a:solidFill>
          <a:ln w="12700">
            <a:solidFill>
              <a:srgbClr val="1E3048"/>
            </a:solidFill>
            <a:prstDash val="solid"/>
          </a:ln>
        </p:spPr>
      </p:sp>
      <p:sp>
        <p:nvSpPr>
          <p:cNvPr id="21" name="Text 19"/>
          <p:cNvSpPr/>
          <p:nvPr/>
        </p:nvSpPr>
        <p:spPr>
          <a:xfrm>
            <a:off x="7223760" y="2560320"/>
            <a:ext cx="1554480" cy="457200"/>
          </a:xfrm>
          <a:prstGeom prst="rect">
            <a:avLst/>
          </a:prstGeom>
          <a:noFill/>
          <a:ln/>
        </p:spPr>
        <p:txBody>
          <a:bodyPr wrap="square" rtlCol="0" anchor="ctr"/>
          <a:lstStyle/>
          <a:p>
            <a:pPr algn="ctr" indent="0" marL="0">
              <a:buNone/>
            </a:pPr>
            <a:r>
              <a:rPr lang="en-US" sz="1500" b="1" dirty="0">
                <a:solidFill>
                  <a:srgbClr val="E2E8F0"/>
                </a:solidFill>
                <a:latin typeface="Arial" pitchFamily="34" charset="0"/>
                <a:ea typeface="Arial" pitchFamily="34" charset="-122"/>
                <a:cs typeface="Arial" pitchFamily="34" charset="-120"/>
              </a:rPr>
              <a:t>Emergency</a:t>
            </a:r>
            <a:endParaRPr lang="en-US" sz="1500" dirty="0"/>
          </a:p>
        </p:txBody>
      </p:sp>
      <p:sp>
        <p:nvSpPr>
          <p:cNvPr id="22" name="Text 20"/>
          <p:cNvSpPr/>
          <p:nvPr/>
        </p:nvSpPr>
        <p:spPr>
          <a:xfrm>
            <a:off x="7223760" y="3200400"/>
            <a:ext cx="1554480" cy="548640"/>
          </a:xfrm>
          <a:prstGeom prst="rect">
            <a:avLst/>
          </a:prstGeom>
          <a:noFill/>
          <a:ln/>
        </p:spPr>
        <p:txBody>
          <a:bodyPr wrap="square" rtlCol="0" anchor="ctr"/>
          <a:lstStyle/>
          <a:p>
            <a:pPr algn="ctr" indent="0" marL="0">
              <a:buNone/>
            </a:pPr>
            <a:r>
              <a:rPr lang="en-US" sz="1200" b="1" dirty="0">
                <a:solidFill>
                  <a:srgbClr val="06B6D4"/>
                </a:solidFill>
                <a:latin typeface="Arial" pitchFamily="34" charset="0"/>
                <a:ea typeface="Arial" pitchFamily="34" charset="-122"/>
                <a:cs typeface="Arial" pitchFamily="34" charset="-120"/>
              </a:rPr>
              <a:t>Per-use</a:t>
            </a:r>
            <a:endParaRPr lang="en-US" sz="1200" dirty="0"/>
          </a:p>
        </p:txBody>
      </p:sp>
      <p:sp>
        <p:nvSpPr>
          <p:cNvPr id="23" name="Text 21"/>
          <p:cNvSpPr/>
          <p:nvPr/>
        </p:nvSpPr>
        <p:spPr>
          <a:xfrm>
            <a:off x="7223760" y="3840480"/>
            <a:ext cx="1554480" cy="457200"/>
          </a:xfrm>
          <a:prstGeom prst="rect">
            <a:avLst/>
          </a:prstGeom>
          <a:noFill/>
          <a:ln/>
        </p:spPr>
        <p:txBody>
          <a:bodyPr wrap="square" rtlCol="0" anchor="ctr"/>
          <a:lstStyle/>
          <a:p>
            <a:pPr algn="ctr" indent="0" marL="0">
              <a:buNone/>
            </a:pPr>
            <a:r>
              <a:rPr lang="en-US" sz="1100" dirty="0">
                <a:solidFill>
                  <a:srgbClr val="94A3B8"/>
                </a:solidFill>
                <a:latin typeface="Arial" pitchFamily="34" charset="0"/>
                <a:ea typeface="Arial" pitchFamily="34" charset="-122"/>
                <a:cs typeface="Arial" pitchFamily="34" charset="-120"/>
              </a:rPr>
              <a:t>Service commission</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1628"/>
        </a:solidFill>
      </p:bgPr>
    </p:bg>
    <p:spTree>
      <p:nvGrpSpPr>
        <p:cNvPr id="1" name=""/>
        <p:cNvGrpSpPr/>
        <p:nvPr/>
      </p:nvGrpSpPr>
      <p:grpSpPr>
        <a:xfrm>
          <a:off x="0" y="0"/>
          <a:ext cx="0" cy="0"/>
          <a:chOff x="0" y="0"/>
          <a:chExt cx="0" cy="0"/>
        </a:xfrm>
      </p:grpSpPr>
      <p:sp>
        <p:nvSpPr>
          <p:cNvPr id="2" name="Text 0"/>
          <p:cNvSpPr/>
          <p:nvPr/>
        </p:nvSpPr>
        <p:spPr>
          <a:xfrm>
            <a:off x="1554480" y="914400"/>
            <a:ext cx="914400" cy="365760"/>
          </a:xfrm>
          <a:prstGeom prst="rect">
            <a:avLst/>
          </a:prstGeom>
          <a:noFill/>
          <a:ln/>
        </p:spPr>
        <p:txBody>
          <a:bodyPr wrap="square" rtlCol="0" anchor="ctr"/>
          <a:lstStyle/>
          <a:p>
            <a:pPr indent="0" marL="0">
              <a:buNone/>
            </a:pPr>
            <a:r>
              <a:rPr lang="en-US" sz="1400" b="1" dirty="0">
                <a:solidFill>
                  <a:srgbClr val="14B8A6"/>
                </a:solidFill>
                <a:latin typeface="Arial" pitchFamily="34" charset="0"/>
                <a:ea typeface="Arial" pitchFamily="34" charset="-122"/>
                <a:cs typeface="Arial" pitchFamily="34" charset="-120"/>
              </a:rPr>
              <a:t>08</a:t>
            </a:r>
            <a:endParaRPr lang="en-US" sz="1400" dirty="0"/>
          </a:p>
        </p:txBody>
      </p:sp>
      <p:sp>
        <p:nvSpPr>
          <p:cNvPr id="3" name="Text 1"/>
          <p:cNvSpPr/>
          <p:nvPr/>
        </p:nvSpPr>
        <p:spPr>
          <a:xfrm>
            <a:off x="1554480" y="1234440"/>
            <a:ext cx="6400800" cy="548640"/>
          </a:xfrm>
          <a:prstGeom prst="rect">
            <a:avLst/>
          </a:prstGeom>
          <a:noFill/>
          <a:ln/>
        </p:spPr>
        <p:txBody>
          <a:bodyPr wrap="square" rtlCol="0" anchor="ctr"/>
          <a:lstStyle/>
          <a:p>
            <a:pPr indent="0" marL="0">
              <a:buNone/>
            </a:pPr>
            <a:r>
              <a:rPr lang="en-US" sz="3200" b="1" dirty="0">
                <a:solidFill>
                  <a:srgbClr val="E2E8F0"/>
                </a:solidFill>
                <a:latin typeface="Arial" pitchFamily="34" charset="0"/>
                <a:ea typeface="Arial" pitchFamily="34" charset="-122"/>
                <a:cs typeface="Arial" pitchFamily="34" charset="-120"/>
              </a:rPr>
              <a:t>Year 1 Financial Projection</a:t>
            </a:r>
            <a:endParaRPr lang="en-US" sz="3200" dirty="0"/>
          </a:p>
        </p:txBody>
      </p:sp>
      <p:sp>
        <p:nvSpPr>
          <p:cNvPr id="4" name="Text 2"/>
          <p:cNvSpPr/>
          <p:nvPr/>
        </p:nvSpPr>
        <p:spPr>
          <a:xfrm>
            <a:off x="1554480" y="2103120"/>
            <a:ext cx="1645920" cy="457200"/>
          </a:xfrm>
          <a:prstGeom prst="rect">
            <a:avLst/>
          </a:prstGeom>
          <a:noFill/>
          <a:ln/>
        </p:spPr>
        <p:txBody>
          <a:bodyPr wrap="square" rtlCol="0" anchor="ctr"/>
          <a:lstStyle/>
          <a:p>
            <a:pPr indent="0" marL="0">
              <a:buNone/>
            </a:pPr>
            <a:r>
              <a:rPr lang="en-US" sz="1300" b="1" dirty="0">
                <a:solidFill>
                  <a:srgbClr val="E2E8F0"/>
                </a:solidFill>
                <a:latin typeface="Arial" pitchFamily="34" charset="0"/>
                <a:ea typeface="Arial" pitchFamily="34" charset="-122"/>
                <a:cs typeface="Arial" pitchFamily="34" charset="-120"/>
              </a:rPr>
              <a:t>200 Doctors</a:t>
            </a:r>
            <a:endParaRPr lang="en-US" sz="1300" dirty="0"/>
          </a:p>
        </p:txBody>
      </p:sp>
      <p:sp>
        <p:nvSpPr>
          <p:cNvPr id="5" name="Text 3"/>
          <p:cNvSpPr/>
          <p:nvPr/>
        </p:nvSpPr>
        <p:spPr>
          <a:xfrm>
            <a:off x="3200400" y="2103120"/>
            <a:ext cx="1371600" cy="457200"/>
          </a:xfrm>
          <a:prstGeom prst="rect">
            <a:avLst/>
          </a:prstGeom>
          <a:noFill/>
          <a:ln/>
        </p:spPr>
        <p:txBody>
          <a:bodyPr wrap="square" rtlCol="0" anchor="ctr"/>
          <a:lstStyle/>
          <a:p>
            <a:pPr indent="0" marL="0">
              <a:buNone/>
            </a:pPr>
            <a:r>
              <a:rPr lang="en-US" sz="1200" dirty="0">
                <a:solidFill>
                  <a:srgbClr val="94A3B8"/>
                </a:solidFill>
                <a:latin typeface="Arial" pitchFamily="34" charset="0"/>
                <a:ea typeface="Arial" pitchFamily="34" charset="-122"/>
                <a:cs typeface="Arial" pitchFamily="34" charset="-120"/>
              </a:rPr>
              <a:t>avg 1,500 EGP</a:t>
            </a:r>
            <a:endParaRPr lang="en-US" sz="1200" dirty="0"/>
          </a:p>
        </p:txBody>
      </p:sp>
      <p:sp>
        <p:nvSpPr>
          <p:cNvPr id="6" name="Shape 4"/>
          <p:cNvSpPr/>
          <p:nvPr/>
        </p:nvSpPr>
        <p:spPr>
          <a:xfrm>
            <a:off x="4754880" y="2148840"/>
            <a:ext cx="3657600" cy="365760"/>
          </a:xfrm>
          <a:prstGeom prst="roundRect">
            <a:avLst>
              <a:gd name="adj" fmla="val 25000"/>
            </a:avLst>
          </a:prstGeom>
          <a:solidFill>
            <a:srgbClr val="1A2744"/>
          </a:solidFill>
          <a:ln/>
        </p:spPr>
      </p:sp>
      <p:sp>
        <p:nvSpPr>
          <p:cNvPr id="7" name="Shape 5"/>
          <p:cNvSpPr/>
          <p:nvPr/>
        </p:nvSpPr>
        <p:spPr>
          <a:xfrm>
            <a:off x="4754880" y="2148840"/>
            <a:ext cx="2048256" cy="365760"/>
          </a:xfrm>
          <a:prstGeom prst="roundRect">
            <a:avLst>
              <a:gd name="adj" fmla="val 25000"/>
            </a:avLst>
          </a:prstGeom>
          <a:solidFill>
            <a:srgbClr val="14B8A6"/>
          </a:solidFill>
          <a:ln/>
        </p:spPr>
      </p:sp>
      <p:sp>
        <p:nvSpPr>
          <p:cNvPr id="8" name="Text 6"/>
          <p:cNvSpPr/>
          <p:nvPr/>
        </p:nvSpPr>
        <p:spPr>
          <a:xfrm>
            <a:off x="4754880" y="2148840"/>
            <a:ext cx="3657600" cy="365760"/>
          </a:xfrm>
          <a:prstGeom prst="rect">
            <a:avLst/>
          </a:prstGeom>
          <a:noFill/>
          <a:ln/>
        </p:spPr>
        <p:txBody>
          <a:bodyPr wrap="square" lIns="0" tIns="0" rIns="127000" bIns="0" rtlCol="0" anchor="ctr"/>
          <a:lstStyle/>
          <a:p>
            <a:pPr algn="r" indent="0" marL="0">
              <a:buNone/>
            </a:pPr>
            <a:r>
              <a:rPr lang="en-US" sz="1200" b="1" dirty="0">
                <a:solidFill>
                  <a:srgbClr val="E2E8F0"/>
                </a:solidFill>
                <a:latin typeface="Arial" pitchFamily="34" charset="0"/>
                <a:ea typeface="Arial" pitchFamily="34" charset="-122"/>
                <a:cs typeface="Arial" pitchFamily="34" charset="-120"/>
              </a:rPr>
              <a:t>300,000 EGP/mo</a:t>
            </a:r>
            <a:endParaRPr lang="en-US" sz="1200" dirty="0"/>
          </a:p>
        </p:txBody>
      </p:sp>
      <p:sp>
        <p:nvSpPr>
          <p:cNvPr id="9" name="Text 7"/>
          <p:cNvSpPr/>
          <p:nvPr/>
        </p:nvSpPr>
        <p:spPr>
          <a:xfrm>
            <a:off x="1554480" y="2834640"/>
            <a:ext cx="1645920" cy="457200"/>
          </a:xfrm>
          <a:prstGeom prst="rect">
            <a:avLst/>
          </a:prstGeom>
          <a:noFill/>
          <a:ln/>
        </p:spPr>
        <p:txBody>
          <a:bodyPr wrap="square" rtlCol="0" anchor="ctr"/>
          <a:lstStyle/>
          <a:p>
            <a:pPr indent="0" marL="0">
              <a:buNone/>
            </a:pPr>
            <a:r>
              <a:rPr lang="en-US" sz="1300" b="1" dirty="0">
                <a:solidFill>
                  <a:srgbClr val="E2E8F0"/>
                </a:solidFill>
                <a:latin typeface="Arial" pitchFamily="34" charset="0"/>
                <a:ea typeface="Arial" pitchFamily="34" charset="-122"/>
                <a:cs typeface="Arial" pitchFamily="34" charset="-120"/>
              </a:rPr>
              <a:t>100 Pharmacies</a:t>
            </a:r>
            <a:endParaRPr lang="en-US" sz="1300" dirty="0"/>
          </a:p>
        </p:txBody>
      </p:sp>
      <p:sp>
        <p:nvSpPr>
          <p:cNvPr id="10" name="Text 8"/>
          <p:cNvSpPr/>
          <p:nvPr/>
        </p:nvSpPr>
        <p:spPr>
          <a:xfrm>
            <a:off x="3200400" y="2834640"/>
            <a:ext cx="1371600" cy="457200"/>
          </a:xfrm>
          <a:prstGeom prst="rect">
            <a:avLst/>
          </a:prstGeom>
          <a:noFill/>
          <a:ln/>
        </p:spPr>
        <p:txBody>
          <a:bodyPr wrap="square" rtlCol="0" anchor="ctr"/>
          <a:lstStyle/>
          <a:p>
            <a:pPr indent="0" marL="0">
              <a:buNone/>
            </a:pPr>
            <a:r>
              <a:rPr lang="en-US" sz="1200" dirty="0">
                <a:solidFill>
                  <a:srgbClr val="94A3B8"/>
                </a:solidFill>
                <a:latin typeface="Arial" pitchFamily="34" charset="0"/>
                <a:ea typeface="Arial" pitchFamily="34" charset="-122"/>
                <a:cs typeface="Arial" pitchFamily="34" charset="-120"/>
              </a:rPr>
              <a:t>avg 1,000 EGP</a:t>
            </a:r>
            <a:endParaRPr lang="en-US" sz="1200" dirty="0"/>
          </a:p>
        </p:txBody>
      </p:sp>
      <p:sp>
        <p:nvSpPr>
          <p:cNvPr id="11" name="Shape 9"/>
          <p:cNvSpPr/>
          <p:nvPr/>
        </p:nvSpPr>
        <p:spPr>
          <a:xfrm>
            <a:off x="4754880" y="2880360"/>
            <a:ext cx="3657600" cy="365760"/>
          </a:xfrm>
          <a:prstGeom prst="roundRect">
            <a:avLst>
              <a:gd name="adj" fmla="val 25000"/>
            </a:avLst>
          </a:prstGeom>
          <a:solidFill>
            <a:srgbClr val="1A2744"/>
          </a:solidFill>
          <a:ln/>
        </p:spPr>
      </p:sp>
      <p:sp>
        <p:nvSpPr>
          <p:cNvPr id="12" name="Shape 10"/>
          <p:cNvSpPr/>
          <p:nvPr/>
        </p:nvSpPr>
        <p:spPr>
          <a:xfrm>
            <a:off x="4754880" y="2880360"/>
            <a:ext cx="694944" cy="365760"/>
          </a:xfrm>
          <a:prstGeom prst="roundRect">
            <a:avLst>
              <a:gd name="adj" fmla="val 25000"/>
            </a:avLst>
          </a:prstGeom>
          <a:solidFill>
            <a:srgbClr val="14B8A6"/>
          </a:solidFill>
          <a:ln/>
        </p:spPr>
      </p:sp>
      <p:sp>
        <p:nvSpPr>
          <p:cNvPr id="13" name="Text 11"/>
          <p:cNvSpPr/>
          <p:nvPr/>
        </p:nvSpPr>
        <p:spPr>
          <a:xfrm>
            <a:off x="4754880" y="2880360"/>
            <a:ext cx="3657600" cy="365760"/>
          </a:xfrm>
          <a:prstGeom prst="rect">
            <a:avLst/>
          </a:prstGeom>
          <a:noFill/>
          <a:ln/>
        </p:spPr>
        <p:txBody>
          <a:bodyPr wrap="square" lIns="0" tIns="0" rIns="127000" bIns="0" rtlCol="0" anchor="ctr"/>
          <a:lstStyle/>
          <a:p>
            <a:pPr algn="r" indent="0" marL="0">
              <a:buNone/>
            </a:pPr>
            <a:r>
              <a:rPr lang="en-US" sz="1200" b="1" dirty="0">
                <a:solidFill>
                  <a:srgbClr val="E2E8F0"/>
                </a:solidFill>
                <a:latin typeface="Arial" pitchFamily="34" charset="0"/>
                <a:ea typeface="Arial" pitchFamily="34" charset="-122"/>
                <a:cs typeface="Arial" pitchFamily="34" charset="-120"/>
              </a:rPr>
              <a:t>100,000 EGP/mo</a:t>
            </a:r>
            <a:endParaRPr lang="en-US" sz="1200" dirty="0"/>
          </a:p>
        </p:txBody>
      </p:sp>
      <p:sp>
        <p:nvSpPr>
          <p:cNvPr id="14" name="Text 12"/>
          <p:cNvSpPr/>
          <p:nvPr/>
        </p:nvSpPr>
        <p:spPr>
          <a:xfrm>
            <a:off x="1554480" y="3566160"/>
            <a:ext cx="1645920" cy="457200"/>
          </a:xfrm>
          <a:prstGeom prst="rect">
            <a:avLst/>
          </a:prstGeom>
          <a:noFill/>
          <a:ln/>
        </p:spPr>
        <p:txBody>
          <a:bodyPr wrap="square" rtlCol="0" anchor="ctr"/>
          <a:lstStyle/>
          <a:p>
            <a:pPr indent="0" marL="0">
              <a:buNone/>
            </a:pPr>
            <a:r>
              <a:rPr lang="en-US" sz="1300" b="1" dirty="0">
                <a:solidFill>
                  <a:srgbClr val="E2E8F0"/>
                </a:solidFill>
                <a:latin typeface="Arial" pitchFamily="34" charset="0"/>
                <a:ea typeface="Arial" pitchFamily="34" charset="-122"/>
                <a:cs typeface="Arial" pitchFamily="34" charset="-120"/>
              </a:rPr>
              <a:t>40 Labs</a:t>
            </a:r>
            <a:endParaRPr lang="en-US" sz="1300" dirty="0"/>
          </a:p>
        </p:txBody>
      </p:sp>
      <p:sp>
        <p:nvSpPr>
          <p:cNvPr id="15" name="Text 13"/>
          <p:cNvSpPr/>
          <p:nvPr/>
        </p:nvSpPr>
        <p:spPr>
          <a:xfrm>
            <a:off x="3200400" y="3566160"/>
            <a:ext cx="1371600" cy="457200"/>
          </a:xfrm>
          <a:prstGeom prst="rect">
            <a:avLst/>
          </a:prstGeom>
          <a:noFill/>
          <a:ln/>
        </p:spPr>
        <p:txBody>
          <a:bodyPr wrap="square" rtlCol="0" anchor="ctr"/>
          <a:lstStyle/>
          <a:p>
            <a:pPr indent="0" marL="0">
              <a:buNone/>
            </a:pPr>
            <a:r>
              <a:rPr lang="en-US" sz="1200" dirty="0">
                <a:solidFill>
                  <a:srgbClr val="94A3B8"/>
                </a:solidFill>
                <a:latin typeface="Arial" pitchFamily="34" charset="0"/>
                <a:ea typeface="Arial" pitchFamily="34" charset="-122"/>
                <a:cs typeface="Arial" pitchFamily="34" charset="-120"/>
              </a:rPr>
              <a:t>avg 1,500 EGP</a:t>
            </a:r>
            <a:endParaRPr lang="en-US" sz="1200" dirty="0"/>
          </a:p>
        </p:txBody>
      </p:sp>
      <p:sp>
        <p:nvSpPr>
          <p:cNvPr id="16" name="Shape 14"/>
          <p:cNvSpPr/>
          <p:nvPr/>
        </p:nvSpPr>
        <p:spPr>
          <a:xfrm>
            <a:off x="4754880" y="3611880"/>
            <a:ext cx="3657600" cy="365760"/>
          </a:xfrm>
          <a:prstGeom prst="roundRect">
            <a:avLst>
              <a:gd name="adj" fmla="val 25000"/>
            </a:avLst>
          </a:prstGeom>
          <a:solidFill>
            <a:srgbClr val="1A2744"/>
          </a:solidFill>
          <a:ln/>
        </p:spPr>
      </p:sp>
      <p:sp>
        <p:nvSpPr>
          <p:cNvPr id="17" name="Shape 15"/>
          <p:cNvSpPr/>
          <p:nvPr/>
        </p:nvSpPr>
        <p:spPr>
          <a:xfrm>
            <a:off x="4754880" y="3611880"/>
            <a:ext cx="402336" cy="365760"/>
          </a:xfrm>
          <a:prstGeom prst="roundRect">
            <a:avLst>
              <a:gd name="adj" fmla="val 25000"/>
            </a:avLst>
          </a:prstGeom>
          <a:solidFill>
            <a:srgbClr val="14B8A6"/>
          </a:solidFill>
          <a:ln/>
        </p:spPr>
      </p:sp>
      <p:sp>
        <p:nvSpPr>
          <p:cNvPr id="18" name="Text 16"/>
          <p:cNvSpPr/>
          <p:nvPr/>
        </p:nvSpPr>
        <p:spPr>
          <a:xfrm>
            <a:off x="4754880" y="3611880"/>
            <a:ext cx="3657600" cy="365760"/>
          </a:xfrm>
          <a:prstGeom prst="rect">
            <a:avLst/>
          </a:prstGeom>
          <a:noFill/>
          <a:ln/>
        </p:spPr>
        <p:txBody>
          <a:bodyPr wrap="square" lIns="0" tIns="0" rIns="127000" bIns="0" rtlCol="0" anchor="ctr"/>
          <a:lstStyle/>
          <a:p>
            <a:pPr algn="r" indent="0" marL="0">
              <a:buNone/>
            </a:pPr>
            <a:r>
              <a:rPr lang="en-US" sz="1200" b="1" dirty="0">
                <a:solidFill>
                  <a:srgbClr val="E2E8F0"/>
                </a:solidFill>
                <a:latin typeface="Arial" pitchFamily="34" charset="0"/>
                <a:ea typeface="Arial" pitchFamily="34" charset="-122"/>
                <a:cs typeface="Arial" pitchFamily="34" charset="-120"/>
              </a:rPr>
              <a:t>60,000 EGP/mo</a:t>
            </a:r>
            <a:endParaRPr lang="en-US" sz="1200" dirty="0"/>
          </a:p>
        </p:txBody>
      </p:sp>
      <p:sp>
        <p:nvSpPr>
          <p:cNvPr id="19" name="Text 17"/>
          <p:cNvSpPr/>
          <p:nvPr/>
        </p:nvSpPr>
        <p:spPr>
          <a:xfrm>
            <a:off x="1554480" y="4297680"/>
            <a:ext cx="1645920" cy="457200"/>
          </a:xfrm>
          <a:prstGeom prst="rect">
            <a:avLst/>
          </a:prstGeom>
          <a:noFill/>
          <a:ln/>
        </p:spPr>
        <p:txBody>
          <a:bodyPr wrap="square" rtlCol="0" anchor="ctr"/>
          <a:lstStyle/>
          <a:p>
            <a:pPr indent="0" marL="0">
              <a:buNone/>
            </a:pPr>
            <a:r>
              <a:rPr lang="en-US" sz="1300" b="1" dirty="0">
                <a:solidFill>
                  <a:srgbClr val="E2E8F0"/>
                </a:solidFill>
                <a:latin typeface="Arial" pitchFamily="34" charset="0"/>
                <a:ea typeface="Arial" pitchFamily="34" charset="-122"/>
                <a:cs typeface="Arial" pitchFamily="34" charset="-120"/>
              </a:rPr>
              <a:t>3 Corporate</a:t>
            </a:r>
            <a:endParaRPr lang="en-US" sz="1300" dirty="0"/>
          </a:p>
        </p:txBody>
      </p:sp>
      <p:sp>
        <p:nvSpPr>
          <p:cNvPr id="20" name="Text 18"/>
          <p:cNvSpPr/>
          <p:nvPr/>
        </p:nvSpPr>
        <p:spPr>
          <a:xfrm>
            <a:off x="3200400" y="4297680"/>
            <a:ext cx="1371600" cy="457200"/>
          </a:xfrm>
          <a:prstGeom prst="rect">
            <a:avLst/>
          </a:prstGeom>
          <a:noFill/>
          <a:ln/>
        </p:spPr>
        <p:txBody>
          <a:bodyPr wrap="square" rtlCol="0" anchor="ctr"/>
          <a:lstStyle/>
          <a:p>
            <a:pPr indent="0" marL="0">
              <a:buNone/>
            </a:pPr>
            <a:r>
              <a:rPr lang="en-US" sz="1200" dirty="0">
                <a:solidFill>
                  <a:srgbClr val="94A3B8"/>
                </a:solidFill>
                <a:latin typeface="Arial" pitchFamily="34" charset="0"/>
                <a:ea typeface="Arial" pitchFamily="34" charset="-122"/>
                <a:cs typeface="Arial" pitchFamily="34" charset="-120"/>
              </a:rPr>
              <a:t>Package deals</a:t>
            </a:r>
            <a:endParaRPr lang="en-US" sz="1200" dirty="0"/>
          </a:p>
        </p:txBody>
      </p:sp>
      <p:sp>
        <p:nvSpPr>
          <p:cNvPr id="21" name="Shape 19"/>
          <p:cNvSpPr/>
          <p:nvPr/>
        </p:nvSpPr>
        <p:spPr>
          <a:xfrm>
            <a:off x="4754880" y="4343400"/>
            <a:ext cx="3657600" cy="365760"/>
          </a:xfrm>
          <a:prstGeom prst="roundRect">
            <a:avLst>
              <a:gd name="adj" fmla="val 25000"/>
            </a:avLst>
          </a:prstGeom>
          <a:solidFill>
            <a:srgbClr val="1A2744"/>
          </a:solidFill>
          <a:ln/>
        </p:spPr>
      </p:sp>
      <p:sp>
        <p:nvSpPr>
          <p:cNvPr id="22" name="Shape 20"/>
          <p:cNvSpPr/>
          <p:nvPr/>
        </p:nvSpPr>
        <p:spPr>
          <a:xfrm>
            <a:off x="4754880" y="4343400"/>
            <a:ext cx="512064" cy="365760"/>
          </a:xfrm>
          <a:prstGeom prst="roundRect">
            <a:avLst>
              <a:gd name="adj" fmla="val 25000"/>
            </a:avLst>
          </a:prstGeom>
          <a:solidFill>
            <a:srgbClr val="14B8A6"/>
          </a:solidFill>
          <a:ln/>
        </p:spPr>
      </p:sp>
      <p:sp>
        <p:nvSpPr>
          <p:cNvPr id="23" name="Text 21"/>
          <p:cNvSpPr/>
          <p:nvPr/>
        </p:nvSpPr>
        <p:spPr>
          <a:xfrm>
            <a:off x="4754880" y="4343400"/>
            <a:ext cx="3657600" cy="365760"/>
          </a:xfrm>
          <a:prstGeom prst="rect">
            <a:avLst/>
          </a:prstGeom>
          <a:noFill/>
          <a:ln/>
        </p:spPr>
        <p:txBody>
          <a:bodyPr wrap="square" lIns="0" tIns="0" rIns="127000" bIns="0" rtlCol="0" anchor="ctr"/>
          <a:lstStyle/>
          <a:p>
            <a:pPr algn="r" indent="0" marL="0">
              <a:buNone/>
            </a:pPr>
            <a:r>
              <a:rPr lang="en-US" sz="1200" b="1" dirty="0">
                <a:solidFill>
                  <a:srgbClr val="E2E8F0"/>
                </a:solidFill>
                <a:latin typeface="Arial" pitchFamily="34" charset="0"/>
                <a:ea typeface="Arial" pitchFamily="34" charset="-122"/>
                <a:cs typeface="Arial" pitchFamily="34" charset="-120"/>
              </a:rPr>
              <a:t>75,000 EGP/mo</a:t>
            </a:r>
            <a:endParaRPr lang="en-US" sz="1200" dirty="0"/>
          </a:p>
        </p:txBody>
      </p:sp>
      <p:sp>
        <p:nvSpPr>
          <p:cNvPr id="24" name="Shape 22"/>
          <p:cNvSpPr/>
          <p:nvPr/>
        </p:nvSpPr>
        <p:spPr>
          <a:xfrm>
            <a:off x="1554480" y="5029200"/>
            <a:ext cx="6858000" cy="731520"/>
          </a:xfrm>
          <a:prstGeom prst="roundRect">
            <a:avLst>
              <a:gd name="adj" fmla="val 18750"/>
            </a:avLst>
          </a:prstGeom>
          <a:solidFill>
            <a:srgbClr val="111D32"/>
          </a:solidFill>
          <a:ln w="12700">
            <a:solidFill>
              <a:srgbClr val="1E3048"/>
            </a:solidFill>
            <a:prstDash val="solid"/>
          </a:ln>
        </p:spPr>
      </p:sp>
      <p:sp>
        <p:nvSpPr>
          <p:cNvPr id="25" name="Text 23"/>
          <p:cNvSpPr/>
          <p:nvPr/>
        </p:nvSpPr>
        <p:spPr>
          <a:xfrm>
            <a:off x="1737360" y="5029200"/>
            <a:ext cx="3657600" cy="731520"/>
          </a:xfrm>
          <a:prstGeom prst="rect">
            <a:avLst/>
          </a:prstGeom>
          <a:noFill/>
          <a:ln/>
        </p:spPr>
        <p:txBody>
          <a:bodyPr wrap="square" rtlCol="0" anchor="ctr"/>
          <a:lstStyle/>
          <a:p>
            <a:pPr indent="0" marL="0">
              <a:buNone/>
            </a:pPr>
            <a:r>
              <a:rPr lang="en-US" sz="1600" b="1" dirty="0">
                <a:solidFill>
                  <a:srgbClr val="E2E8F0"/>
                </a:solidFill>
                <a:latin typeface="Arial" pitchFamily="34" charset="0"/>
                <a:ea typeface="Arial" pitchFamily="34" charset="-122"/>
                <a:cs typeface="Arial" pitchFamily="34" charset="-120"/>
              </a:rPr>
              <a:t>Estimated Monthly Revenue</a:t>
            </a:r>
            <a:endParaRPr lang="en-US" sz="1600" dirty="0"/>
          </a:p>
        </p:txBody>
      </p:sp>
      <p:sp>
        <p:nvSpPr>
          <p:cNvPr id="26" name="Text 24"/>
          <p:cNvSpPr/>
          <p:nvPr/>
        </p:nvSpPr>
        <p:spPr>
          <a:xfrm>
            <a:off x="5029200" y="5029200"/>
            <a:ext cx="3200400" cy="731520"/>
          </a:xfrm>
          <a:prstGeom prst="rect">
            <a:avLst/>
          </a:prstGeom>
          <a:noFill/>
          <a:ln/>
        </p:spPr>
        <p:txBody>
          <a:bodyPr wrap="square" rtlCol="0" anchor="ctr"/>
          <a:lstStyle/>
          <a:p>
            <a:pPr algn="r" indent="0" marL="0">
              <a:buNone/>
            </a:pPr>
            <a:r>
              <a:rPr lang="en-US" sz="2200" b="1" dirty="0">
                <a:solidFill>
                  <a:srgbClr val="14B8A6"/>
                </a:solidFill>
                <a:latin typeface="Arial" pitchFamily="34" charset="0"/>
                <a:ea typeface="Arial" pitchFamily="34" charset="-122"/>
                <a:cs typeface="Arial" pitchFamily="34" charset="-120"/>
              </a:rPr>
              <a:t>535,000+ EGP</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1628"/>
        </a:solidFill>
      </p:bgPr>
    </p:bg>
    <p:spTree>
      <p:nvGrpSpPr>
        <p:cNvPr id="1" name=""/>
        <p:cNvGrpSpPr/>
        <p:nvPr/>
      </p:nvGrpSpPr>
      <p:grpSpPr>
        <a:xfrm>
          <a:off x="0" y="0"/>
          <a:ext cx="0" cy="0"/>
          <a:chOff x="0" y="0"/>
          <a:chExt cx="0" cy="0"/>
        </a:xfrm>
      </p:grpSpPr>
      <p:sp>
        <p:nvSpPr>
          <p:cNvPr id="2" name="Text 0"/>
          <p:cNvSpPr/>
          <p:nvPr/>
        </p:nvSpPr>
        <p:spPr>
          <a:xfrm>
            <a:off x="1554480" y="914400"/>
            <a:ext cx="914400" cy="365760"/>
          </a:xfrm>
          <a:prstGeom prst="rect">
            <a:avLst/>
          </a:prstGeom>
          <a:noFill/>
          <a:ln/>
        </p:spPr>
        <p:txBody>
          <a:bodyPr wrap="square" rtlCol="0" anchor="ctr"/>
          <a:lstStyle/>
          <a:p>
            <a:pPr indent="0" marL="0">
              <a:buNone/>
            </a:pPr>
            <a:r>
              <a:rPr lang="en-US" sz="1400" b="1" dirty="0">
                <a:solidFill>
                  <a:srgbClr val="14B8A6"/>
                </a:solidFill>
                <a:latin typeface="Arial" pitchFamily="34" charset="0"/>
                <a:ea typeface="Arial" pitchFamily="34" charset="-122"/>
                <a:cs typeface="Arial" pitchFamily="34" charset="-120"/>
              </a:rPr>
              <a:t>09</a:t>
            </a:r>
            <a:endParaRPr lang="en-US" sz="1400" dirty="0"/>
          </a:p>
        </p:txBody>
      </p:sp>
      <p:sp>
        <p:nvSpPr>
          <p:cNvPr id="3" name="Text 1"/>
          <p:cNvSpPr/>
          <p:nvPr/>
        </p:nvSpPr>
        <p:spPr>
          <a:xfrm>
            <a:off x="1554480" y="1234440"/>
            <a:ext cx="6400800" cy="548640"/>
          </a:xfrm>
          <a:prstGeom prst="rect">
            <a:avLst/>
          </a:prstGeom>
          <a:noFill/>
          <a:ln/>
        </p:spPr>
        <p:txBody>
          <a:bodyPr wrap="square" rtlCol="0" anchor="ctr"/>
          <a:lstStyle/>
          <a:p>
            <a:pPr indent="0" marL="0">
              <a:buNone/>
            </a:pPr>
            <a:r>
              <a:rPr lang="en-US" sz="3200" b="1" dirty="0">
                <a:solidFill>
                  <a:srgbClr val="E2E8F0"/>
                </a:solidFill>
                <a:latin typeface="Arial" pitchFamily="34" charset="0"/>
                <a:ea typeface="Arial" pitchFamily="34" charset="-122"/>
                <a:cs typeface="Arial" pitchFamily="34" charset="-120"/>
              </a:rPr>
              <a:t>Competitive Advantage</a:t>
            </a:r>
            <a:endParaRPr lang="en-US" sz="3200" dirty="0"/>
          </a:p>
        </p:txBody>
      </p:sp>
      <p:sp>
        <p:nvSpPr>
          <p:cNvPr id="4" name="Text 2"/>
          <p:cNvSpPr/>
          <p:nvPr/>
        </p:nvSpPr>
        <p:spPr>
          <a:xfrm>
            <a:off x="1554480" y="1920240"/>
            <a:ext cx="6400800" cy="365760"/>
          </a:xfrm>
          <a:prstGeom prst="rect">
            <a:avLst/>
          </a:prstGeom>
          <a:noFill/>
          <a:ln/>
        </p:spPr>
        <p:txBody>
          <a:bodyPr wrap="square" rtlCol="0" anchor="ctr"/>
          <a:lstStyle/>
          <a:p>
            <a:pPr indent="0" marL="0">
              <a:buNone/>
            </a:pPr>
            <a:r>
              <a:rPr lang="en-US" sz="1400" dirty="0">
                <a:solidFill>
                  <a:srgbClr val="94A3B8"/>
                </a:solidFill>
                <a:latin typeface="Arial" pitchFamily="34" charset="0"/>
                <a:ea typeface="Arial" pitchFamily="34" charset="-122"/>
                <a:cs typeface="Arial" pitchFamily="34" charset="-120"/>
              </a:rPr>
              <a:t>SER is not just a booking platform — it's a Healthcare Routing Infrastructure</a:t>
            </a:r>
            <a:endParaRPr lang="en-US" sz="1400" dirty="0"/>
          </a:p>
        </p:txBody>
      </p:sp>
      <p:sp>
        <p:nvSpPr>
          <p:cNvPr id="5" name="Text 3"/>
          <p:cNvSpPr/>
          <p:nvPr/>
        </p:nvSpPr>
        <p:spPr>
          <a:xfrm>
            <a:off x="1554480" y="2468880"/>
            <a:ext cx="2743200" cy="411480"/>
          </a:xfrm>
          <a:prstGeom prst="rect">
            <a:avLst/>
          </a:prstGeom>
          <a:noFill/>
          <a:ln/>
        </p:spPr>
        <p:txBody>
          <a:bodyPr wrap="square" rtlCol="0" anchor="ctr"/>
          <a:lstStyle/>
          <a:p>
            <a:pPr indent="0" marL="0">
              <a:buNone/>
            </a:pPr>
            <a:r>
              <a:rPr lang="en-US" sz="1300" b="1" dirty="0">
                <a:solidFill>
                  <a:srgbClr val="94A3B8"/>
                </a:solidFill>
                <a:latin typeface="Arial" pitchFamily="34" charset="0"/>
                <a:ea typeface="Arial" pitchFamily="34" charset="-122"/>
                <a:cs typeface="Arial" pitchFamily="34" charset="-120"/>
              </a:rPr>
              <a:t>Feature</a:t>
            </a:r>
            <a:endParaRPr lang="en-US" sz="1300" dirty="0"/>
          </a:p>
        </p:txBody>
      </p:sp>
      <p:sp>
        <p:nvSpPr>
          <p:cNvPr id="6" name="Text 4"/>
          <p:cNvSpPr/>
          <p:nvPr/>
        </p:nvSpPr>
        <p:spPr>
          <a:xfrm>
            <a:off x="4572000" y="2468880"/>
            <a:ext cx="1371600" cy="411480"/>
          </a:xfrm>
          <a:prstGeom prst="rect">
            <a:avLst/>
          </a:prstGeom>
          <a:noFill/>
          <a:ln/>
        </p:spPr>
        <p:txBody>
          <a:bodyPr wrap="square" rtlCol="0" anchor="ctr"/>
          <a:lstStyle/>
          <a:p>
            <a:pPr algn="ctr" indent="0" marL="0">
              <a:buNone/>
            </a:pPr>
            <a:r>
              <a:rPr lang="en-US" sz="1300" b="1" dirty="0">
                <a:solidFill>
                  <a:srgbClr val="14B8A6"/>
                </a:solidFill>
                <a:latin typeface="Arial" pitchFamily="34" charset="0"/>
                <a:ea typeface="Arial" pitchFamily="34" charset="-122"/>
                <a:cs typeface="Arial" pitchFamily="34" charset="-120"/>
              </a:rPr>
              <a:t>SER</a:t>
            </a:r>
            <a:endParaRPr lang="en-US" sz="1300" dirty="0"/>
          </a:p>
        </p:txBody>
      </p:sp>
      <p:sp>
        <p:nvSpPr>
          <p:cNvPr id="7" name="Text 5"/>
          <p:cNvSpPr/>
          <p:nvPr/>
        </p:nvSpPr>
        <p:spPr>
          <a:xfrm>
            <a:off x="6217920" y="2468880"/>
            <a:ext cx="1645920" cy="411480"/>
          </a:xfrm>
          <a:prstGeom prst="rect">
            <a:avLst/>
          </a:prstGeom>
          <a:noFill/>
          <a:ln/>
        </p:spPr>
        <p:txBody>
          <a:bodyPr wrap="square" rtlCol="0" anchor="ctr"/>
          <a:lstStyle/>
          <a:p>
            <a:pPr algn="ctr" indent="0" marL="0">
              <a:buNone/>
            </a:pPr>
            <a:r>
              <a:rPr lang="en-US" sz="1300" b="1" dirty="0">
                <a:solidFill>
                  <a:srgbClr val="94A3B8"/>
                </a:solidFill>
                <a:latin typeface="Arial" pitchFamily="34" charset="0"/>
                <a:ea typeface="Arial" pitchFamily="34" charset="-122"/>
                <a:cs typeface="Arial" pitchFamily="34" charset="-120"/>
              </a:rPr>
              <a:t>Competitors</a:t>
            </a:r>
            <a:endParaRPr lang="en-US" sz="1300" dirty="0"/>
          </a:p>
        </p:txBody>
      </p:sp>
      <p:sp>
        <p:nvSpPr>
          <p:cNvPr id="8" name="Text 6"/>
          <p:cNvSpPr/>
          <p:nvPr/>
        </p:nvSpPr>
        <p:spPr>
          <a:xfrm>
            <a:off x="1554480" y="2926080"/>
            <a:ext cx="2743200" cy="411480"/>
          </a:xfrm>
          <a:prstGeom prst="rect">
            <a:avLst/>
          </a:prstGeom>
          <a:noFill/>
          <a:ln/>
        </p:spPr>
        <p:txBody>
          <a:bodyPr wrap="square" rtlCol="0" anchor="ctr"/>
          <a:lstStyle/>
          <a:p>
            <a:pPr indent="0" marL="0">
              <a:buNone/>
            </a:pPr>
            <a:r>
              <a:rPr lang="en-US" sz="1200" dirty="0">
                <a:solidFill>
                  <a:srgbClr val="E2E8F0"/>
                </a:solidFill>
                <a:latin typeface="Arial" pitchFamily="34" charset="0"/>
                <a:ea typeface="Arial" pitchFamily="34" charset="-122"/>
                <a:cs typeface="Arial" pitchFamily="34" charset="-120"/>
              </a:rPr>
              <a:t>AI-Based Symptom Routing</a:t>
            </a:r>
            <a:endParaRPr lang="en-US" sz="1200" dirty="0"/>
          </a:p>
        </p:txBody>
      </p:sp>
      <p:sp>
        <p:nvSpPr>
          <p:cNvPr id="9" name="Text 7"/>
          <p:cNvSpPr/>
          <p:nvPr/>
        </p:nvSpPr>
        <p:spPr>
          <a:xfrm>
            <a:off x="4572000" y="2926080"/>
            <a:ext cx="1371600" cy="411480"/>
          </a:xfrm>
          <a:prstGeom prst="rect">
            <a:avLst/>
          </a:prstGeom>
          <a:noFill/>
          <a:ln/>
        </p:spPr>
        <p:txBody>
          <a:bodyPr wrap="square" rtlCol="0" anchor="ctr"/>
          <a:lstStyle/>
          <a:p>
            <a:pPr algn="ctr" indent="0" marL="0">
              <a:buNone/>
            </a:pPr>
            <a:r>
              <a:rPr lang="en-US" sz="1600" dirty="0">
                <a:solidFill>
                  <a:srgbClr val="14B8A6"/>
                </a:solidFill>
                <a:latin typeface="Arial" pitchFamily="34" charset="0"/>
                <a:ea typeface="Arial" pitchFamily="34" charset="-122"/>
                <a:cs typeface="Arial" pitchFamily="34" charset="-120"/>
              </a:rPr>
              <a:t>✓</a:t>
            </a:r>
            <a:endParaRPr lang="en-US" sz="1600" dirty="0"/>
          </a:p>
        </p:txBody>
      </p:sp>
      <p:sp>
        <p:nvSpPr>
          <p:cNvPr id="10" name="Text 8"/>
          <p:cNvSpPr/>
          <p:nvPr/>
        </p:nvSpPr>
        <p:spPr>
          <a:xfrm>
            <a:off x="6217920" y="2926080"/>
            <a:ext cx="1645920" cy="411480"/>
          </a:xfrm>
          <a:prstGeom prst="rect">
            <a:avLst/>
          </a:prstGeom>
          <a:noFill/>
          <a:ln/>
        </p:spPr>
        <p:txBody>
          <a:bodyPr wrap="square" rtlCol="0" anchor="ctr"/>
          <a:lstStyle/>
          <a:p>
            <a:pPr algn="ctr" indent="0" marL="0">
              <a:buNone/>
            </a:pPr>
            <a:r>
              <a:rPr lang="en-US" sz="1600" dirty="0">
                <a:solidFill>
                  <a:srgbClr val="EF4444"/>
                </a:solidFill>
                <a:latin typeface="Arial" pitchFamily="34" charset="0"/>
                <a:ea typeface="Arial" pitchFamily="34" charset="-122"/>
                <a:cs typeface="Arial" pitchFamily="34" charset="-120"/>
              </a:rPr>
              <a:t>✗</a:t>
            </a:r>
            <a:endParaRPr lang="en-US" sz="1600" dirty="0"/>
          </a:p>
        </p:txBody>
      </p:sp>
      <p:sp>
        <p:nvSpPr>
          <p:cNvPr id="11" name="Text 9"/>
          <p:cNvSpPr/>
          <p:nvPr/>
        </p:nvSpPr>
        <p:spPr>
          <a:xfrm>
            <a:off x="1554480" y="3383280"/>
            <a:ext cx="2743200" cy="411480"/>
          </a:xfrm>
          <a:prstGeom prst="rect">
            <a:avLst/>
          </a:prstGeom>
          <a:noFill/>
          <a:ln/>
        </p:spPr>
        <p:txBody>
          <a:bodyPr wrap="square" rtlCol="0" anchor="ctr"/>
          <a:lstStyle/>
          <a:p>
            <a:pPr indent="0" marL="0">
              <a:buNone/>
            </a:pPr>
            <a:r>
              <a:rPr lang="en-US" sz="1200" dirty="0">
                <a:solidFill>
                  <a:srgbClr val="E2E8F0"/>
                </a:solidFill>
                <a:latin typeface="Arial" pitchFamily="34" charset="0"/>
                <a:ea typeface="Arial" pitchFamily="34" charset="-122"/>
                <a:cs typeface="Arial" pitchFamily="34" charset="-120"/>
              </a:rPr>
              <a:t>Pharmacy Availability Check</a:t>
            </a:r>
            <a:endParaRPr lang="en-US" sz="1200" dirty="0"/>
          </a:p>
        </p:txBody>
      </p:sp>
      <p:sp>
        <p:nvSpPr>
          <p:cNvPr id="12" name="Text 10"/>
          <p:cNvSpPr/>
          <p:nvPr/>
        </p:nvSpPr>
        <p:spPr>
          <a:xfrm>
            <a:off x="4572000" y="3383280"/>
            <a:ext cx="1371600" cy="411480"/>
          </a:xfrm>
          <a:prstGeom prst="rect">
            <a:avLst/>
          </a:prstGeom>
          <a:noFill/>
          <a:ln/>
        </p:spPr>
        <p:txBody>
          <a:bodyPr wrap="square" rtlCol="0" anchor="ctr"/>
          <a:lstStyle/>
          <a:p>
            <a:pPr algn="ctr" indent="0" marL="0">
              <a:buNone/>
            </a:pPr>
            <a:r>
              <a:rPr lang="en-US" sz="1600" dirty="0">
                <a:solidFill>
                  <a:srgbClr val="14B8A6"/>
                </a:solidFill>
                <a:latin typeface="Arial" pitchFamily="34" charset="0"/>
                <a:ea typeface="Arial" pitchFamily="34" charset="-122"/>
                <a:cs typeface="Arial" pitchFamily="34" charset="-120"/>
              </a:rPr>
              <a:t>✓</a:t>
            </a:r>
            <a:endParaRPr lang="en-US" sz="1600" dirty="0"/>
          </a:p>
        </p:txBody>
      </p:sp>
      <p:sp>
        <p:nvSpPr>
          <p:cNvPr id="13" name="Text 11"/>
          <p:cNvSpPr/>
          <p:nvPr/>
        </p:nvSpPr>
        <p:spPr>
          <a:xfrm>
            <a:off x="6217920" y="3383280"/>
            <a:ext cx="1645920" cy="411480"/>
          </a:xfrm>
          <a:prstGeom prst="rect">
            <a:avLst/>
          </a:prstGeom>
          <a:noFill/>
          <a:ln/>
        </p:spPr>
        <p:txBody>
          <a:bodyPr wrap="square" rtlCol="0" anchor="ctr"/>
          <a:lstStyle/>
          <a:p>
            <a:pPr algn="ctr" indent="0" marL="0">
              <a:buNone/>
            </a:pPr>
            <a:r>
              <a:rPr lang="en-US" sz="1600" dirty="0">
                <a:solidFill>
                  <a:srgbClr val="EF4444"/>
                </a:solidFill>
                <a:latin typeface="Arial" pitchFamily="34" charset="0"/>
                <a:ea typeface="Arial" pitchFamily="34" charset="-122"/>
                <a:cs typeface="Arial" pitchFamily="34" charset="-120"/>
              </a:rPr>
              <a:t>✗</a:t>
            </a:r>
            <a:endParaRPr lang="en-US" sz="1600" dirty="0"/>
          </a:p>
        </p:txBody>
      </p:sp>
      <p:sp>
        <p:nvSpPr>
          <p:cNvPr id="14" name="Text 12"/>
          <p:cNvSpPr/>
          <p:nvPr/>
        </p:nvSpPr>
        <p:spPr>
          <a:xfrm>
            <a:off x="1554480" y="3840480"/>
            <a:ext cx="2743200" cy="411480"/>
          </a:xfrm>
          <a:prstGeom prst="rect">
            <a:avLst/>
          </a:prstGeom>
          <a:noFill/>
          <a:ln/>
        </p:spPr>
        <p:txBody>
          <a:bodyPr wrap="square" rtlCol="0" anchor="ctr"/>
          <a:lstStyle/>
          <a:p>
            <a:pPr indent="0" marL="0">
              <a:buNone/>
            </a:pPr>
            <a:r>
              <a:rPr lang="en-US" sz="1200" dirty="0">
                <a:solidFill>
                  <a:srgbClr val="E2E8F0"/>
                </a:solidFill>
                <a:latin typeface="Arial" pitchFamily="34" charset="0"/>
                <a:ea typeface="Arial" pitchFamily="34" charset="-122"/>
                <a:cs typeface="Arial" pitchFamily="34" charset="-120"/>
              </a:rPr>
              <a:t>Blood Donor Network</a:t>
            </a:r>
            <a:endParaRPr lang="en-US" sz="1200" dirty="0"/>
          </a:p>
        </p:txBody>
      </p:sp>
      <p:sp>
        <p:nvSpPr>
          <p:cNvPr id="15" name="Text 13"/>
          <p:cNvSpPr/>
          <p:nvPr/>
        </p:nvSpPr>
        <p:spPr>
          <a:xfrm>
            <a:off x="4572000" y="3840480"/>
            <a:ext cx="1371600" cy="411480"/>
          </a:xfrm>
          <a:prstGeom prst="rect">
            <a:avLst/>
          </a:prstGeom>
          <a:noFill/>
          <a:ln/>
        </p:spPr>
        <p:txBody>
          <a:bodyPr wrap="square" rtlCol="0" anchor="ctr"/>
          <a:lstStyle/>
          <a:p>
            <a:pPr algn="ctr" indent="0" marL="0">
              <a:buNone/>
            </a:pPr>
            <a:r>
              <a:rPr lang="en-US" sz="1600" dirty="0">
                <a:solidFill>
                  <a:srgbClr val="14B8A6"/>
                </a:solidFill>
                <a:latin typeface="Arial" pitchFamily="34" charset="0"/>
                <a:ea typeface="Arial" pitchFamily="34" charset="-122"/>
                <a:cs typeface="Arial" pitchFamily="34" charset="-120"/>
              </a:rPr>
              <a:t>✓</a:t>
            </a:r>
            <a:endParaRPr lang="en-US" sz="1600" dirty="0"/>
          </a:p>
        </p:txBody>
      </p:sp>
      <p:sp>
        <p:nvSpPr>
          <p:cNvPr id="16" name="Text 14"/>
          <p:cNvSpPr/>
          <p:nvPr/>
        </p:nvSpPr>
        <p:spPr>
          <a:xfrm>
            <a:off x="6217920" y="3840480"/>
            <a:ext cx="1645920" cy="411480"/>
          </a:xfrm>
          <a:prstGeom prst="rect">
            <a:avLst/>
          </a:prstGeom>
          <a:noFill/>
          <a:ln/>
        </p:spPr>
        <p:txBody>
          <a:bodyPr wrap="square" rtlCol="0" anchor="ctr"/>
          <a:lstStyle/>
          <a:p>
            <a:pPr algn="ctr" indent="0" marL="0">
              <a:buNone/>
            </a:pPr>
            <a:r>
              <a:rPr lang="en-US" sz="1600" dirty="0">
                <a:solidFill>
                  <a:srgbClr val="EF4444"/>
                </a:solidFill>
                <a:latin typeface="Arial" pitchFamily="34" charset="0"/>
                <a:ea typeface="Arial" pitchFamily="34" charset="-122"/>
                <a:cs typeface="Arial" pitchFamily="34" charset="-120"/>
              </a:rPr>
              <a:t>✗</a:t>
            </a:r>
            <a:endParaRPr lang="en-US" sz="1600" dirty="0"/>
          </a:p>
        </p:txBody>
      </p:sp>
      <p:sp>
        <p:nvSpPr>
          <p:cNvPr id="17" name="Text 15"/>
          <p:cNvSpPr/>
          <p:nvPr/>
        </p:nvSpPr>
        <p:spPr>
          <a:xfrm>
            <a:off x="1554480" y="4297680"/>
            <a:ext cx="2743200" cy="411480"/>
          </a:xfrm>
          <a:prstGeom prst="rect">
            <a:avLst/>
          </a:prstGeom>
          <a:noFill/>
          <a:ln/>
        </p:spPr>
        <p:txBody>
          <a:bodyPr wrap="square" rtlCol="0" anchor="ctr"/>
          <a:lstStyle/>
          <a:p>
            <a:pPr indent="0" marL="0">
              <a:buNone/>
            </a:pPr>
            <a:r>
              <a:rPr lang="en-US" sz="1200" dirty="0">
                <a:solidFill>
                  <a:srgbClr val="E2E8F0"/>
                </a:solidFill>
                <a:latin typeface="Arial" pitchFamily="34" charset="0"/>
                <a:ea typeface="Arial" pitchFamily="34" charset="-122"/>
                <a:cs typeface="Arial" pitchFamily="34" charset="-120"/>
              </a:rPr>
              <a:t>Emergency Ambulance Integration</a:t>
            </a:r>
            <a:endParaRPr lang="en-US" sz="1200" dirty="0"/>
          </a:p>
        </p:txBody>
      </p:sp>
      <p:sp>
        <p:nvSpPr>
          <p:cNvPr id="18" name="Text 16"/>
          <p:cNvSpPr/>
          <p:nvPr/>
        </p:nvSpPr>
        <p:spPr>
          <a:xfrm>
            <a:off x="4572000" y="4297680"/>
            <a:ext cx="1371600" cy="411480"/>
          </a:xfrm>
          <a:prstGeom prst="rect">
            <a:avLst/>
          </a:prstGeom>
          <a:noFill/>
          <a:ln/>
        </p:spPr>
        <p:txBody>
          <a:bodyPr wrap="square" rtlCol="0" anchor="ctr"/>
          <a:lstStyle/>
          <a:p>
            <a:pPr algn="ctr" indent="0" marL="0">
              <a:buNone/>
            </a:pPr>
            <a:r>
              <a:rPr lang="en-US" sz="1600" dirty="0">
                <a:solidFill>
                  <a:srgbClr val="14B8A6"/>
                </a:solidFill>
                <a:latin typeface="Arial" pitchFamily="34" charset="0"/>
                <a:ea typeface="Arial" pitchFamily="34" charset="-122"/>
                <a:cs typeface="Arial" pitchFamily="34" charset="-120"/>
              </a:rPr>
              <a:t>✓</a:t>
            </a:r>
            <a:endParaRPr lang="en-US" sz="1600" dirty="0"/>
          </a:p>
        </p:txBody>
      </p:sp>
      <p:sp>
        <p:nvSpPr>
          <p:cNvPr id="19" name="Text 17"/>
          <p:cNvSpPr/>
          <p:nvPr/>
        </p:nvSpPr>
        <p:spPr>
          <a:xfrm>
            <a:off x="6217920" y="4297680"/>
            <a:ext cx="1645920" cy="411480"/>
          </a:xfrm>
          <a:prstGeom prst="rect">
            <a:avLst/>
          </a:prstGeom>
          <a:noFill/>
          <a:ln/>
        </p:spPr>
        <p:txBody>
          <a:bodyPr wrap="square" rtlCol="0" anchor="ctr"/>
          <a:lstStyle/>
          <a:p>
            <a:pPr algn="ctr" indent="0" marL="0">
              <a:buNone/>
            </a:pPr>
            <a:r>
              <a:rPr lang="en-US" sz="1600" dirty="0">
                <a:solidFill>
                  <a:srgbClr val="EF4444"/>
                </a:solidFill>
                <a:latin typeface="Arial" pitchFamily="34" charset="0"/>
                <a:ea typeface="Arial" pitchFamily="34" charset="-122"/>
                <a:cs typeface="Arial" pitchFamily="34" charset="-120"/>
              </a:rPr>
              <a:t>✗</a:t>
            </a:r>
            <a:endParaRPr lang="en-US" sz="1600" dirty="0"/>
          </a:p>
        </p:txBody>
      </p:sp>
      <p:sp>
        <p:nvSpPr>
          <p:cNvPr id="20" name="Text 18"/>
          <p:cNvSpPr/>
          <p:nvPr/>
        </p:nvSpPr>
        <p:spPr>
          <a:xfrm>
            <a:off x="1554480" y="4754880"/>
            <a:ext cx="2743200" cy="411480"/>
          </a:xfrm>
          <a:prstGeom prst="rect">
            <a:avLst/>
          </a:prstGeom>
          <a:noFill/>
          <a:ln/>
        </p:spPr>
        <p:txBody>
          <a:bodyPr wrap="square" rtlCol="0" anchor="ctr"/>
          <a:lstStyle/>
          <a:p>
            <a:pPr indent="0" marL="0">
              <a:buNone/>
            </a:pPr>
            <a:r>
              <a:rPr lang="en-US" sz="1200" dirty="0">
                <a:solidFill>
                  <a:srgbClr val="E2E8F0"/>
                </a:solidFill>
                <a:latin typeface="Arial" pitchFamily="34" charset="0"/>
                <a:ea typeface="Arial" pitchFamily="34" charset="-122"/>
                <a:cs typeface="Arial" pitchFamily="34" charset="-120"/>
              </a:rPr>
              <a:t>Doctor Booking</a:t>
            </a:r>
            <a:endParaRPr lang="en-US" sz="1200" dirty="0"/>
          </a:p>
        </p:txBody>
      </p:sp>
      <p:sp>
        <p:nvSpPr>
          <p:cNvPr id="21" name="Text 19"/>
          <p:cNvSpPr/>
          <p:nvPr/>
        </p:nvSpPr>
        <p:spPr>
          <a:xfrm>
            <a:off x="4572000" y="4754880"/>
            <a:ext cx="1371600" cy="411480"/>
          </a:xfrm>
          <a:prstGeom prst="rect">
            <a:avLst/>
          </a:prstGeom>
          <a:noFill/>
          <a:ln/>
        </p:spPr>
        <p:txBody>
          <a:bodyPr wrap="square" rtlCol="0" anchor="ctr"/>
          <a:lstStyle/>
          <a:p>
            <a:pPr algn="ctr" indent="0" marL="0">
              <a:buNone/>
            </a:pPr>
            <a:r>
              <a:rPr lang="en-US" sz="1600" dirty="0">
                <a:solidFill>
                  <a:srgbClr val="14B8A6"/>
                </a:solidFill>
                <a:latin typeface="Arial" pitchFamily="34" charset="0"/>
                <a:ea typeface="Arial" pitchFamily="34" charset="-122"/>
                <a:cs typeface="Arial" pitchFamily="34" charset="-120"/>
              </a:rPr>
              <a:t>✓</a:t>
            </a:r>
            <a:endParaRPr lang="en-US" sz="1600" dirty="0"/>
          </a:p>
        </p:txBody>
      </p:sp>
      <p:sp>
        <p:nvSpPr>
          <p:cNvPr id="22" name="Text 20"/>
          <p:cNvSpPr/>
          <p:nvPr/>
        </p:nvSpPr>
        <p:spPr>
          <a:xfrm>
            <a:off x="6217920" y="4754880"/>
            <a:ext cx="1645920" cy="411480"/>
          </a:xfrm>
          <a:prstGeom prst="rect">
            <a:avLst/>
          </a:prstGeom>
          <a:noFill/>
          <a:ln/>
        </p:spPr>
        <p:txBody>
          <a:bodyPr wrap="square" rtlCol="0" anchor="ctr"/>
          <a:lstStyle/>
          <a:p>
            <a:pPr algn="ctr" indent="0" marL="0">
              <a:buNone/>
            </a:pPr>
            <a:r>
              <a:rPr lang="en-US" sz="1600" dirty="0">
                <a:solidFill>
                  <a:srgbClr val="14B8A6"/>
                </a:solidFill>
                <a:latin typeface="Arial" pitchFamily="34" charset="0"/>
                <a:ea typeface="Arial" pitchFamily="34" charset="-122"/>
                <a:cs typeface="Arial" pitchFamily="34" charset="-120"/>
              </a:rPr>
              <a:t>✓</a:t>
            </a:r>
            <a:endParaRPr lang="en-US" sz="1600" dirty="0"/>
          </a:p>
        </p:txBody>
      </p:sp>
      <p:sp>
        <p:nvSpPr>
          <p:cNvPr id="23" name="Text 21"/>
          <p:cNvSpPr/>
          <p:nvPr/>
        </p:nvSpPr>
        <p:spPr>
          <a:xfrm>
            <a:off x="1554480" y="5212080"/>
            <a:ext cx="2743200" cy="411480"/>
          </a:xfrm>
          <a:prstGeom prst="rect">
            <a:avLst/>
          </a:prstGeom>
          <a:noFill/>
          <a:ln/>
        </p:spPr>
        <p:txBody>
          <a:bodyPr wrap="square" rtlCol="0" anchor="ctr"/>
          <a:lstStyle/>
          <a:p>
            <a:pPr indent="0" marL="0">
              <a:buNone/>
            </a:pPr>
            <a:r>
              <a:rPr lang="en-US" sz="1200" dirty="0">
                <a:solidFill>
                  <a:srgbClr val="E2E8F0"/>
                </a:solidFill>
                <a:latin typeface="Arial" pitchFamily="34" charset="0"/>
                <a:ea typeface="Arial" pitchFamily="34" charset="-122"/>
                <a:cs typeface="Arial" pitchFamily="34" charset="-120"/>
              </a:rPr>
              <a:t>Lab Booking</a:t>
            </a:r>
            <a:endParaRPr lang="en-US" sz="1200" dirty="0"/>
          </a:p>
        </p:txBody>
      </p:sp>
      <p:sp>
        <p:nvSpPr>
          <p:cNvPr id="24" name="Text 22"/>
          <p:cNvSpPr/>
          <p:nvPr/>
        </p:nvSpPr>
        <p:spPr>
          <a:xfrm>
            <a:off x="4572000" y="5212080"/>
            <a:ext cx="1371600" cy="411480"/>
          </a:xfrm>
          <a:prstGeom prst="rect">
            <a:avLst/>
          </a:prstGeom>
          <a:noFill/>
          <a:ln/>
        </p:spPr>
        <p:txBody>
          <a:bodyPr wrap="square" rtlCol="0" anchor="ctr"/>
          <a:lstStyle/>
          <a:p>
            <a:pPr algn="ctr" indent="0" marL="0">
              <a:buNone/>
            </a:pPr>
            <a:r>
              <a:rPr lang="en-US" sz="1600" dirty="0">
                <a:solidFill>
                  <a:srgbClr val="14B8A6"/>
                </a:solidFill>
                <a:latin typeface="Arial" pitchFamily="34" charset="0"/>
                <a:ea typeface="Arial" pitchFamily="34" charset="-122"/>
                <a:cs typeface="Arial" pitchFamily="34" charset="-120"/>
              </a:rPr>
              <a:t>✓</a:t>
            </a:r>
            <a:endParaRPr lang="en-US" sz="1600" dirty="0"/>
          </a:p>
        </p:txBody>
      </p:sp>
      <p:sp>
        <p:nvSpPr>
          <p:cNvPr id="25" name="Text 23"/>
          <p:cNvSpPr/>
          <p:nvPr/>
        </p:nvSpPr>
        <p:spPr>
          <a:xfrm>
            <a:off x="6217920" y="5212080"/>
            <a:ext cx="1645920" cy="411480"/>
          </a:xfrm>
          <a:prstGeom prst="rect">
            <a:avLst/>
          </a:prstGeom>
          <a:noFill/>
          <a:ln/>
        </p:spPr>
        <p:txBody>
          <a:bodyPr wrap="square" rtlCol="0" anchor="ctr"/>
          <a:lstStyle/>
          <a:p>
            <a:pPr algn="ctr" indent="0" marL="0">
              <a:buNone/>
            </a:pPr>
            <a:r>
              <a:rPr lang="en-US" sz="1600" dirty="0">
                <a:solidFill>
                  <a:srgbClr val="14B8A6"/>
                </a:solidFill>
                <a:latin typeface="Arial" pitchFamily="34" charset="0"/>
                <a:ea typeface="Arial" pitchFamily="34" charset="-122"/>
                <a:cs typeface="Arial" pitchFamily="34" charset="-120"/>
              </a:rPr>
              <a:t>✓</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1628"/>
        </a:solidFill>
      </p:bgPr>
    </p:bg>
    <p:spTree>
      <p:nvGrpSpPr>
        <p:cNvPr id="1" name=""/>
        <p:cNvGrpSpPr/>
        <p:nvPr/>
      </p:nvGrpSpPr>
      <p:grpSpPr>
        <a:xfrm>
          <a:off x="0" y="0"/>
          <a:ext cx="0" cy="0"/>
          <a:chOff x="0" y="0"/>
          <a:chExt cx="0" cy="0"/>
        </a:xfrm>
      </p:grpSpPr>
      <p:sp>
        <p:nvSpPr>
          <p:cNvPr id="2" name="Text 0"/>
          <p:cNvSpPr/>
          <p:nvPr/>
        </p:nvSpPr>
        <p:spPr>
          <a:xfrm>
            <a:off x="1554480" y="914400"/>
            <a:ext cx="914400" cy="365760"/>
          </a:xfrm>
          <a:prstGeom prst="rect">
            <a:avLst/>
          </a:prstGeom>
          <a:noFill/>
          <a:ln/>
        </p:spPr>
        <p:txBody>
          <a:bodyPr wrap="square" rtlCol="0" anchor="ctr"/>
          <a:lstStyle/>
          <a:p>
            <a:pPr indent="0" marL="0">
              <a:buNone/>
            </a:pPr>
            <a:r>
              <a:rPr lang="en-US" sz="1400" b="1" dirty="0">
                <a:solidFill>
                  <a:srgbClr val="14B8A6"/>
                </a:solidFill>
                <a:latin typeface="Arial" pitchFamily="34" charset="0"/>
                <a:ea typeface="Arial" pitchFamily="34" charset="-122"/>
                <a:cs typeface="Arial" pitchFamily="34" charset="-120"/>
              </a:rPr>
              <a:t>10</a:t>
            </a:r>
            <a:endParaRPr lang="en-US" sz="1400" dirty="0"/>
          </a:p>
        </p:txBody>
      </p:sp>
      <p:sp>
        <p:nvSpPr>
          <p:cNvPr id="3" name="Text 1"/>
          <p:cNvSpPr/>
          <p:nvPr/>
        </p:nvSpPr>
        <p:spPr>
          <a:xfrm>
            <a:off x="1554480" y="1234440"/>
            <a:ext cx="6400800" cy="548640"/>
          </a:xfrm>
          <a:prstGeom prst="rect">
            <a:avLst/>
          </a:prstGeom>
          <a:noFill/>
          <a:ln/>
        </p:spPr>
        <p:txBody>
          <a:bodyPr wrap="square" rtlCol="0" anchor="ctr"/>
          <a:lstStyle/>
          <a:p>
            <a:pPr indent="0" marL="0">
              <a:buNone/>
            </a:pPr>
            <a:r>
              <a:rPr lang="en-US" sz="3200" b="1" dirty="0">
                <a:solidFill>
                  <a:srgbClr val="E2E8F0"/>
                </a:solidFill>
                <a:latin typeface="Arial" pitchFamily="34" charset="0"/>
                <a:ea typeface="Arial" pitchFamily="34" charset="-122"/>
                <a:cs typeface="Arial" pitchFamily="34" charset="-120"/>
              </a:rPr>
              <a:t>Roadmap</a:t>
            </a:r>
            <a:endParaRPr lang="en-US" sz="3200" dirty="0"/>
          </a:p>
        </p:txBody>
      </p:sp>
      <p:sp>
        <p:nvSpPr>
          <p:cNvPr id="4" name="Shape 2"/>
          <p:cNvSpPr/>
          <p:nvPr/>
        </p:nvSpPr>
        <p:spPr>
          <a:xfrm>
            <a:off x="1371600" y="3200400"/>
            <a:ext cx="6400800" cy="0"/>
          </a:xfrm>
          <a:prstGeom prst="line">
            <a:avLst/>
          </a:prstGeom>
          <a:noFill/>
          <a:ln w="38100">
            <a:solidFill>
              <a:srgbClr val="1A2744"/>
            </a:solidFill>
            <a:prstDash val="solid"/>
          </a:ln>
        </p:spPr>
      </p:sp>
      <p:sp>
        <p:nvSpPr>
          <p:cNvPr id="5" name="Shape 3"/>
          <p:cNvSpPr/>
          <p:nvPr/>
        </p:nvSpPr>
        <p:spPr>
          <a:xfrm>
            <a:off x="1371600" y="3200400"/>
            <a:ext cx="1600200" cy="0"/>
          </a:xfrm>
          <a:prstGeom prst="line">
            <a:avLst/>
          </a:prstGeom>
          <a:noFill/>
          <a:ln w="38100">
            <a:solidFill>
              <a:srgbClr val="14B8A6"/>
            </a:solidFill>
            <a:prstDash val="solid"/>
          </a:ln>
        </p:spPr>
      </p:sp>
      <p:sp>
        <p:nvSpPr>
          <p:cNvPr id="6" name="Shape 4"/>
          <p:cNvSpPr/>
          <p:nvPr/>
        </p:nvSpPr>
        <p:spPr>
          <a:xfrm>
            <a:off x="1051560" y="2880360"/>
            <a:ext cx="640080" cy="640080"/>
          </a:xfrm>
          <a:prstGeom prst="ellipse">
            <a:avLst/>
          </a:prstGeom>
          <a:solidFill>
            <a:srgbClr val="14B8A6"/>
          </a:solidFill>
          <a:ln w="19050">
            <a:solidFill>
              <a:srgbClr val="14B8A6"/>
            </a:solidFill>
            <a:prstDash val="solid"/>
          </a:ln>
        </p:spPr>
      </p:sp>
      <p:sp>
        <p:nvSpPr>
          <p:cNvPr id="7" name="Text 5"/>
          <p:cNvSpPr/>
          <p:nvPr/>
        </p:nvSpPr>
        <p:spPr>
          <a:xfrm>
            <a:off x="640080" y="3749040"/>
            <a:ext cx="1463040" cy="457200"/>
          </a:xfrm>
          <a:prstGeom prst="rect">
            <a:avLst/>
          </a:prstGeom>
          <a:noFill/>
          <a:ln/>
        </p:spPr>
        <p:txBody>
          <a:bodyPr wrap="square" rtlCol="0" anchor="ctr"/>
          <a:lstStyle/>
          <a:p>
            <a:pPr algn="ctr" indent="0" marL="0">
              <a:buNone/>
            </a:pPr>
            <a:r>
              <a:rPr lang="en-US" sz="1400" b="1" dirty="0">
                <a:solidFill>
                  <a:srgbClr val="E2E8F0"/>
                </a:solidFill>
                <a:latin typeface="Arial" pitchFamily="34" charset="0"/>
                <a:ea typeface="Arial" pitchFamily="34" charset="-122"/>
                <a:cs typeface="Arial" pitchFamily="34" charset="-120"/>
              </a:rPr>
              <a:t>Prototype</a:t>
            </a:r>
            <a:endParaRPr lang="en-US" sz="1400" dirty="0"/>
          </a:p>
        </p:txBody>
      </p:sp>
      <p:sp>
        <p:nvSpPr>
          <p:cNvPr id="8" name="Text 6"/>
          <p:cNvSpPr/>
          <p:nvPr/>
        </p:nvSpPr>
        <p:spPr>
          <a:xfrm>
            <a:off x="640080" y="4114800"/>
            <a:ext cx="1463040" cy="365760"/>
          </a:xfrm>
          <a:prstGeom prst="rect">
            <a:avLst/>
          </a:prstGeom>
          <a:noFill/>
          <a:ln/>
        </p:spPr>
        <p:txBody>
          <a:bodyPr wrap="square" rtlCol="0" anchor="ctr"/>
          <a:lstStyle/>
          <a:p>
            <a:pPr algn="ctr" indent="0" marL="0">
              <a:buNone/>
            </a:pPr>
            <a:r>
              <a:rPr lang="en-US" sz="1200" dirty="0">
                <a:solidFill>
                  <a:srgbClr val="14B8A6"/>
                </a:solidFill>
                <a:latin typeface="Arial" pitchFamily="34" charset="0"/>
                <a:ea typeface="Arial" pitchFamily="34" charset="-122"/>
                <a:cs typeface="Arial" pitchFamily="34" charset="-120"/>
              </a:rPr>
              <a:t>Completed</a:t>
            </a:r>
            <a:endParaRPr lang="en-US" sz="1200" dirty="0"/>
          </a:p>
        </p:txBody>
      </p:sp>
      <p:sp>
        <p:nvSpPr>
          <p:cNvPr id="9" name="Shape 7"/>
          <p:cNvSpPr/>
          <p:nvPr/>
        </p:nvSpPr>
        <p:spPr>
          <a:xfrm>
            <a:off x="3182112" y="2880360"/>
            <a:ext cx="640080" cy="640080"/>
          </a:xfrm>
          <a:prstGeom prst="ellipse">
            <a:avLst/>
          </a:prstGeom>
          <a:solidFill>
            <a:srgbClr val="1A2744"/>
          </a:solidFill>
          <a:ln w="19050">
            <a:solidFill>
              <a:srgbClr val="1E3048"/>
            </a:solidFill>
            <a:prstDash val="solid"/>
          </a:ln>
        </p:spPr>
      </p:sp>
      <p:sp>
        <p:nvSpPr>
          <p:cNvPr id="10" name="Text 8"/>
          <p:cNvSpPr/>
          <p:nvPr/>
        </p:nvSpPr>
        <p:spPr>
          <a:xfrm>
            <a:off x="2770632" y="3749040"/>
            <a:ext cx="1463040" cy="457200"/>
          </a:xfrm>
          <a:prstGeom prst="rect">
            <a:avLst/>
          </a:prstGeom>
          <a:noFill/>
          <a:ln/>
        </p:spPr>
        <p:txBody>
          <a:bodyPr wrap="square" rtlCol="0" anchor="ctr"/>
          <a:lstStyle/>
          <a:p>
            <a:pPr algn="ctr" indent="0" marL="0">
              <a:buNone/>
            </a:pPr>
            <a:r>
              <a:rPr lang="en-US" sz="1400" b="1" dirty="0">
                <a:solidFill>
                  <a:srgbClr val="E2E8F0"/>
                </a:solidFill>
                <a:latin typeface="Arial" pitchFamily="34" charset="0"/>
                <a:ea typeface="Arial" pitchFamily="34" charset="-122"/>
                <a:cs typeface="Arial" pitchFamily="34" charset="-120"/>
              </a:rPr>
              <a:t>MVP Launch</a:t>
            </a:r>
            <a:endParaRPr lang="en-US" sz="1400" dirty="0"/>
          </a:p>
        </p:txBody>
      </p:sp>
      <p:sp>
        <p:nvSpPr>
          <p:cNvPr id="11" name="Text 9"/>
          <p:cNvSpPr/>
          <p:nvPr/>
        </p:nvSpPr>
        <p:spPr>
          <a:xfrm>
            <a:off x="2770632" y="4114800"/>
            <a:ext cx="1463040" cy="365760"/>
          </a:xfrm>
          <a:prstGeom prst="rect">
            <a:avLst/>
          </a:prstGeom>
          <a:noFill/>
          <a:ln/>
        </p:spPr>
        <p:txBody>
          <a:bodyPr wrap="square" rtlCol="0" anchor="ctr"/>
          <a:lstStyle/>
          <a:p>
            <a:pPr algn="ctr" indent="0" marL="0">
              <a:buNone/>
            </a:pPr>
            <a:r>
              <a:rPr lang="en-US" sz="1200" dirty="0">
                <a:solidFill>
                  <a:srgbClr val="94A3B8"/>
                </a:solidFill>
                <a:latin typeface="Arial" pitchFamily="34" charset="0"/>
                <a:ea typeface="Arial" pitchFamily="34" charset="-122"/>
                <a:cs typeface="Arial" pitchFamily="34" charset="-120"/>
              </a:rPr>
              <a:t>3 months</a:t>
            </a:r>
            <a:endParaRPr lang="en-US" sz="1200" dirty="0"/>
          </a:p>
        </p:txBody>
      </p:sp>
      <p:sp>
        <p:nvSpPr>
          <p:cNvPr id="12" name="Shape 10"/>
          <p:cNvSpPr/>
          <p:nvPr/>
        </p:nvSpPr>
        <p:spPr>
          <a:xfrm>
            <a:off x="5312664" y="2880360"/>
            <a:ext cx="640080" cy="640080"/>
          </a:xfrm>
          <a:prstGeom prst="ellipse">
            <a:avLst/>
          </a:prstGeom>
          <a:solidFill>
            <a:srgbClr val="1A2744"/>
          </a:solidFill>
          <a:ln w="19050">
            <a:solidFill>
              <a:srgbClr val="1E3048"/>
            </a:solidFill>
            <a:prstDash val="solid"/>
          </a:ln>
        </p:spPr>
      </p:sp>
      <p:sp>
        <p:nvSpPr>
          <p:cNvPr id="13" name="Text 11"/>
          <p:cNvSpPr/>
          <p:nvPr/>
        </p:nvSpPr>
        <p:spPr>
          <a:xfrm>
            <a:off x="4901184" y="3749040"/>
            <a:ext cx="1463040" cy="457200"/>
          </a:xfrm>
          <a:prstGeom prst="rect">
            <a:avLst/>
          </a:prstGeom>
          <a:noFill/>
          <a:ln/>
        </p:spPr>
        <p:txBody>
          <a:bodyPr wrap="square" rtlCol="0" anchor="ctr"/>
          <a:lstStyle/>
          <a:p>
            <a:pPr algn="ctr" indent="0" marL="0">
              <a:buNone/>
            </a:pPr>
            <a:r>
              <a:rPr lang="en-US" sz="1400" b="1" dirty="0">
                <a:solidFill>
                  <a:srgbClr val="E2E8F0"/>
                </a:solidFill>
                <a:latin typeface="Arial" pitchFamily="34" charset="0"/>
                <a:ea typeface="Arial" pitchFamily="34" charset="-122"/>
                <a:cs typeface="Arial" pitchFamily="34" charset="-120"/>
              </a:rPr>
              <a:t>Cairo Launch</a:t>
            </a:r>
            <a:endParaRPr lang="en-US" sz="1400" dirty="0"/>
          </a:p>
        </p:txBody>
      </p:sp>
      <p:sp>
        <p:nvSpPr>
          <p:cNvPr id="14" name="Text 12"/>
          <p:cNvSpPr/>
          <p:nvPr/>
        </p:nvSpPr>
        <p:spPr>
          <a:xfrm>
            <a:off x="4901184" y="4114800"/>
            <a:ext cx="1463040" cy="365760"/>
          </a:xfrm>
          <a:prstGeom prst="rect">
            <a:avLst/>
          </a:prstGeom>
          <a:noFill/>
          <a:ln/>
        </p:spPr>
        <p:txBody>
          <a:bodyPr wrap="square" rtlCol="0" anchor="ctr"/>
          <a:lstStyle/>
          <a:p>
            <a:pPr algn="ctr" indent="0" marL="0">
              <a:buNone/>
            </a:pPr>
            <a:r>
              <a:rPr lang="en-US" sz="1200" dirty="0">
                <a:solidFill>
                  <a:srgbClr val="94A3B8"/>
                </a:solidFill>
                <a:latin typeface="Arial" pitchFamily="34" charset="0"/>
                <a:ea typeface="Arial" pitchFamily="34" charset="-122"/>
                <a:cs typeface="Arial" pitchFamily="34" charset="-120"/>
              </a:rPr>
              <a:t>6 months</a:t>
            </a:r>
            <a:endParaRPr lang="en-US" sz="1200" dirty="0"/>
          </a:p>
        </p:txBody>
      </p:sp>
      <p:sp>
        <p:nvSpPr>
          <p:cNvPr id="15" name="Shape 13"/>
          <p:cNvSpPr/>
          <p:nvPr/>
        </p:nvSpPr>
        <p:spPr>
          <a:xfrm>
            <a:off x="7443216" y="2880360"/>
            <a:ext cx="640080" cy="640080"/>
          </a:xfrm>
          <a:prstGeom prst="ellipse">
            <a:avLst/>
          </a:prstGeom>
          <a:solidFill>
            <a:srgbClr val="1A2744"/>
          </a:solidFill>
          <a:ln w="19050">
            <a:solidFill>
              <a:srgbClr val="1E3048"/>
            </a:solidFill>
            <a:prstDash val="solid"/>
          </a:ln>
        </p:spPr>
      </p:sp>
      <p:sp>
        <p:nvSpPr>
          <p:cNvPr id="16" name="Text 14"/>
          <p:cNvSpPr/>
          <p:nvPr/>
        </p:nvSpPr>
        <p:spPr>
          <a:xfrm>
            <a:off x="7031736" y="3749040"/>
            <a:ext cx="1463040" cy="457200"/>
          </a:xfrm>
          <a:prstGeom prst="rect">
            <a:avLst/>
          </a:prstGeom>
          <a:noFill/>
          <a:ln/>
        </p:spPr>
        <p:txBody>
          <a:bodyPr wrap="square" rtlCol="0" anchor="ctr"/>
          <a:lstStyle/>
          <a:p>
            <a:pPr algn="ctr" indent="0" marL="0">
              <a:buNone/>
            </a:pPr>
            <a:r>
              <a:rPr lang="en-US" sz="1400" b="1" dirty="0">
                <a:solidFill>
                  <a:srgbClr val="E2E8F0"/>
                </a:solidFill>
                <a:latin typeface="Arial" pitchFamily="34" charset="0"/>
                <a:ea typeface="Arial" pitchFamily="34" charset="-122"/>
                <a:cs typeface="Arial" pitchFamily="34" charset="-120"/>
              </a:rPr>
              <a:t>Regional Expansion</a:t>
            </a:r>
            <a:endParaRPr lang="en-US" sz="1400" dirty="0"/>
          </a:p>
        </p:txBody>
      </p:sp>
      <p:sp>
        <p:nvSpPr>
          <p:cNvPr id="17" name="Text 15"/>
          <p:cNvSpPr/>
          <p:nvPr/>
        </p:nvSpPr>
        <p:spPr>
          <a:xfrm>
            <a:off x="7031736" y="4114800"/>
            <a:ext cx="1463040" cy="365760"/>
          </a:xfrm>
          <a:prstGeom prst="rect">
            <a:avLst/>
          </a:prstGeom>
          <a:noFill/>
          <a:ln/>
        </p:spPr>
        <p:txBody>
          <a:bodyPr wrap="square" rtlCol="0" anchor="ctr"/>
          <a:lstStyle/>
          <a:p>
            <a:pPr algn="ctr" indent="0" marL="0">
              <a:buNone/>
            </a:pPr>
            <a:r>
              <a:rPr lang="en-US" sz="1200" dirty="0">
                <a:solidFill>
                  <a:srgbClr val="94A3B8"/>
                </a:solidFill>
                <a:latin typeface="Arial" pitchFamily="34" charset="0"/>
                <a:ea typeface="Arial" pitchFamily="34" charset="-122"/>
                <a:cs typeface="Arial" pitchFamily="34" charset="-120"/>
              </a:rPr>
              <a:t>3 years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1628"/>
        </a:solidFill>
      </p:bgPr>
    </p:bg>
    <p:spTree>
      <p:nvGrpSpPr>
        <p:cNvPr id="1" name=""/>
        <p:cNvGrpSpPr/>
        <p:nvPr/>
      </p:nvGrpSpPr>
      <p:grpSpPr>
        <a:xfrm>
          <a:off x="0" y="0"/>
          <a:ext cx="0" cy="0"/>
          <a:chOff x="0" y="0"/>
          <a:chExt cx="0" cy="0"/>
        </a:xfrm>
      </p:grpSpPr>
      <p:sp>
        <p:nvSpPr>
          <p:cNvPr id="2" name="Text 0"/>
          <p:cNvSpPr/>
          <p:nvPr/>
        </p:nvSpPr>
        <p:spPr>
          <a:xfrm>
            <a:off x="1554480" y="914400"/>
            <a:ext cx="914400" cy="365760"/>
          </a:xfrm>
          <a:prstGeom prst="rect">
            <a:avLst/>
          </a:prstGeom>
          <a:noFill/>
          <a:ln/>
        </p:spPr>
        <p:txBody>
          <a:bodyPr wrap="square" rtlCol="0" anchor="ctr"/>
          <a:lstStyle/>
          <a:p>
            <a:pPr indent="0" marL="0">
              <a:buNone/>
            </a:pPr>
            <a:r>
              <a:rPr lang="en-US" sz="1400" b="1" dirty="0">
                <a:solidFill>
                  <a:srgbClr val="14B8A6"/>
                </a:solidFill>
                <a:latin typeface="Arial" pitchFamily="34" charset="0"/>
                <a:ea typeface="Arial" pitchFamily="34" charset="-122"/>
                <a:cs typeface="Arial" pitchFamily="34" charset="-120"/>
              </a:rPr>
              <a:t>11</a:t>
            </a:r>
            <a:endParaRPr lang="en-US" sz="1400" dirty="0"/>
          </a:p>
        </p:txBody>
      </p:sp>
      <p:sp>
        <p:nvSpPr>
          <p:cNvPr id="3" name="Text 1"/>
          <p:cNvSpPr/>
          <p:nvPr/>
        </p:nvSpPr>
        <p:spPr>
          <a:xfrm>
            <a:off x="1554480" y="1234440"/>
            <a:ext cx="6400800" cy="548640"/>
          </a:xfrm>
          <a:prstGeom prst="rect">
            <a:avLst/>
          </a:prstGeom>
          <a:noFill/>
          <a:ln/>
        </p:spPr>
        <p:txBody>
          <a:bodyPr wrap="square" rtlCol="0" anchor="ctr"/>
          <a:lstStyle/>
          <a:p>
            <a:pPr indent="0" marL="0">
              <a:buNone/>
            </a:pPr>
            <a:r>
              <a:rPr lang="en-US" sz="3200" b="1" dirty="0">
                <a:solidFill>
                  <a:srgbClr val="E2E8F0"/>
                </a:solidFill>
                <a:latin typeface="Arial" pitchFamily="34" charset="0"/>
                <a:ea typeface="Arial" pitchFamily="34" charset="-122"/>
                <a:cs typeface="Arial" pitchFamily="34" charset="-120"/>
              </a:rPr>
              <a:t>Risk &amp; Legal Framework</a:t>
            </a:r>
            <a:endParaRPr lang="en-US" sz="3200" dirty="0"/>
          </a:p>
        </p:txBody>
      </p:sp>
      <p:sp>
        <p:nvSpPr>
          <p:cNvPr id="4" name="Shape 2"/>
          <p:cNvSpPr/>
          <p:nvPr/>
        </p:nvSpPr>
        <p:spPr>
          <a:xfrm>
            <a:off x="1554480" y="2103120"/>
            <a:ext cx="2926080" cy="1188720"/>
          </a:xfrm>
          <a:prstGeom prst="roundRect">
            <a:avLst>
              <a:gd name="adj" fmla="val 11538"/>
            </a:avLst>
          </a:prstGeom>
          <a:solidFill>
            <a:srgbClr val="111D32"/>
          </a:solidFill>
          <a:ln w="12700">
            <a:solidFill>
              <a:srgbClr val="1E3048"/>
            </a:solidFill>
            <a:prstDash val="solid"/>
          </a:ln>
        </p:spPr>
      </p:sp>
      <p:sp>
        <p:nvSpPr>
          <p:cNvPr id="5" name="Text 3"/>
          <p:cNvSpPr/>
          <p:nvPr/>
        </p:nvSpPr>
        <p:spPr>
          <a:xfrm>
            <a:off x="1828800" y="2286000"/>
            <a:ext cx="2377440" cy="365760"/>
          </a:xfrm>
          <a:prstGeom prst="rect">
            <a:avLst/>
          </a:prstGeom>
          <a:noFill/>
          <a:ln/>
        </p:spPr>
        <p:txBody>
          <a:bodyPr wrap="square" rtlCol="0" anchor="ctr"/>
          <a:lstStyle/>
          <a:p>
            <a:pPr indent="0" marL="0">
              <a:buNone/>
            </a:pPr>
            <a:r>
              <a:rPr lang="en-US" sz="1600" b="1" dirty="0">
                <a:solidFill>
                  <a:srgbClr val="E2E8F0"/>
                </a:solidFill>
                <a:latin typeface="Arial" pitchFamily="34" charset="0"/>
                <a:ea typeface="Arial" pitchFamily="34" charset="-122"/>
                <a:cs typeface="Arial" pitchFamily="34" charset="-120"/>
              </a:rPr>
              <a:t>Guidance Only</a:t>
            </a:r>
            <a:endParaRPr lang="en-US" sz="1600" dirty="0"/>
          </a:p>
        </p:txBody>
      </p:sp>
      <p:sp>
        <p:nvSpPr>
          <p:cNvPr id="6" name="Text 4"/>
          <p:cNvSpPr/>
          <p:nvPr/>
        </p:nvSpPr>
        <p:spPr>
          <a:xfrm>
            <a:off x="1828800" y="2697480"/>
            <a:ext cx="2377440" cy="365760"/>
          </a:xfrm>
          <a:prstGeom prst="rect">
            <a:avLst/>
          </a:prstGeom>
          <a:noFill/>
          <a:ln/>
        </p:spPr>
        <p:txBody>
          <a:bodyPr wrap="square" rtlCol="0" anchor="ctr"/>
          <a:lstStyle/>
          <a:p>
            <a:pPr indent="0" marL="0">
              <a:buNone/>
            </a:pPr>
            <a:r>
              <a:rPr lang="en-US" sz="1200" dirty="0">
                <a:solidFill>
                  <a:srgbClr val="94A3B8"/>
                </a:solidFill>
                <a:latin typeface="Arial" pitchFamily="34" charset="0"/>
                <a:ea typeface="Arial" pitchFamily="34" charset="-122"/>
                <a:cs typeface="Arial" pitchFamily="34" charset="-120"/>
              </a:rPr>
              <a:t>AI provides guidance, not medical diagnosis</a:t>
            </a:r>
            <a:endParaRPr lang="en-US" sz="1200" dirty="0"/>
          </a:p>
        </p:txBody>
      </p:sp>
      <p:sp>
        <p:nvSpPr>
          <p:cNvPr id="7" name="Shape 5"/>
          <p:cNvSpPr/>
          <p:nvPr/>
        </p:nvSpPr>
        <p:spPr>
          <a:xfrm>
            <a:off x="4754880" y="2103120"/>
            <a:ext cx="2926080" cy="1188720"/>
          </a:xfrm>
          <a:prstGeom prst="roundRect">
            <a:avLst>
              <a:gd name="adj" fmla="val 11538"/>
            </a:avLst>
          </a:prstGeom>
          <a:solidFill>
            <a:srgbClr val="111D32"/>
          </a:solidFill>
          <a:ln w="12700">
            <a:solidFill>
              <a:srgbClr val="1E3048"/>
            </a:solidFill>
            <a:prstDash val="solid"/>
          </a:ln>
        </p:spPr>
      </p:sp>
      <p:sp>
        <p:nvSpPr>
          <p:cNvPr id="8" name="Text 6"/>
          <p:cNvSpPr/>
          <p:nvPr/>
        </p:nvSpPr>
        <p:spPr>
          <a:xfrm>
            <a:off x="5029200" y="2286000"/>
            <a:ext cx="2377440" cy="365760"/>
          </a:xfrm>
          <a:prstGeom prst="rect">
            <a:avLst/>
          </a:prstGeom>
          <a:noFill/>
          <a:ln/>
        </p:spPr>
        <p:txBody>
          <a:bodyPr wrap="square" rtlCol="0" anchor="ctr"/>
          <a:lstStyle/>
          <a:p>
            <a:pPr indent="0" marL="0">
              <a:buNone/>
            </a:pPr>
            <a:r>
              <a:rPr lang="en-US" sz="1600" b="1" dirty="0">
                <a:solidFill>
                  <a:srgbClr val="E2E8F0"/>
                </a:solidFill>
                <a:latin typeface="Arial" pitchFamily="34" charset="0"/>
                <a:ea typeface="Arial" pitchFamily="34" charset="-122"/>
                <a:cs typeface="Arial" pitchFamily="34" charset="-120"/>
              </a:rPr>
              <a:t>Clear Disclaimers</a:t>
            </a:r>
            <a:endParaRPr lang="en-US" sz="1600" dirty="0"/>
          </a:p>
        </p:txBody>
      </p:sp>
      <p:sp>
        <p:nvSpPr>
          <p:cNvPr id="9" name="Text 7"/>
          <p:cNvSpPr/>
          <p:nvPr/>
        </p:nvSpPr>
        <p:spPr>
          <a:xfrm>
            <a:off x="5029200" y="2697480"/>
            <a:ext cx="2377440" cy="365760"/>
          </a:xfrm>
          <a:prstGeom prst="rect">
            <a:avLst/>
          </a:prstGeom>
          <a:noFill/>
          <a:ln/>
        </p:spPr>
        <p:txBody>
          <a:bodyPr wrap="square" rtlCol="0" anchor="ctr"/>
          <a:lstStyle/>
          <a:p>
            <a:pPr indent="0" marL="0">
              <a:buNone/>
            </a:pPr>
            <a:r>
              <a:rPr lang="en-US" sz="1200" dirty="0">
                <a:solidFill>
                  <a:srgbClr val="94A3B8"/>
                </a:solidFill>
                <a:latin typeface="Arial" pitchFamily="34" charset="0"/>
                <a:ea typeface="Arial" pitchFamily="34" charset="-122"/>
                <a:cs typeface="Arial" pitchFamily="34" charset="-120"/>
              </a:rPr>
              <a:t>Comprehensive disclaimers implemented throughout</a:t>
            </a:r>
            <a:endParaRPr lang="en-US" sz="1200" dirty="0"/>
          </a:p>
        </p:txBody>
      </p:sp>
      <p:sp>
        <p:nvSpPr>
          <p:cNvPr id="10" name="Shape 8"/>
          <p:cNvSpPr/>
          <p:nvPr/>
        </p:nvSpPr>
        <p:spPr>
          <a:xfrm>
            <a:off x="1554480" y="3566160"/>
            <a:ext cx="2926080" cy="1188720"/>
          </a:xfrm>
          <a:prstGeom prst="roundRect">
            <a:avLst>
              <a:gd name="adj" fmla="val 11538"/>
            </a:avLst>
          </a:prstGeom>
          <a:solidFill>
            <a:srgbClr val="111D32"/>
          </a:solidFill>
          <a:ln w="12700">
            <a:solidFill>
              <a:srgbClr val="1E3048"/>
            </a:solidFill>
            <a:prstDash val="solid"/>
          </a:ln>
        </p:spPr>
      </p:sp>
      <p:sp>
        <p:nvSpPr>
          <p:cNvPr id="11" name="Text 9"/>
          <p:cNvSpPr/>
          <p:nvPr/>
        </p:nvSpPr>
        <p:spPr>
          <a:xfrm>
            <a:off x="1828800" y="3749040"/>
            <a:ext cx="2377440" cy="365760"/>
          </a:xfrm>
          <a:prstGeom prst="rect">
            <a:avLst/>
          </a:prstGeom>
          <a:noFill/>
          <a:ln/>
        </p:spPr>
        <p:txBody>
          <a:bodyPr wrap="square" rtlCol="0" anchor="ctr"/>
          <a:lstStyle/>
          <a:p>
            <a:pPr indent="0" marL="0">
              <a:buNone/>
            </a:pPr>
            <a:r>
              <a:rPr lang="en-US" sz="1600" b="1" dirty="0">
                <a:solidFill>
                  <a:srgbClr val="E2E8F0"/>
                </a:solidFill>
                <a:latin typeface="Arial" pitchFamily="34" charset="0"/>
                <a:ea typeface="Arial" pitchFamily="34" charset="-122"/>
                <a:cs typeface="Arial" pitchFamily="34" charset="-120"/>
              </a:rPr>
              <a:t>Regulatory Compliance</a:t>
            </a:r>
            <a:endParaRPr lang="en-US" sz="1600" dirty="0"/>
          </a:p>
        </p:txBody>
      </p:sp>
      <p:sp>
        <p:nvSpPr>
          <p:cNvPr id="12" name="Text 10"/>
          <p:cNvSpPr/>
          <p:nvPr/>
        </p:nvSpPr>
        <p:spPr>
          <a:xfrm>
            <a:off x="1828800" y="4160520"/>
            <a:ext cx="2377440" cy="365760"/>
          </a:xfrm>
          <a:prstGeom prst="rect">
            <a:avLst/>
          </a:prstGeom>
          <a:noFill/>
          <a:ln/>
        </p:spPr>
        <p:txBody>
          <a:bodyPr wrap="square" rtlCol="0" anchor="ctr"/>
          <a:lstStyle/>
          <a:p>
            <a:pPr indent="0" marL="0">
              <a:buNone/>
            </a:pPr>
            <a:r>
              <a:rPr lang="en-US" sz="1200" dirty="0">
                <a:solidFill>
                  <a:srgbClr val="94A3B8"/>
                </a:solidFill>
                <a:latin typeface="Arial" pitchFamily="34" charset="0"/>
                <a:ea typeface="Arial" pitchFamily="34" charset="-122"/>
                <a:cs typeface="Arial" pitchFamily="34" charset="-120"/>
              </a:rPr>
              <a:t>Compliant with Egyptian healthcare regulations</a:t>
            </a:r>
            <a:endParaRPr lang="en-US" sz="1200" dirty="0"/>
          </a:p>
        </p:txBody>
      </p:sp>
      <p:sp>
        <p:nvSpPr>
          <p:cNvPr id="13" name="Shape 11"/>
          <p:cNvSpPr/>
          <p:nvPr/>
        </p:nvSpPr>
        <p:spPr>
          <a:xfrm>
            <a:off x="4754880" y="3566160"/>
            <a:ext cx="2926080" cy="1188720"/>
          </a:xfrm>
          <a:prstGeom prst="roundRect">
            <a:avLst>
              <a:gd name="adj" fmla="val 11538"/>
            </a:avLst>
          </a:prstGeom>
          <a:solidFill>
            <a:srgbClr val="111D32"/>
          </a:solidFill>
          <a:ln w="12700">
            <a:solidFill>
              <a:srgbClr val="1E3048"/>
            </a:solidFill>
            <a:prstDash val="solid"/>
          </a:ln>
        </p:spPr>
      </p:sp>
      <p:sp>
        <p:nvSpPr>
          <p:cNvPr id="14" name="Text 12"/>
          <p:cNvSpPr/>
          <p:nvPr/>
        </p:nvSpPr>
        <p:spPr>
          <a:xfrm>
            <a:off x="5029200" y="3749040"/>
            <a:ext cx="2377440" cy="365760"/>
          </a:xfrm>
          <a:prstGeom prst="rect">
            <a:avLst/>
          </a:prstGeom>
          <a:noFill/>
          <a:ln/>
        </p:spPr>
        <p:txBody>
          <a:bodyPr wrap="square" rtlCol="0" anchor="ctr"/>
          <a:lstStyle/>
          <a:p>
            <a:pPr indent="0" marL="0">
              <a:buNone/>
            </a:pPr>
            <a:r>
              <a:rPr lang="en-US" sz="1600" b="1" dirty="0">
                <a:solidFill>
                  <a:srgbClr val="E2E8F0"/>
                </a:solidFill>
                <a:latin typeface="Arial" pitchFamily="34" charset="0"/>
                <a:ea typeface="Arial" pitchFamily="34" charset="-122"/>
                <a:cs typeface="Arial" pitchFamily="34" charset="-120"/>
              </a:rPr>
              <a:t>Data Security</a:t>
            </a:r>
            <a:endParaRPr lang="en-US" sz="1600" dirty="0"/>
          </a:p>
        </p:txBody>
      </p:sp>
      <p:sp>
        <p:nvSpPr>
          <p:cNvPr id="15" name="Text 13"/>
          <p:cNvSpPr/>
          <p:nvPr/>
        </p:nvSpPr>
        <p:spPr>
          <a:xfrm>
            <a:off x="5029200" y="4160520"/>
            <a:ext cx="2377440" cy="365760"/>
          </a:xfrm>
          <a:prstGeom prst="rect">
            <a:avLst/>
          </a:prstGeom>
          <a:noFill/>
          <a:ln/>
        </p:spPr>
        <p:txBody>
          <a:bodyPr wrap="square" rtlCol="0" anchor="ctr"/>
          <a:lstStyle/>
          <a:p>
            <a:pPr indent="0" marL="0">
              <a:buNone/>
            </a:pPr>
            <a:r>
              <a:rPr lang="en-US" sz="1200" dirty="0">
                <a:solidFill>
                  <a:srgbClr val="94A3B8"/>
                </a:solidFill>
                <a:latin typeface="Arial" pitchFamily="34" charset="0"/>
                <a:ea typeface="Arial" pitchFamily="34" charset="-122"/>
                <a:cs typeface="Arial" pitchFamily="34" charset="-120"/>
              </a:rPr>
              <a:t>Privacy and security standards enforced</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1628"/>
        </a:solidFill>
      </p:bgPr>
    </p:bg>
    <p:spTree>
      <p:nvGrpSpPr>
        <p:cNvPr id="1" name=""/>
        <p:cNvGrpSpPr/>
        <p:nvPr/>
      </p:nvGrpSpPr>
      <p:grpSpPr>
        <a:xfrm>
          <a:off x="0" y="0"/>
          <a:ext cx="0" cy="0"/>
          <a:chOff x="0" y="0"/>
          <a:chExt cx="0" cy="0"/>
        </a:xfrm>
      </p:grpSpPr>
      <p:sp>
        <p:nvSpPr>
          <p:cNvPr id="2" name="Text 0"/>
          <p:cNvSpPr/>
          <p:nvPr/>
        </p:nvSpPr>
        <p:spPr>
          <a:xfrm>
            <a:off x="1554480" y="914400"/>
            <a:ext cx="914400" cy="365760"/>
          </a:xfrm>
          <a:prstGeom prst="rect">
            <a:avLst/>
          </a:prstGeom>
          <a:noFill/>
          <a:ln/>
        </p:spPr>
        <p:txBody>
          <a:bodyPr wrap="square" rtlCol="0" anchor="ctr"/>
          <a:lstStyle/>
          <a:p>
            <a:pPr indent="0" marL="0">
              <a:buNone/>
            </a:pPr>
            <a:r>
              <a:rPr lang="en-US" sz="1400" b="1" dirty="0">
                <a:solidFill>
                  <a:srgbClr val="14B8A6"/>
                </a:solidFill>
                <a:latin typeface="Arial" pitchFamily="34" charset="0"/>
                <a:ea typeface="Arial" pitchFamily="34" charset="-122"/>
                <a:cs typeface="Arial" pitchFamily="34" charset="-120"/>
              </a:rPr>
              <a:t>12</a:t>
            </a:r>
            <a:endParaRPr lang="en-US" sz="1400" dirty="0"/>
          </a:p>
        </p:txBody>
      </p:sp>
      <p:sp>
        <p:nvSpPr>
          <p:cNvPr id="3" name="Text 1"/>
          <p:cNvSpPr/>
          <p:nvPr/>
        </p:nvSpPr>
        <p:spPr>
          <a:xfrm>
            <a:off x="1554480" y="1234440"/>
            <a:ext cx="6400800" cy="548640"/>
          </a:xfrm>
          <a:prstGeom prst="rect">
            <a:avLst/>
          </a:prstGeom>
          <a:noFill/>
          <a:ln/>
        </p:spPr>
        <p:txBody>
          <a:bodyPr wrap="square" rtlCol="0" anchor="ctr"/>
          <a:lstStyle/>
          <a:p>
            <a:pPr indent="0" marL="0">
              <a:buNone/>
            </a:pPr>
            <a:r>
              <a:rPr lang="en-US" sz="3200" b="1" dirty="0">
                <a:solidFill>
                  <a:srgbClr val="E2E8F0"/>
                </a:solidFill>
                <a:latin typeface="Arial" pitchFamily="34" charset="0"/>
                <a:ea typeface="Arial" pitchFamily="34" charset="-122"/>
                <a:cs typeface="Arial" pitchFamily="34" charset="-120"/>
              </a:rPr>
              <a:t>Vision &amp; Success Metrics</a:t>
            </a:r>
            <a:endParaRPr lang="en-US" sz="3200" dirty="0"/>
          </a:p>
        </p:txBody>
      </p:sp>
      <p:sp>
        <p:nvSpPr>
          <p:cNvPr id="4" name="Shape 2"/>
          <p:cNvSpPr/>
          <p:nvPr/>
        </p:nvSpPr>
        <p:spPr>
          <a:xfrm>
            <a:off x="1554480" y="2011680"/>
            <a:ext cx="6400800" cy="731520"/>
          </a:xfrm>
          <a:prstGeom prst="roundRect">
            <a:avLst>
              <a:gd name="adj" fmla="val 18750"/>
            </a:avLst>
          </a:prstGeom>
          <a:solidFill>
            <a:srgbClr val="111D32"/>
          </a:solidFill>
          <a:ln w="12700">
            <a:solidFill>
              <a:srgbClr val="1E3048"/>
            </a:solidFill>
            <a:prstDash val="solid"/>
          </a:ln>
        </p:spPr>
      </p:sp>
      <p:sp>
        <p:nvSpPr>
          <p:cNvPr id="5" name="Text 3"/>
          <p:cNvSpPr/>
          <p:nvPr/>
        </p:nvSpPr>
        <p:spPr>
          <a:xfrm>
            <a:off x="1737360" y="2011680"/>
            <a:ext cx="6035040" cy="731520"/>
          </a:xfrm>
          <a:prstGeom prst="rect">
            <a:avLst/>
          </a:prstGeom>
          <a:noFill/>
          <a:ln/>
        </p:spPr>
        <p:txBody>
          <a:bodyPr wrap="square" rtlCol="0" anchor="ctr"/>
          <a:lstStyle/>
          <a:p>
            <a:pPr indent="0" marL="0">
              <a:buNone/>
            </a:pPr>
            <a:r>
              <a:rPr lang="en-US" sz="1500" dirty="0">
                <a:solidFill>
                  <a:srgbClr val="E2E8F0"/>
                </a:solidFill>
                <a:latin typeface="Arial" pitchFamily="34" charset="0"/>
                <a:ea typeface="Arial" pitchFamily="34" charset="-122"/>
                <a:cs typeface="Arial" pitchFamily="34" charset="-120"/>
              </a:rPr>
              <a:t>Vision: Become the leading digital healthcare gateway in the Middle East</a:t>
            </a:r>
            <a:endParaRPr lang="en-US" sz="1500" dirty="0"/>
          </a:p>
        </p:txBody>
      </p:sp>
      <p:sp>
        <p:nvSpPr>
          <p:cNvPr id="6" name="Shape 4"/>
          <p:cNvSpPr/>
          <p:nvPr/>
        </p:nvSpPr>
        <p:spPr>
          <a:xfrm>
            <a:off x="914400" y="3200400"/>
            <a:ext cx="1828800" cy="2011680"/>
          </a:xfrm>
          <a:prstGeom prst="roundRect">
            <a:avLst>
              <a:gd name="adj" fmla="val 7500"/>
            </a:avLst>
          </a:prstGeom>
          <a:solidFill>
            <a:srgbClr val="111D32"/>
          </a:solidFill>
          <a:ln w="12700">
            <a:solidFill>
              <a:srgbClr val="1E3048"/>
            </a:solidFill>
            <a:prstDash val="solid"/>
          </a:ln>
        </p:spPr>
      </p:sp>
      <p:sp>
        <p:nvSpPr>
          <p:cNvPr id="7" name="Text 5"/>
          <p:cNvSpPr/>
          <p:nvPr/>
        </p:nvSpPr>
        <p:spPr>
          <a:xfrm>
            <a:off x="914400" y="3566160"/>
            <a:ext cx="1828800" cy="548640"/>
          </a:xfrm>
          <a:prstGeom prst="rect">
            <a:avLst/>
          </a:prstGeom>
          <a:noFill/>
          <a:ln/>
        </p:spPr>
        <p:txBody>
          <a:bodyPr wrap="square" rtlCol="0" anchor="ctr"/>
          <a:lstStyle/>
          <a:p>
            <a:pPr algn="ctr" indent="0" marL="0">
              <a:buNone/>
            </a:pPr>
            <a:r>
              <a:rPr lang="en-US" sz="2400" b="1" dirty="0">
                <a:solidFill>
                  <a:srgbClr val="14B8A6"/>
                </a:solidFill>
                <a:latin typeface="Arial" pitchFamily="34" charset="0"/>
                <a:ea typeface="Arial" pitchFamily="34" charset="-122"/>
                <a:cs typeface="Arial" pitchFamily="34" charset="-120"/>
              </a:rPr>
              <a:t>10,000</a:t>
            </a:r>
            <a:endParaRPr lang="en-US" sz="2400" dirty="0"/>
          </a:p>
        </p:txBody>
      </p:sp>
      <p:sp>
        <p:nvSpPr>
          <p:cNvPr id="8" name="Text 6"/>
          <p:cNvSpPr/>
          <p:nvPr/>
        </p:nvSpPr>
        <p:spPr>
          <a:xfrm>
            <a:off x="914400" y="4206240"/>
            <a:ext cx="1828800" cy="457200"/>
          </a:xfrm>
          <a:prstGeom prst="rect">
            <a:avLst/>
          </a:prstGeom>
          <a:noFill/>
          <a:ln/>
        </p:spPr>
        <p:txBody>
          <a:bodyPr wrap="square" rtlCol="0" anchor="ctr"/>
          <a:lstStyle/>
          <a:p>
            <a:pPr algn="ctr" indent="0" marL="0">
              <a:buNone/>
            </a:pPr>
            <a:r>
              <a:rPr lang="en-US" sz="1200" dirty="0">
                <a:solidFill>
                  <a:srgbClr val="94A3B8"/>
                </a:solidFill>
                <a:latin typeface="Arial" pitchFamily="34" charset="0"/>
                <a:ea typeface="Arial" pitchFamily="34" charset="-122"/>
                <a:cs typeface="Arial" pitchFamily="34" charset="-120"/>
              </a:rPr>
              <a:t>Users in 6 months</a:t>
            </a:r>
            <a:endParaRPr lang="en-US" sz="1200" dirty="0"/>
          </a:p>
        </p:txBody>
      </p:sp>
      <p:sp>
        <p:nvSpPr>
          <p:cNvPr id="9" name="Shape 7"/>
          <p:cNvSpPr/>
          <p:nvPr/>
        </p:nvSpPr>
        <p:spPr>
          <a:xfrm>
            <a:off x="2926080" y="3200400"/>
            <a:ext cx="1828800" cy="2011680"/>
          </a:xfrm>
          <a:prstGeom prst="roundRect">
            <a:avLst>
              <a:gd name="adj" fmla="val 7500"/>
            </a:avLst>
          </a:prstGeom>
          <a:solidFill>
            <a:srgbClr val="111D32"/>
          </a:solidFill>
          <a:ln w="12700">
            <a:solidFill>
              <a:srgbClr val="1E3048"/>
            </a:solidFill>
            <a:prstDash val="solid"/>
          </a:ln>
        </p:spPr>
      </p:sp>
      <p:sp>
        <p:nvSpPr>
          <p:cNvPr id="10" name="Text 8"/>
          <p:cNvSpPr/>
          <p:nvPr/>
        </p:nvSpPr>
        <p:spPr>
          <a:xfrm>
            <a:off x="2926080" y="3566160"/>
            <a:ext cx="1828800" cy="548640"/>
          </a:xfrm>
          <a:prstGeom prst="rect">
            <a:avLst/>
          </a:prstGeom>
          <a:noFill/>
          <a:ln/>
        </p:spPr>
        <p:txBody>
          <a:bodyPr wrap="square" rtlCol="0" anchor="ctr"/>
          <a:lstStyle/>
          <a:p>
            <a:pPr algn="ctr" indent="0" marL="0">
              <a:buNone/>
            </a:pPr>
            <a:r>
              <a:rPr lang="en-US" sz="2400" b="1" dirty="0">
                <a:solidFill>
                  <a:srgbClr val="14B8A6"/>
                </a:solidFill>
                <a:latin typeface="Arial" pitchFamily="34" charset="0"/>
                <a:ea typeface="Arial" pitchFamily="34" charset="-122"/>
                <a:cs typeface="Arial" pitchFamily="34" charset="-120"/>
              </a:rPr>
              <a:t>200+</a:t>
            </a:r>
            <a:endParaRPr lang="en-US" sz="2400" dirty="0"/>
          </a:p>
        </p:txBody>
      </p:sp>
      <p:sp>
        <p:nvSpPr>
          <p:cNvPr id="11" name="Text 9"/>
          <p:cNvSpPr/>
          <p:nvPr/>
        </p:nvSpPr>
        <p:spPr>
          <a:xfrm>
            <a:off x="2926080" y="4206240"/>
            <a:ext cx="1828800" cy="457200"/>
          </a:xfrm>
          <a:prstGeom prst="rect">
            <a:avLst/>
          </a:prstGeom>
          <a:noFill/>
          <a:ln/>
        </p:spPr>
        <p:txBody>
          <a:bodyPr wrap="square" rtlCol="0" anchor="ctr"/>
          <a:lstStyle/>
          <a:p>
            <a:pPr algn="ctr" indent="0" marL="0">
              <a:buNone/>
            </a:pPr>
            <a:r>
              <a:rPr lang="en-US" sz="1200" dirty="0">
                <a:solidFill>
                  <a:srgbClr val="94A3B8"/>
                </a:solidFill>
                <a:latin typeface="Arial" pitchFamily="34" charset="0"/>
                <a:ea typeface="Arial" pitchFamily="34" charset="-122"/>
                <a:cs typeface="Arial" pitchFamily="34" charset="-120"/>
              </a:rPr>
              <a:t>Providers onboarded</a:t>
            </a:r>
            <a:endParaRPr lang="en-US" sz="1200" dirty="0"/>
          </a:p>
        </p:txBody>
      </p:sp>
      <p:sp>
        <p:nvSpPr>
          <p:cNvPr id="12" name="Shape 10"/>
          <p:cNvSpPr/>
          <p:nvPr/>
        </p:nvSpPr>
        <p:spPr>
          <a:xfrm>
            <a:off x="4937760" y="3200400"/>
            <a:ext cx="1828800" cy="2011680"/>
          </a:xfrm>
          <a:prstGeom prst="roundRect">
            <a:avLst>
              <a:gd name="adj" fmla="val 7500"/>
            </a:avLst>
          </a:prstGeom>
          <a:solidFill>
            <a:srgbClr val="111D32"/>
          </a:solidFill>
          <a:ln w="12700">
            <a:solidFill>
              <a:srgbClr val="1E3048"/>
            </a:solidFill>
            <a:prstDash val="solid"/>
          </a:ln>
        </p:spPr>
      </p:sp>
      <p:sp>
        <p:nvSpPr>
          <p:cNvPr id="13" name="Text 11"/>
          <p:cNvSpPr/>
          <p:nvPr/>
        </p:nvSpPr>
        <p:spPr>
          <a:xfrm>
            <a:off x="4937760" y="3566160"/>
            <a:ext cx="1828800" cy="548640"/>
          </a:xfrm>
          <a:prstGeom prst="rect">
            <a:avLst/>
          </a:prstGeom>
          <a:noFill/>
          <a:ln/>
        </p:spPr>
        <p:txBody>
          <a:bodyPr wrap="square" rtlCol="0" anchor="ctr"/>
          <a:lstStyle/>
          <a:p>
            <a:pPr algn="ctr" indent="0" marL="0">
              <a:buNone/>
            </a:pPr>
            <a:r>
              <a:rPr lang="en-US" sz="2400" b="1" dirty="0">
                <a:solidFill>
                  <a:srgbClr val="14B8A6"/>
                </a:solidFill>
                <a:latin typeface="Arial" pitchFamily="34" charset="0"/>
                <a:ea typeface="Arial" pitchFamily="34" charset="-122"/>
                <a:cs typeface="Arial" pitchFamily="34" charset="-120"/>
              </a:rPr>
              <a:t>95%</a:t>
            </a:r>
            <a:endParaRPr lang="en-US" sz="2400" dirty="0"/>
          </a:p>
        </p:txBody>
      </p:sp>
      <p:sp>
        <p:nvSpPr>
          <p:cNvPr id="14" name="Text 12"/>
          <p:cNvSpPr/>
          <p:nvPr/>
        </p:nvSpPr>
        <p:spPr>
          <a:xfrm>
            <a:off x="4937760" y="4206240"/>
            <a:ext cx="1828800" cy="457200"/>
          </a:xfrm>
          <a:prstGeom prst="rect">
            <a:avLst/>
          </a:prstGeom>
          <a:noFill/>
          <a:ln/>
        </p:spPr>
        <p:txBody>
          <a:bodyPr wrap="square" rtlCol="0" anchor="ctr"/>
          <a:lstStyle/>
          <a:p>
            <a:pPr algn="ctr" indent="0" marL="0">
              <a:buNone/>
            </a:pPr>
            <a:r>
              <a:rPr lang="en-US" sz="1200" dirty="0">
                <a:solidFill>
                  <a:srgbClr val="94A3B8"/>
                </a:solidFill>
                <a:latin typeface="Arial" pitchFamily="34" charset="0"/>
                <a:ea typeface="Arial" pitchFamily="34" charset="-122"/>
                <a:cs typeface="Arial" pitchFamily="34" charset="-120"/>
              </a:rPr>
              <a:t>Routing accuracy</a:t>
            </a:r>
            <a:endParaRPr lang="en-US" sz="1200" dirty="0"/>
          </a:p>
        </p:txBody>
      </p:sp>
      <p:sp>
        <p:nvSpPr>
          <p:cNvPr id="15" name="Shape 13"/>
          <p:cNvSpPr/>
          <p:nvPr/>
        </p:nvSpPr>
        <p:spPr>
          <a:xfrm>
            <a:off x="6949440" y="3200400"/>
            <a:ext cx="1828800" cy="2011680"/>
          </a:xfrm>
          <a:prstGeom prst="roundRect">
            <a:avLst>
              <a:gd name="adj" fmla="val 7500"/>
            </a:avLst>
          </a:prstGeom>
          <a:solidFill>
            <a:srgbClr val="111D32"/>
          </a:solidFill>
          <a:ln w="12700">
            <a:solidFill>
              <a:srgbClr val="1E3048"/>
            </a:solidFill>
            <a:prstDash val="solid"/>
          </a:ln>
        </p:spPr>
      </p:sp>
      <p:sp>
        <p:nvSpPr>
          <p:cNvPr id="16" name="Text 14"/>
          <p:cNvSpPr/>
          <p:nvPr/>
        </p:nvSpPr>
        <p:spPr>
          <a:xfrm>
            <a:off x="6949440" y="3566160"/>
            <a:ext cx="1828800" cy="548640"/>
          </a:xfrm>
          <a:prstGeom prst="rect">
            <a:avLst/>
          </a:prstGeom>
          <a:noFill/>
          <a:ln/>
        </p:spPr>
        <p:txBody>
          <a:bodyPr wrap="square" rtlCol="0" anchor="ctr"/>
          <a:lstStyle/>
          <a:p>
            <a:pPr algn="ctr" indent="0" marL="0">
              <a:buNone/>
            </a:pPr>
            <a:r>
              <a:rPr lang="en-US" sz="2400" b="1" dirty="0">
                <a:solidFill>
                  <a:srgbClr val="14B8A6"/>
                </a:solidFill>
                <a:latin typeface="Arial" pitchFamily="34" charset="0"/>
                <a:ea typeface="Arial" pitchFamily="34" charset="-122"/>
                <a:cs typeface="Arial" pitchFamily="34" charset="-120"/>
              </a:rPr>
              <a:t>40%</a:t>
            </a:r>
            <a:endParaRPr lang="en-US" sz="2400" dirty="0"/>
          </a:p>
        </p:txBody>
      </p:sp>
      <p:sp>
        <p:nvSpPr>
          <p:cNvPr id="17" name="Text 15"/>
          <p:cNvSpPr/>
          <p:nvPr/>
        </p:nvSpPr>
        <p:spPr>
          <a:xfrm>
            <a:off x="6949440" y="4206240"/>
            <a:ext cx="1828800" cy="457200"/>
          </a:xfrm>
          <a:prstGeom prst="rect">
            <a:avLst/>
          </a:prstGeom>
          <a:noFill/>
          <a:ln/>
        </p:spPr>
        <p:txBody>
          <a:bodyPr wrap="square" rtlCol="0" anchor="ctr"/>
          <a:lstStyle/>
          <a:p>
            <a:pPr algn="ctr" indent="0" marL="0">
              <a:buNone/>
            </a:pPr>
            <a:r>
              <a:rPr lang="en-US" sz="1200" dirty="0">
                <a:solidFill>
                  <a:srgbClr val="94A3B8"/>
                </a:solidFill>
                <a:latin typeface="Arial" pitchFamily="34" charset="0"/>
                <a:ea typeface="Arial" pitchFamily="34" charset="-122"/>
                <a:cs typeface="Arial" pitchFamily="34" charset="-120"/>
              </a:rPr>
              <a:t>Reduction in access time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1628"/>
        </a:solidFill>
      </p:bgPr>
    </p:bg>
    <p:spTree>
      <p:nvGrpSpPr>
        <p:cNvPr id="1" name=""/>
        <p:cNvGrpSpPr/>
        <p:nvPr/>
      </p:nvGrpSpPr>
      <p:grpSpPr>
        <a:xfrm>
          <a:off x="0" y="0"/>
          <a:ext cx="0" cy="0"/>
          <a:chOff x="0" y="0"/>
          <a:chExt cx="0" cy="0"/>
        </a:xfrm>
      </p:grpSpPr>
      <p:sp>
        <p:nvSpPr>
          <p:cNvPr id="2" name="Shape 0"/>
          <p:cNvSpPr/>
          <p:nvPr/>
        </p:nvSpPr>
        <p:spPr>
          <a:xfrm>
            <a:off x="3749040" y="1371600"/>
            <a:ext cx="1371600" cy="1371600"/>
          </a:xfrm>
          <a:prstGeom prst="roundRect">
            <a:avLst>
              <a:gd name="adj" fmla="val 13333"/>
            </a:avLst>
          </a:prstGeom>
          <a:solidFill>
            <a:srgbClr val="14B8A6"/>
          </a:solidFill>
          <a:ln/>
        </p:spPr>
      </p:sp>
      <p:sp>
        <p:nvSpPr>
          <p:cNvPr id="3" name="Text 1"/>
          <p:cNvSpPr/>
          <p:nvPr/>
        </p:nvSpPr>
        <p:spPr>
          <a:xfrm>
            <a:off x="3749040" y="1371600"/>
            <a:ext cx="1371600" cy="1371600"/>
          </a:xfrm>
          <a:prstGeom prst="rect">
            <a:avLst/>
          </a:prstGeom>
          <a:noFill/>
          <a:ln/>
        </p:spPr>
        <p:txBody>
          <a:bodyPr wrap="square"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SER</a:t>
            </a:r>
            <a:endParaRPr lang="en-US" sz="2800" dirty="0"/>
          </a:p>
        </p:txBody>
      </p:sp>
      <p:sp>
        <p:nvSpPr>
          <p:cNvPr id="4" name="Text 2"/>
          <p:cNvSpPr/>
          <p:nvPr/>
        </p:nvSpPr>
        <p:spPr>
          <a:xfrm>
            <a:off x="914400" y="3017520"/>
            <a:ext cx="7315200" cy="731520"/>
          </a:xfrm>
          <a:prstGeom prst="rect">
            <a:avLst/>
          </a:prstGeom>
          <a:noFill/>
          <a:ln/>
        </p:spPr>
        <p:txBody>
          <a:bodyPr wrap="square" rtlCol="0" anchor="ctr"/>
          <a:lstStyle/>
          <a:p>
            <a:pPr algn="ctr" indent="0" marL="0">
              <a:buNone/>
            </a:pPr>
            <a:r>
              <a:rPr lang="en-US" sz="3800" b="1" dirty="0">
                <a:solidFill>
                  <a:srgbClr val="14B8A6"/>
                </a:solidFill>
                <a:latin typeface="Arial" pitchFamily="34" charset="0"/>
                <a:ea typeface="Arial" pitchFamily="34" charset="-122"/>
                <a:cs typeface="Arial" pitchFamily="34" charset="-120"/>
              </a:rPr>
              <a:t>Thank You</a:t>
            </a:r>
            <a:endParaRPr lang="en-US" sz="3800" dirty="0"/>
          </a:p>
        </p:txBody>
      </p:sp>
      <p:sp>
        <p:nvSpPr>
          <p:cNvPr id="5" name="Text 3"/>
          <p:cNvSpPr/>
          <p:nvPr/>
        </p:nvSpPr>
        <p:spPr>
          <a:xfrm>
            <a:off x="914400" y="3840480"/>
            <a:ext cx="7315200" cy="457200"/>
          </a:xfrm>
          <a:prstGeom prst="rect">
            <a:avLst/>
          </a:prstGeom>
          <a:noFill/>
          <a:ln/>
        </p:spPr>
        <p:txBody>
          <a:bodyPr wrap="square" rtlCol="0" anchor="ctr"/>
          <a:lstStyle/>
          <a:p>
            <a:pPr algn="ctr" indent="0" marL="0">
              <a:buNone/>
            </a:pPr>
            <a:r>
              <a:rPr lang="en-US" sz="1600" dirty="0">
                <a:solidFill>
                  <a:srgbClr val="94A3B8"/>
                </a:solidFill>
                <a:latin typeface="Arial" pitchFamily="34" charset="0"/>
                <a:ea typeface="Arial" pitchFamily="34" charset="-122"/>
                <a:cs typeface="Arial" pitchFamily="34" charset="-120"/>
              </a:rPr>
              <a:t>Smart Emergency Router</a:t>
            </a:r>
            <a:endParaRPr lang="en-US" sz="1600" dirty="0"/>
          </a:p>
        </p:txBody>
      </p:sp>
      <p:sp>
        <p:nvSpPr>
          <p:cNvPr id="6" name="Text 4"/>
          <p:cNvSpPr/>
          <p:nvPr/>
        </p:nvSpPr>
        <p:spPr>
          <a:xfrm>
            <a:off x="914400" y="4572000"/>
            <a:ext cx="7315200" cy="457200"/>
          </a:xfrm>
          <a:prstGeom prst="rect">
            <a:avLst/>
          </a:prstGeom>
          <a:noFill/>
          <a:ln/>
        </p:spPr>
        <p:txBody>
          <a:bodyPr wrap="square" rtlCol="0" anchor="ctr"/>
          <a:lstStyle/>
          <a:p>
            <a:pPr algn="ctr" indent="0" marL="0">
              <a:buNone/>
            </a:pPr>
            <a:r>
              <a:rPr lang="en-US" sz="1400" b="1" dirty="0">
                <a:solidFill>
                  <a:srgbClr val="14B8A6"/>
                </a:solidFill>
                <a:latin typeface="Arial" pitchFamily="34" charset="0"/>
                <a:ea typeface="Arial" pitchFamily="34" charset="-122"/>
                <a:cs typeface="Arial" pitchFamily="34" charset="-120"/>
              </a:rPr>
              <a:t>Let's build the future of healthcare access in Egypt 🚀</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 - Smart Emergency Router</dc:title>
  <dc:subject>PptxGenJS Presentation</dc:subject>
  <dc:creator>SER</dc:creator>
  <cp:lastModifiedBy>SER</cp:lastModifiedBy>
  <cp:revision>1</cp:revision>
  <dcterms:created xsi:type="dcterms:W3CDTF">2026-02-16T10:15:21Z</dcterms:created>
  <dcterms:modified xsi:type="dcterms:W3CDTF">2026-02-16T10:15:21Z</dcterms:modified>
</cp:coreProperties>
</file>