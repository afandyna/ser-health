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ial Bold" charset="1" panose="020B0704020202020204"/>
      <p:regular r:id="rId23"/>
    </p:embeddedFont>
    <p:embeddedFont>
      <p:font typeface="Arial" charset="1" panose="020B06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notesSlides/notesSlide1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902916" y="2822232"/>
            <a:ext cx="14482168" cy="1490511"/>
            <a:chOff x="0" y="0"/>
            <a:chExt cx="14630400" cy="1505767"/>
          </a:xfrm>
        </p:grpSpPr>
        <p:sp>
          <p:nvSpPr>
            <p:cNvPr name="Freeform 3" id="3"/>
            <p:cNvSpPr/>
            <p:nvPr/>
          </p:nvSpPr>
          <p:spPr>
            <a:xfrm flipH="false" flipV="false" rot="0">
              <a:off x="0" y="0"/>
              <a:ext cx="14630400" cy="1505767"/>
            </a:xfrm>
            <a:custGeom>
              <a:avLst/>
              <a:gdLst/>
              <a:ahLst/>
              <a:cxnLst/>
              <a:rect r="r" b="b" t="t" l="l"/>
              <a:pathLst>
                <a:path h="1505767" w="14630400">
                  <a:moveTo>
                    <a:pt x="0" y="0"/>
                  </a:moveTo>
                  <a:lnTo>
                    <a:pt x="14630400" y="0"/>
                  </a:lnTo>
                  <a:lnTo>
                    <a:pt x="14630400" y="1505767"/>
                  </a:lnTo>
                  <a:lnTo>
                    <a:pt x="0" y="1505767"/>
                  </a:lnTo>
                  <a:close/>
                </a:path>
              </a:pathLst>
            </a:custGeom>
            <a:blipFill>
              <a:blip r:embed="rId3">
                <a:alphaModFix amt="0"/>
              </a:blip>
              <a:stretch>
                <a:fillRect l="0" t="-140740" r="0" b="-137902"/>
              </a:stretch>
            </a:blipFill>
          </p:spPr>
        </p:sp>
        <p:sp>
          <p:nvSpPr>
            <p:cNvPr name="TextBox 4" id="4"/>
            <p:cNvSpPr txBox="true"/>
            <p:nvPr/>
          </p:nvSpPr>
          <p:spPr>
            <a:xfrm>
              <a:off x="0" y="-28575"/>
              <a:ext cx="14630400" cy="1534342"/>
            </a:xfrm>
            <a:prstGeom prst="rect">
              <a:avLst/>
            </a:prstGeom>
          </p:spPr>
          <p:txBody>
            <a:bodyPr anchor="ctr" rtlCol="false" tIns="0" lIns="0" bIns="0" rIns="0"/>
            <a:lstStyle/>
            <a:p>
              <a:pPr algn="ctr">
                <a:lnSpc>
                  <a:spcPts val="8639"/>
                </a:lnSpc>
              </a:pPr>
              <a:r>
                <a:rPr lang="en-US" sz="7199" b="true">
                  <a:solidFill>
                    <a:srgbClr val="14B8A6"/>
                  </a:solidFill>
                  <a:latin typeface="Arial Bold"/>
                  <a:ea typeface="Arial Bold"/>
                  <a:cs typeface="Arial Bold"/>
                  <a:sym typeface="Arial Bold"/>
                </a:rPr>
                <a:t>Smart Emergency Router</a:t>
              </a:r>
            </a:p>
          </p:txBody>
        </p:sp>
      </p:grpSp>
      <p:grpSp>
        <p:nvGrpSpPr>
          <p:cNvPr name="Group 5" id="5"/>
          <p:cNvGrpSpPr/>
          <p:nvPr/>
        </p:nvGrpSpPr>
        <p:grpSpPr>
          <a:xfrm rot="0">
            <a:off x="2474546" y="4096189"/>
            <a:ext cx="13052587" cy="815787"/>
            <a:chOff x="0" y="0"/>
            <a:chExt cx="14630400" cy="914400"/>
          </a:xfrm>
        </p:grpSpPr>
        <p:sp>
          <p:nvSpPr>
            <p:cNvPr name="Freeform 6" id="6"/>
            <p:cNvSpPr/>
            <p:nvPr/>
          </p:nvSpPr>
          <p:spPr>
            <a:xfrm flipH="false" flipV="false" rot="0">
              <a:off x="0" y="0"/>
              <a:ext cx="14630400" cy="914400"/>
            </a:xfrm>
            <a:custGeom>
              <a:avLst/>
              <a:gdLst/>
              <a:ahLst/>
              <a:cxnLst/>
              <a:rect r="r" b="b" t="t" l="l"/>
              <a:pathLst>
                <a:path h="914400" w="14630400">
                  <a:moveTo>
                    <a:pt x="0" y="0"/>
                  </a:moveTo>
                  <a:lnTo>
                    <a:pt x="14630400" y="0"/>
                  </a:lnTo>
                  <a:lnTo>
                    <a:pt x="14630400" y="914400"/>
                  </a:lnTo>
                  <a:lnTo>
                    <a:pt x="0" y="914400"/>
                  </a:lnTo>
                  <a:close/>
                </a:path>
              </a:pathLst>
            </a:custGeom>
            <a:blipFill>
              <a:blip r:embed="rId3">
                <a:alphaModFix amt="0"/>
              </a:blip>
              <a:stretch>
                <a:fillRect l="0" t="-261760" r="0" b="-261760"/>
              </a:stretch>
            </a:blipFill>
          </p:spPr>
        </p:sp>
        <p:sp>
          <p:nvSpPr>
            <p:cNvPr name="TextBox 7" id="7"/>
            <p:cNvSpPr txBox="true"/>
            <p:nvPr/>
          </p:nvSpPr>
          <p:spPr>
            <a:xfrm>
              <a:off x="0" y="-9525"/>
              <a:ext cx="14630400" cy="923925"/>
            </a:xfrm>
            <a:prstGeom prst="rect">
              <a:avLst/>
            </a:prstGeom>
          </p:spPr>
          <p:txBody>
            <a:bodyPr anchor="ctr" rtlCol="false" tIns="0" lIns="0" bIns="0" rIns="0"/>
            <a:lstStyle/>
            <a:p>
              <a:pPr algn="ctr">
                <a:lnSpc>
                  <a:spcPts val="2879"/>
                </a:lnSpc>
              </a:pPr>
              <a:r>
                <a:rPr lang="en-US" sz="2400">
                  <a:solidFill>
                    <a:srgbClr val="94A3B8"/>
                  </a:solidFill>
                  <a:latin typeface="Arial"/>
                  <a:ea typeface="Arial"/>
                  <a:cs typeface="Arial"/>
                  <a:sym typeface="Arial"/>
                </a:rPr>
                <a:t>AI-Powered Healthcare Navigation Infrastructure — Egypt</a:t>
              </a:r>
            </a:p>
          </p:txBody>
        </p:sp>
      </p:grpSp>
      <p:grpSp>
        <p:nvGrpSpPr>
          <p:cNvPr name="Group 8" id="8"/>
          <p:cNvGrpSpPr/>
          <p:nvPr/>
        </p:nvGrpSpPr>
        <p:grpSpPr>
          <a:xfrm rot="0">
            <a:off x="2920215" y="6335717"/>
            <a:ext cx="2306863" cy="756869"/>
            <a:chOff x="0" y="0"/>
            <a:chExt cx="2585720" cy="848360"/>
          </a:xfrm>
        </p:grpSpPr>
        <p:sp>
          <p:nvSpPr>
            <p:cNvPr name="Freeform 9" id="9"/>
            <p:cNvSpPr/>
            <p:nvPr/>
          </p:nvSpPr>
          <p:spPr>
            <a:xfrm flipH="false" flipV="false" rot="0">
              <a:off x="12700" y="12700"/>
              <a:ext cx="2560320" cy="822960"/>
            </a:xfrm>
            <a:custGeom>
              <a:avLst/>
              <a:gdLst/>
              <a:ahLst/>
              <a:cxnLst/>
              <a:rect r="r" b="b" t="t" l="l"/>
              <a:pathLst>
                <a:path h="822960" w="2560320">
                  <a:moveTo>
                    <a:pt x="0" y="365760"/>
                  </a:moveTo>
                  <a:cubicBezTo>
                    <a:pt x="0" y="163703"/>
                    <a:pt x="167132" y="0"/>
                    <a:pt x="373380" y="0"/>
                  </a:cubicBezTo>
                  <a:lnTo>
                    <a:pt x="2186940" y="0"/>
                  </a:lnTo>
                  <a:cubicBezTo>
                    <a:pt x="2393188" y="0"/>
                    <a:pt x="2560320" y="163703"/>
                    <a:pt x="2560320" y="365760"/>
                  </a:cubicBezTo>
                  <a:lnTo>
                    <a:pt x="2560320" y="457200"/>
                  </a:lnTo>
                  <a:cubicBezTo>
                    <a:pt x="2560320" y="659257"/>
                    <a:pt x="2393188" y="822960"/>
                    <a:pt x="2186940" y="822960"/>
                  </a:cubicBezTo>
                  <a:lnTo>
                    <a:pt x="373380" y="822960"/>
                  </a:lnTo>
                  <a:cubicBezTo>
                    <a:pt x="167132" y="822960"/>
                    <a:pt x="0" y="659257"/>
                    <a:pt x="0" y="457200"/>
                  </a:cubicBezTo>
                  <a:close/>
                </a:path>
              </a:pathLst>
            </a:custGeom>
            <a:solidFill>
              <a:srgbClr val="1A2744"/>
            </a:solidFill>
          </p:spPr>
        </p:sp>
        <p:sp>
          <p:nvSpPr>
            <p:cNvPr name="Freeform 10" id="10"/>
            <p:cNvSpPr/>
            <p:nvPr/>
          </p:nvSpPr>
          <p:spPr>
            <a:xfrm flipH="false" flipV="false" rot="0">
              <a:off x="0" y="0"/>
              <a:ext cx="2585720" cy="848360"/>
            </a:xfrm>
            <a:custGeom>
              <a:avLst/>
              <a:gdLst/>
              <a:ahLst/>
              <a:cxnLst/>
              <a:rect r="r" b="b" t="t" l="l"/>
              <a:pathLst>
                <a:path h="848360" w="2585720">
                  <a:moveTo>
                    <a:pt x="0" y="378460"/>
                  </a:moveTo>
                  <a:cubicBezTo>
                    <a:pt x="0" y="169164"/>
                    <a:pt x="173101" y="0"/>
                    <a:pt x="386080" y="0"/>
                  </a:cubicBezTo>
                  <a:lnTo>
                    <a:pt x="2199640" y="0"/>
                  </a:lnTo>
                  <a:lnTo>
                    <a:pt x="2199640" y="12700"/>
                  </a:lnTo>
                  <a:lnTo>
                    <a:pt x="2199640" y="0"/>
                  </a:lnTo>
                  <a:cubicBezTo>
                    <a:pt x="2412619" y="0"/>
                    <a:pt x="2585720" y="169164"/>
                    <a:pt x="2585720" y="378460"/>
                  </a:cubicBezTo>
                  <a:lnTo>
                    <a:pt x="2573020" y="378460"/>
                  </a:lnTo>
                  <a:lnTo>
                    <a:pt x="2585720" y="378460"/>
                  </a:lnTo>
                  <a:lnTo>
                    <a:pt x="2585720" y="469900"/>
                  </a:lnTo>
                  <a:lnTo>
                    <a:pt x="2573020" y="469900"/>
                  </a:lnTo>
                  <a:lnTo>
                    <a:pt x="2585720" y="469900"/>
                  </a:lnTo>
                  <a:cubicBezTo>
                    <a:pt x="2585720" y="679196"/>
                    <a:pt x="2412619" y="848360"/>
                    <a:pt x="2199640" y="848360"/>
                  </a:cubicBezTo>
                  <a:lnTo>
                    <a:pt x="2199640" y="835660"/>
                  </a:lnTo>
                  <a:lnTo>
                    <a:pt x="2199640" y="848360"/>
                  </a:lnTo>
                  <a:lnTo>
                    <a:pt x="386080" y="848360"/>
                  </a:lnTo>
                  <a:lnTo>
                    <a:pt x="386080" y="835660"/>
                  </a:lnTo>
                  <a:lnTo>
                    <a:pt x="386080" y="848360"/>
                  </a:lnTo>
                  <a:cubicBezTo>
                    <a:pt x="173101" y="848360"/>
                    <a:pt x="0" y="679196"/>
                    <a:pt x="0" y="469900"/>
                  </a:cubicBezTo>
                  <a:lnTo>
                    <a:pt x="0" y="378460"/>
                  </a:lnTo>
                  <a:lnTo>
                    <a:pt x="12700" y="378460"/>
                  </a:lnTo>
                  <a:lnTo>
                    <a:pt x="0" y="378460"/>
                  </a:lnTo>
                  <a:moveTo>
                    <a:pt x="25400" y="378460"/>
                  </a:moveTo>
                  <a:lnTo>
                    <a:pt x="25400" y="469900"/>
                  </a:lnTo>
                  <a:lnTo>
                    <a:pt x="12700" y="469900"/>
                  </a:lnTo>
                  <a:lnTo>
                    <a:pt x="25400" y="469900"/>
                  </a:lnTo>
                  <a:cubicBezTo>
                    <a:pt x="25400" y="664591"/>
                    <a:pt x="186563" y="822960"/>
                    <a:pt x="386080" y="822960"/>
                  </a:cubicBezTo>
                  <a:lnTo>
                    <a:pt x="2199640" y="822960"/>
                  </a:lnTo>
                  <a:cubicBezTo>
                    <a:pt x="2399030" y="822960"/>
                    <a:pt x="2560320" y="664591"/>
                    <a:pt x="2560320" y="469900"/>
                  </a:cubicBezTo>
                  <a:lnTo>
                    <a:pt x="2560320" y="378460"/>
                  </a:lnTo>
                  <a:cubicBezTo>
                    <a:pt x="2560320" y="183769"/>
                    <a:pt x="2399157" y="25400"/>
                    <a:pt x="2199640" y="25400"/>
                  </a:cubicBezTo>
                  <a:lnTo>
                    <a:pt x="386080" y="25400"/>
                  </a:lnTo>
                  <a:lnTo>
                    <a:pt x="386080" y="12700"/>
                  </a:lnTo>
                  <a:lnTo>
                    <a:pt x="386080" y="25400"/>
                  </a:lnTo>
                  <a:cubicBezTo>
                    <a:pt x="186563" y="25400"/>
                    <a:pt x="25400" y="183769"/>
                    <a:pt x="25400" y="378460"/>
                  </a:cubicBezTo>
                  <a:close/>
                </a:path>
              </a:pathLst>
            </a:custGeom>
            <a:solidFill>
              <a:srgbClr val="14B8A6"/>
            </a:solidFill>
          </p:spPr>
        </p:sp>
      </p:grpSp>
      <p:grpSp>
        <p:nvGrpSpPr>
          <p:cNvPr name="Group 11" id="11"/>
          <p:cNvGrpSpPr/>
          <p:nvPr/>
        </p:nvGrpSpPr>
        <p:grpSpPr>
          <a:xfrm rot="0">
            <a:off x="2931545" y="6347047"/>
            <a:ext cx="2284203" cy="734208"/>
            <a:chOff x="0" y="0"/>
            <a:chExt cx="2560320" cy="822960"/>
          </a:xfrm>
        </p:grpSpPr>
        <p:sp>
          <p:nvSpPr>
            <p:cNvPr name="Freeform 12" id="12"/>
            <p:cNvSpPr/>
            <p:nvPr/>
          </p:nvSpPr>
          <p:spPr>
            <a:xfrm flipH="false" flipV="false" rot="0">
              <a:off x="0" y="0"/>
              <a:ext cx="2560320" cy="822960"/>
            </a:xfrm>
            <a:custGeom>
              <a:avLst/>
              <a:gdLst/>
              <a:ahLst/>
              <a:cxnLst/>
              <a:rect r="r" b="b" t="t" l="l"/>
              <a:pathLst>
                <a:path h="822960" w="2560320">
                  <a:moveTo>
                    <a:pt x="0" y="0"/>
                  </a:moveTo>
                  <a:lnTo>
                    <a:pt x="2560320" y="0"/>
                  </a:lnTo>
                  <a:lnTo>
                    <a:pt x="2560320" y="822960"/>
                  </a:lnTo>
                  <a:lnTo>
                    <a:pt x="0" y="822960"/>
                  </a:lnTo>
                  <a:close/>
                </a:path>
              </a:pathLst>
            </a:custGeom>
            <a:blipFill>
              <a:blip r:embed="rId3">
                <a:alphaModFix amt="0"/>
              </a:blip>
              <a:stretch>
                <a:fillRect l="0" t="-10620" r="0" b="-10620"/>
              </a:stretch>
            </a:blipFill>
          </p:spPr>
        </p:sp>
        <p:sp>
          <p:nvSpPr>
            <p:cNvPr name="TextBox 13" id="13"/>
            <p:cNvSpPr txBox="true"/>
            <p:nvPr/>
          </p:nvSpPr>
          <p:spPr>
            <a:xfrm>
              <a:off x="0" y="-19050"/>
              <a:ext cx="2560320" cy="842010"/>
            </a:xfrm>
            <a:prstGeom prst="rect">
              <a:avLst/>
            </a:prstGeom>
          </p:spPr>
          <p:txBody>
            <a:bodyPr anchor="ctr" rtlCol="false" tIns="0" lIns="0" bIns="0" rIns="0"/>
            <a:lstStyle/>
            <a:p>
              <a:pPr algn="ctr">
                <a:lnSpc>
                  <a:spcPts val="1980"/>
                </a:lnSpc>
              </a:pPr>
              <a:r>
                <a:rPr lang="en-US" sz="1650">
                  <a:solidFill>
                    <a:srgbClr val="E2E8F0"/>
                  </a:solidFill>
                  <a:latin typeface="Arial"/>
                  <a:ea typeface="Arial"/>
                  <a:cs typeface="Arial"/>
                  <a:sym typeface="Arial"/>
                </a:rPr>
                <a:t>Doctors</a:t>
              </a:r>
            </a:p>
          </p:txBody>
        </p:sp>
      </p:grpSp>
      <p:grpSp>
        <p:nvGrpSpPr>
          <p:cNvPr name="Group 14" id="14"/>
          <p:cNvGrpSpPr/>
          <p:nvPr/>
        </p:nvGrpSpPr>
        <p:grpSpPr>
          <a:xfrm rot="0">
            <a:off x="5531878" y="6332740"/>
            <a:ext cx="2306863" cy="756869"/>
            <a:chOff x="0" y="0"/>
            <a:chExt cx="2585720" cy="848360"/>
          </a:xfrm>
        </p:grpSpPr>
        <p:sp>
          <p:nvSpPr>
            <p:cNvPr name="Freeform 15" id="15"/>
            <p:cNvSpPr/>
            <p:nvPr/>
          </p:nvSpPr>
          <p:spPr>
            <a:xfrm flipH="false" flipV="false" rot="0">
              <a:off x="12700" y="12700"/>
              <a:ext cx="2560320" cy="822960"/>
            </a:xfrm>
            <a:custGeom>
              <a:avLst/>
              <a:gdLst/>
              <a:ahLst/>
              <a:cxnLst/>
              <a:rect r="r" b="b" t="t" l="l"/>
              <a:pathLst>
                <a:path h="822960" w="2560320">
                  <a:moveTo>
                    <a:pt x="0" y="365760"/>
                  </a:moveTo>
                  <a:cubicBezTo>
                    <a:pt x="0" y="163703"/>
                    <a:pt x="167132" y="0"/>
                    <a:pt x="373380" y="0"/>
                  </a:cubicBezTo>
                  <a:lnTo>
                    <a:pt x="2186940" y="0"/>
                  </a:lnTo>
                  <a:cubicBezTo>
                    <a:pt x="2393188" y="0"/>
                    <a:pt x="2560320" y="163703"/>
                    <a:pt x="2560320" y="365760"/>
                  </a:cubicBezTo>
                  <a:lnTo>
                    <a:pt x="2560320" y="457200"/>
                  </a:lnTo>
                  <a:cubicBezTo>
                    <a:pt x="2560320" y="659257"/>
                    <a:pt x="2393188" y="822960"/>
                    <a:pt x="2186940" y="822960"/>
                  </a:cubicBezTo>
                  <a:lnTo>
                    <a:pt x="373380" y="822960"/>
                  </a:lnTo>
                  <a:cubicBezTo>
                    <a:pt x="167132" y="822960"/>
                    <a:pt x="0" y="659257"/>
                    <a:pt x="0" y="457200"/>
                  </a:cubicBezTo>
                  <a:close/>
                </a:path>
              </a:pathLst>
            </a:custGeom>
            <a:solidFill>
              <a:srgbClr val="1A2744"/>
            </a:solidFill>
          </p:spPr>
        </p:sp>
        <p:sp>
          <p:nvSpPr>
            <p:cNvPr name="Freeform 16" id="16"/>
            <p:cNvSpPr/>
            <p:nvPr/>
          </p:nvSpPr>
          <p:spPr>
            <a:xfrm flipH="false" flipV="false" rot="0">
              <a:off x="0" y="0"/>
              <a:ext cx="2585720" cy="848360"/>
            </a:xfrm>
            <a:custGeom>
              <a:avLst/>
              <a:gdLst/>
              <a:ahLst/>
              <a:cxnLst/>
              <a:rect r="r" b="b" t="t" l="l"/>
              <a:pathLst>
                <a:path h="848360" w="2585720">
                  <a:moveTo>
                    <a:pt x="0" y="378460"/>
                  </a:moveTo>
                  <a:cubicBezTo>
                    <a:pt x="0" y="169164"/>
                    <a:pt x="173101" y="0"/>
                    <a:pt x="386080" y="0"/>
                  </a:cubicBezTo>
                  <a:lnTo>
                    <a:pt x="2199640" y="0"/>
                  </a:lnTo>
                  <a:lnTo>
                    <a:pt x="2199640" y="12700"/>
                  </a:lnTo>
                  <a:lnTo>
                    <a:pt x="2199640" y="0"/>
                  </a:lnTo>
                  <a:cubicBezTo>
                    <a:pt x="2412619" y="0"/>
                    <a:pt x="2585720" y="169164"/>
                    <a:pt x="2585720" y="378460"/>
                  </a:cubicBezTo>
                  <a:lnTo>
                    <a:pt x="2573020" y="378460"/>
                  </a:lnTo>
                  <a:lnTo>
                    <a:pt x="2585720" y="378460"/>
                  </a:lnTo>
                  <a:lnTo>
                    <a:pt x="2585720" y="469900"/>
                  </a:lnTo>
                  <a:lnTo>
                    <a:pt x="2573020" y="469900"/>
                  </a:lnTo>
                  <a:lnTo>
                    <a:pt x="2585720" y="469900"/>
                  </a:lnTo>
                  <a:cubicBezTo>
                    <a:pt x="2585720" y="679196"/>
                    <a:pt x="2412619" y="848360"/>
                    <a:pt x="2199640" y="848360"/>
                  </a:cubicBezTo>
                  <a:lnTo>
                    <a:pt x="2199640" y="835660"/>
                  </a:lnTo>
                  <a:lnTo>
                    <a:pt x="2199640" y="848360"/>
                  </a:lnTo>
                  <a:lnTo>
                    <a:pt x="386080" y="848360"/>
                  </a:lnTo>
                  <a:lnTo>
                    <a:pt x="386080" y="835660"/>
                  </a:lnTo>
                  <a:lnTo>
                    <a:pt x="386080" y="848360"/>
                  </a:lnTo>
                  <a:cubicBezTo>
                    <a:pt x="173101" y="848360"/>
                    <a:pt x="0" y="679196"/>
                    <a:pt x="0" y="469900"/>
                  </a:cubicBezTo>
                  <a:lnTo>
                    <a:pt x="0" y="378460"/>
                  </a:lnTo>
                  <a:lnTo>
                    <a:pt x="12700" y="378460"/>
                  </a:lnTo>
                  <a:lnTo>
                    <a:pt x="0" y="378460"/>
                  </a:lnTo>
                  <a:moveTo>
                    <a:pt x="25400" y="378460"/>
                  </a:moveTo>
                  <a:lnTo>
                    <a:pt x="25400" y="469900"/>
                  </a:lnTo>
                  <a:lnTo>
                    <a:pt x="12700" y="469900"/>
                  </a:lnTo>
                  <a:lnTo>
                    <a:pt x="25400" y="469900"/>
                  </a:lnTo>
                  <a:cubicBezTo>
                    <a:pt x="25400" y="664591"/>
                    <a:pt x="186563" y="822960"/>
                    <a:pt x="386080" y="822960"/>
                  </a:cubicBezTo>
                  <a:lnTo>
                    <a:pt x="2199640" y="822960"/>
                  </a:lnTo>
                  <a:cubicBezTo>
                    <a:pt x="2399030" y="822960"/>
                    <a:pt x="2560320" y="664591"/>
                    <a:pt x="2560320" y="469900"/>
                  </a:cubicBezTo>
                  <a:lnTo>
                    <a:pt x="2560320" y="378460"/>
                  </a:lnTo>
                  <a:cubicBezTo>
                    <a:pt x="2560320" y="183769"/>
                    <a:pt x="2399157" y="25400"/>
                    <a:pt x="2199640" y="25400"/>
                  </a:cubicBezTo>
                  <a:lnTo>
                    <a:pt x="386080" y="25400"/>
                  </a:lnTo>
                  <a:lnTo>
                    <a:pt x="386080" y="12700"/>
                  </a:lnTo>
                  <a:lnTo>
                    <a:pt x="386080" y="25400"/>
                  </a:lnTo>
                  <a:cubicBezTo>
                    <a:pt x="186563" y="25400"/>
                    <a:pt x="25400" y="183769"/>
                    <a:pt x="25400" y="378460"/>
                  </a:cubicBezTo>
                  <a:close/>
                </a:path>
              </a:pathLst>
            </a:custGeom>
            <a:solidFill>
              <a:srgbClr val="14B8A6"/>
            </a:solidFill>
          </p:spPr>
        </p:sp>
      </p:grpSp>
      <p:grpSp>
        <p:nvGrpSpPr>
          <p:cNvPr name="Group 17" id="17"/>
          <p:cNvGrpSpPr/>
          <p:nvPr/>
        </p:nvGrpSpPr>
        <p:grpSpPr>
          <a:xfrm rot="0">
            <a:off x="5543208" y="6344070"/>
            <a:ext cx="2284203" cy="734208"/>
            <a:chOff x="0" y="0"/>
            <a:chExt cx="2560320" cy="822960"/>
          </a:xfrm>
        </p:grpSpPr>
        <p:sp>
          <p:nvSpPr>
            <p:cNvPr name="Freeform 18" id="18"/>
            <p:cNvSpPr/>
            <p:nvPr/>
          </p:nvSpPr>
          <p:spPr>
            <a:xfrm flipH="false" flipV="false" rot="0">
              <a:off x="0" y="0"/>
              <a:ext cx="2560320" cy="822960"/>
            </a:xfrm>
            <a:custGeom>
              <a:avLst/>
              <a:gdLst/>
              <a:ahLst/>
              <a:cxnLst/>
              <a:rect r="r" b="b" t="t" l="l"/>
              <a:pathLst>
                <a:path h="822960" w="2560320">
                  <a:moveTo>
                    <a:pt x="0" y="0"/>
                  </a:moveTo>
                  <a:lnTo>
                    <a:pt x="2560320" y="0"/>
                  </a:lnTo>
                  <a:lnTo>
                    <a:pt x="2560320" y="822960"/>
                  </a:lnTo>
                  <a:lnTo>
                    <a:pt x="0" y="822960"/>
                  </a:lnTo>
                  <a:close/>
                </a:path>
              </a:pathLst>
            </a:custGeom>
            <a:blipFill>
              <a:blip r:embed="rId3">
                <a:alphaModFix amt="0"/>
              </a:blip>
              <a:stretch>
                <a:fillRect l="0" t="-10620" r="0" b="-10620"/>
              </a:stretch>
            </a:blipFill>
          </p:spPr>
        </p:sp>
        <p:sp>
          <p:nvSpPr>
            <p:cNvPr name="TextBox 19" id="19"/>
            <p:cNvSpPr txBox="true"/>
            <p:nvPr/>
          </p:nvSpPr>
          <p:spPr>
            <a:xfrm>
              <a:off x="0" y="-19050"/>
              <a:ext cx="2560320" cy="842010"/>
            </a:xfrm>
            <a:prstGeom prst="rect">
              <a:avLst/>
            </a:prstGeom>
          </p:spPr>
          <p:txBody>
            <a:bodyPr anchor="ctr" rtlCol="false" tIns="0" lIns="0" bIns="0" rIns="0"/>
            <a:lstStyle/>
            <a:p>
              <a:pPr algn="ctr">
                <a:lnSpc>
                  <a:spcPts val="1980"/>
                </a:lnSpc>
              </a:pPr>
              <a:r>
                <a:rPr lang="en-US" sz="1650">
                  <a:solidFill>
                    <a:srgbClr val="E2E8F0"/>
                  </a:solidFill>
                  <a:latin typeface="Arial"/>
                  <a:ea typeface="Arial"/>
                  <a:cs typeface="Arial"/>
                  <a:sym typeface="Arial"/>
                </a:rPr>
                <a:t>Pharmacies</a:t>
              </a:r>
            </a:p>
          </p:txBody>
        </p:sp>
      </p:grpSp>
      <p:grpSp>
        <p:nvGrpSpPr>
          <p:cNvPr name="Group 20" id="20"/>
          <p:cNvGrpSpPr/>
          <p:nvPr/>
        </p:nvGrpSpPr>
        <p:grpSpPr>
          <a:xfrm rot="0">
            <a:off x="8142395" y="6332740"/>
            <a:ext cx="2306863" cy="756869"/>
            <a:chOff x="0" y="0"/>
            <a:chExt cx="2585720" cy="848360"/>
          </a:xfrm>
        </p:grpSpPr>
        <p:sp>
          <p:nvSpPr>
            <p:cNvPr name="Freeform 21" id="21"/>
            <p:cNvSpPr/>
            <p:nvPr/>
          </p:nvSpPr>
          <p:spPr>
            <a:xfrm flipH="false" flipV="false" rot="0">
              <a:off x="12700" y="12700"/>
              <a:ext cx="2560320" cy="822960"/>
            </a:xfrm>
            <a:custGeom>
              <a:avLst/>
              <a:gdLst/>
              <a:ahLst/>
              <a:cxnLst/>
              <a:rect r="r" b="b" t="t" l="l"/>
              <a:pathLst>
                <a:path h="822960" w="2560320">
                  <a:moveTo>
                    <a:pt x="0" y="365760"/>
                  </a:moveTo>
                  <a:cubicBezTo>
                    <a:pt x="0" y="163703"/>
                    <a:pt x="167132" y="0"/>
                    <a:pt x="373380" y="0"/>
                  </a:cubicBezTo>
                  <a:lnTo>
                    <a:pt x="2186940" y="0"/>
                  </a:lnTo>
                  <a:cubicBezTo>
                    <a:pt x="2393188" y="0"/>
                    <a:pt x="2560320" y="163703"/>
                    <a:pt x="2560320" y="365760"/>
                  </a:cubicBezTo>
                  <a:lnTo>
                    <a:pt x="2560320" y="457200"/>
                  </a:lnTo>
                  <a:cubicBezTo>
                    <a:pt x="2560320" y="659257"/>
                    <a:pt x="2393188" y="822960"/>
                    <a:pt x="2186940" y="822960"/>
                  </a:cubicBezTo>
                  <a:lnTo>
                    <a:pt x="373380" y="822960"/>
                  </a:lnTo>
                  <a:cubicBezTo>
                    <a:pt x="167132" y="822960"/>
                    <a:pt x="0" y="659257"/>
                    <a:pt x="0" y="457200"/>
                  </a:cubicBezTo>
                  <a:close/>
                </a:path>
              </a:pathLst>
            </a:custGeom>
            <a:solidFill>
              <a:srgbClr val="1A2744"/>
            </a:solidFill>
          </p:spPr>
        </p:sp>
        <p:sp>
          <p:nvSpPr>
            <p:cNvPr name="Freeform 22" id="22"/>
            <p:cNvSpPr/>
            <p:nvPr/>
          </p:nvSpPr>
          <p:spPr>
            <a:xfrm flipH="false" flipV="false" rot="0">
              <a:off x="0" y="0"/>
              <a:ext cx="2585720" cy="848360"/>
            </a:xfrm>
            <a:custGeom>
              <a:avLst/>
              <a:gdLst/>
              <a:ahLst/>
              <a:cxnLst/>
              <a:rect r="r" b="b" t="t" l="l"/>
              <a:pathLst>
                <a:path h="848360" w="2585720">
                  <a:moveTo>
                    <a:pt x="0" y="378460"/>
                  </a:moveTo>
                  <a:cubicBezTo>
                    <a:pt x="0" y="169164"/>
                    <a:pt x="173101" y="0"/>
                    <a:pt x="386080" y="0"/>
                  </a:cubicBezTo>
                  <a:lnTo>
                    <a:pt x="2199640" y="0"/>
                  </a:lnTo>
                  <a:lnTo>
                    <a:pt x="2199640" y="12700"/>
                  </a:lnTo>
                  <a:lnTo>
                    <a:pt x="2199640" y="0"/>
                  </a:lnTo>
                  <a:cubicBezTo>
                    <a:pt x="2412619" y="0"/>
                    <a:pt x="2585720" y="169164"/>
                    <a:pt x="2585720" y="378460"/>
                  </a:cubicBezTo>
                  <a:lnTo>
                    <a:pt x="2573020" y="378460"/>
                  </a:lnTo>
                  <a:lnTo>
                    <a:pt x="2585720" y="378460"/>
                  </a:lnTo>
                  <a:lnTo>
                    <a:pt x="2585720" y="469900"/>
                  </a:lnTo>
                  <a:lnTo>
                    <a:pt x="2573020" y="469900"/>
                  </a:lnTo>
                  <a:lnTo>
                    <a:pt x="2585720" y="469900"/>
                  </a:lnTo>
                  <a:cubicBezTo>
                    <a:pt x="2585720" y="679196"/>
                    <a:pt x="2412619" y="848360"/>
                    <a:pt x="2199640" y="848360"/>
                  </a:cubicBezTo>
                  <a:lnTo>
                    <a:pt x="2199640" y="835660"/>
                  </a:lnTo>
                  <a:lnTo>
                    <a:pt x="2199640" y="848360"/>
                  </a:lnTo>
                  <a:lnTo>
                    <a:pt x="386080" y="848360"/>
                  </a:lnTo>
                  <a:lnTo>
                    <a:pt x="386080" y="835660"/>
                  </a:lnTo>
                  <a:lnTo>
                    <a:pt x="386080" y="848360"/>
                  </a:lnTo>
                  <a:cubicBezTo>
                    <a:pt x="173101" y="848360"/>
                    <a:pt x="0" y="679196"/>
                    <a:pt x="0" y="469900"/>
                  </a:cubicBezTo>
                  <a:lnTo>
                    <a:pt x="0" y="378460"/>
                  </a:lnTo>
                  <a:lnTo>
                    <a:pt x="12700" y="378460"/>
                  </a:lnTo>
                  <a:lnTo>
                    <a:pt x="0" y="378460"/>
                  </a:lnTo>
                  <a:moveTo>
                    <a:pt x="25400" y="378460"/>
                  </a:moveTo>
                  <a:lnTo>
                    <a:pt x="25400" y="469900"/>
                  </a:lnTo>
                  <a:lnTo>
                    <a:pt x="12700" y="469900"/>
                  </a:lnTo>
                  <a:lnTo>
                    <a:pt x="25400" y="469900"/>
                  </a:lnTo>
                  <a:cubicBezTo>
                    <a:pt x="25400" y="664591"/>
                    <a:pt x="186563" y="822960"/>
                    <a:pt x="386080" y="822960"/>
                  </a:cubicBezTo>
                  <a:lnTo>
                    <a:pt x="2199640" y="822960"/>
                  </a:lnTo>
                  <a:cubicBezTo>
                    <a:pt x="2399030" y="822960"/>
                    <a:pt x="2560320" y="664591"/>
                    <a:pt x="2560320" y="469900"/>
                  </a:cubicBezTo>
                  <a:lnTo>
                    <a:pt x="2560320" y="378460"/>
                  </a:lnTo>
                  <a:cubicBezTo>
                    <a:pt x="2560320" y="183769"/>
                    <a:pt x="2399157" y="25400"/>
                    <a:pt x="2199640" y="25400"/>
                  </a:cubicBezTo>
                  <a:lnTo>
                    <a:pt x="386080" y="25400"/>
                  </a:lnTo>
                  <a:lnTo>
                    <a:pt x="386080" y="12700"/>
                  </a:lnTo>
                  <a:lnTo>
                    <a:pt x="386080" y="25400"/>
                  </a:lnTo>
                  <a:cubicBezTo>
                    <a:pt x="186563" y="25400"/>
                    <a:pt x="25400" y="183769"/>
                    <a:pt x="25400" y="378460"/>
                  </a:cubicBezTo>
                  <a:close/>
                </a:path>
              </a:pathLst>
            </a:custGeom>
            <a:solidFill>
              <a:srgbClr val="14B8A6"/>
            </a:solidFill>
          </p:spPr>
        </p:sp>
      </p:grpSp>
      <p:grpSp>
        <p:nvGrpSpPr>
          <p:cNvPr name="Group 23" id="23"/>
          <p:cNvGrpSpPr/>
          <p:nvPr/>
        </p:nvGrpSpPr>
        <p:grpSpPr>
          <a:xfrm rot="0">
            <a:off x="8153726" y="6344070"/>
            <a:ext cx="2284203" cy="734208"/>
            <a:chOff x="0" y="0"/>
            <a:chExt cx="2560320" cy="822960"/>
          </a:xfrm>
        </p:grpSpPr>
        <p:sp>
          <p:nvSpPr>
            <p:cNvPr name="Freeform 24" id="24"/>
            <p:cNvSpPr/>
            <p:nvPr/>
          </p:nvSpPr>
          <p:spPr>
            <a:xfrm flipH="false" flipV="false" rot="0">
              <a:off x="0" y="0"/>
              <a:ext cx="2560320" cy="822960"/>
            </a:xfrm>
            <a:custGeom>
              <a:avLst/>
              <a:gdLst/>
              <a:ahLst/>
              <a:cxnLst/>
              <a:rect r="r" b="b" t="t" l="l"/>
              <a:pathLst>
                <a:path h="822960" w="2560320">
                  <a:moveTo>
                    <a:pt x="0" y="0"/>
                  </a:moveTo>
                  <a:lnTo>
                    <a:pt x="2560320" y="0"/>
                  </a:lnTo>
                  <a:lnTo>
                    <a:pt x="2560320" y="822960"/>
                  </a:lnTo>
                  <a:lnTo>
                    <a:pt x="0" y="822960"/>
                  </a:lnTo>
                  <a:close/>
                </a:path>
              </a:pathLst>
            </a:custGeom>
            <a:blipFill>
              <a:blip r:embed="rId3">
                <a:alphaModFix amt="0"/>
              </a:blip>
              <a:stretch>
                <a:fillRect l="0" t="-10620" r="0" b="-10620"/>
              </a:stretch>
            </a:blipFill>
          </p:spPr>
        </p:sp>
        <p:sp>
          <p:nvSpPr>
            <p:cNvPr name="TextBox 25" id="25"/>
            <p:cNvSpPr txBox="true"/>
            <p:nvPr/>
          </p:nvSpPr>
          <p:spPr>
            <a:xfrm>
              <a:off x="0" y="-19050"/>
              <a:ext cx="2560320" cy="842010"/>
            </a:xfrm>
            <a:prstGeom prst="rect">
              <a:avLst/>
            </a:prstGeom>
          </p:spPr>
          <p:txBody>
            <a:bodyPr anchor="ctr" rtlCol="false" tIns="0" lIns="0" bIns="0" rIns="0"/>
            <a:lstStyle/>
            <a:p>
              <a:pPr algn="ctr">
                <a:lnSpc>
                  <a:spcPts val="1980"/>
                </a:lnSpc>
              </a:pPr>
              <a:r>
                <a:rPr lang="en-US" sz="1650">
                  <a:solidFill>
                    <a:srgbClr val="E2E8F0"/>
                  </a:solidFill>
                  <a:latin typeface="Arial"/>
                  <a:ea typeface="Arial"/>
                  <a:cs typeface="Arial"/>
                  <a:sym typeface="Arial"/>
                </a:rPr>
                <a:t>Labs</a:t>
              </a:r>
            </a:p>
          </p:txBody>
        </p:sp>
      </p:grpSp>
      <p:grpSp>
        <p:nvGrpSpPr>
          <p:cNvPr name="Group 26" id="26"/>
          <p:cNvGrpSpPr/>
          <p:nvPr/>
        </p:nvGrpSpPr>
        <p:grpSpPr>
          <a:xfrm rot="0">
            <a:off x="10752913" y="6332740"/>
            <a:ext cx="2306863" cy="756869"/>
            <a:chOff x="0" y="0"/>
            <a:chExt cx="2585720" cy="848360"/>
          </a:xfrm>
        </p:grpSpPr>
        <p:sp>
          <p:nvSpPr>
            <p:cNvPr name="Freeform 27" id="27"/>
            <p:cNvSpPr/>
            <p:nvPr/>
          </p:nvSpPr>
          <p:spPr>
            <a:xfrm flipH="false" flipV="false" rot="0">
              <a:off x="12700" y="12700"/>
              <a:ext cx="2560320" cy="822960"/>
            </a:xfrm>
            <a:custGeom>
              <a:avLst/>
              <a:gdLst/>
              <a:ahLst/>
              <a:cxnLst/>
              <a:rect r="r" b="b" t="t" l="l"/>
              <a:pathLst>
                <a:path h="822960" w="2560320">
                  <a:moveTo>
                    <a:pt x="0" y="365760"/>
                  </a:moveTo>
                  <a:cubicBezTo>
                    <a:pt x="0" y="163703"/>
                    <a:pt x="167132" y="0"/>
                    <a:pt x="373380" y="0"/>
                  </a:cubicBezTo>
                  <a:lnTo>
                    <a:pt x="2186940" y="0"/>
                  </a:lnTo>
                  <a:cubicBezTo>
                    <a:pt x="2393188" y="0"/>
                    <a:pt x="2560320" y="163703"/>
                    <a:pt x="2560320" y="365760"/>
                  </a:cubicBezTo>
                  <a:lnTo>
                    <a:pt x="2560320" y="457200"/>
                  </a:lnTo>
                  <a:cubicBezTo>
                    <a:pt x="2560320" y="659257"/>
                    <a:pt x="2393188" y="822960"/>
                    <a:pt x="2186940" y="822960"/>
                  </a:cubicBezTo>
                  <a:lnTo>
                    <a:pt x="373380" y="822960"/>
                  </a:lnTo>
                  <a:cubicBezTo>
                    <a:pt x="167132" y="822960"/>
                    <a:pt x="0" y="659257"/>
                    <a:pt x="0" y="457200"/>
                  </a:cubicBezTo>
                  <a:close/>
                </a:path>
              </a:pathLst>
            </a:custGeom>
            <a:solidFill>
              <a:srgbClr val="1A2744"/>
            </a:solidFill>
          </p:spPr>
        </p:sp>
        <p:sp>
          <p:nvSpPr>
            <p:cNvPr name="Freeform 28" id="28"/>
            <p:cNvSpPr/>
            <p:nvPr/>
          </p:nvSpPr>
          <p:spPr>
            <a:xfrm flipH="false" flipV="false" rot="0">
              <a:off x="0" y="0"/>
              <a:ext cx="2585720" cy="848360"/>
            </a:xfrm>
            <a:custGeom>
              <a:avLst/>
              <a:gdLst/>
              <a:ahLst/>
              <a:cxnLst/>
              <a:rect r="r" b="b" t="t" l="l"/>
              <a:pathLst>
                <a:path h="848360" w="2585720">
                  <a:moveTo>
                    <a:pt x="0" y="378460"/>
                  </a:moveTo>
                  <a:cubicBezTo>
                    <a:pt x="0" y="169164"/>
                    <a:pt x="173101" y="0"/>
                    <a:pt x="386080" y="0"/>
                  </a:cubicBezTo>
                  <a:lnTo>
                    <a:pt x="2199640" y="0"/>
                  </a:lnTo>
                  <a:lnTo>
                    <a:pt x="2199640" y="12700"/>
                  </a:lnTo>
                  <a:lnTo>
                    <a:pt x="2199640" y="0"/>
                  </a:lnTo>
                  <a:cubicBezTo>
                    <a:pt x="2412619" y="0"/>
                    <a:pt x="2585720" y="169164"/>
                    <a:pt x="2585720" y="378460"/>
                  </a:cubicBezTo>
                  <a:lnTo>
                    <a:pt x="2573020" y="378460"/>
                  </a:lnTo>
                  <a:lnTo>
                    <a:pt x="2585720" y="378460"/>
                  </a:lnTo>
                  <a:lnTo>
                    <a:pt x="2585720" y="469900"/>
                  </a:lnTo>
                  <a:lnTo>
                    <a:pt x="2573020" y="469900"/>
                  </a:lnTo>
                  <a:lnTo>
                    <a:pt x="2585720" y="469900"/>
                  </a:lnTo>
                  <a:cubicBezTo>
                    <a:pt x="2585720" y="679196"/>
                    <a:pt x="2412619" y="848360"/>
                    <a:pt x="2199640" y="848360"/>
                  </a:cubicBezTo>
                  <a:lnTo>
                    <a:pt x="2199640" y="835660"/>
                  </a:lnTo>
                  <a:lnTo>
                    <a:pt x="2199640" y="848360"/>
                  </a:lnTo>
                  <a:lnTo>
                    <a:pt x="386080" y="848360"/>
                  </a:lnTo>
                  <a:lnTo>
                    <a:pt x="386080" y="835660"/>
                  </a:lnTo>
                  <a:lnTo>
                    <a:pt x="386080" y="848360"/>
                  </a:lnTo>
                  <a:cubicBezTo>
                    <a:pt x="173101" y="848360"/>
                    <a:pt x="0" y="679196"/>
                    <a:pt x="0" y="469900"/>
                  </a:cubicBezTo>
                  <a:lnTo>
                    <a:pt x="0" y="378460"/>
                  </a:lnTo>
                  <a:lnTo>
                    <a:pt x="12700" y="378460"/>
                  </a:lnTo>
                  <a:lnTo>
                    <a:pt x="0" y="378460"/>
                  </a:lnTo>
                  <a:moveTo>
                    <a:pt x="25400" y="378460"/>
                  </a:moveTo>
                  <a:lnTo>
                    <a:pt x="25400" y="469900"/>
                  </a:lnTo>
                  <a:lnTo>
                    <a:pt x="12700" y="469900"/>
                  </a:lnTo>
                  <a:lnTo>
                    <a:pt x="25400" y="469900"/>
                  </a:lnTo>
                  <a:cubicBezTo>
                    <a:pt x="25400" y="664591"/>
                    <a:pt x="186563" y="822960"/>
                    <a:pt x="386080" y="822960"/>
                  </a:cubicBezTo>
                  <a:lnTo>
                    <a:pt x="2199640" y="822960"/>
                  </a:lnTo>
                  <a:cubicBezTo>
                    <a:pt x="2399030" y="822960"/>
                    <a:pt x="2560320" y="664591"/>
                    <a:pt x="2560320" y="469900"/>
                  </a:cubicBezTo>
                  <a:lnTo>
                    <a:pt x="2560320" y="378460"/>
                  </a:lnTo>
                  <a:cubicBezTo>
                    <a:pt x="2560320" y="183769"/>
                    <a:pt x="2399157" y="25400"/>
                    <a:pt x="2199640" y="25400"/>
                  </a:cubicBezTo>
                  <a:lnTo>
                    <a:pt x="386080" y="25400"/>
                  </a:lnTo>
                  <a:lnTo>
                    <a:pt x="386080" y="12700"/>
                  </a:lnTo>
                  <a:lnTo>
                    <a:pt x="386080" y="25400"/>
                  </a:lnTo>
                  <a:cubicBezTo>
                    <a:pt x="186563" y="25400"/>
                    <a:pt x="25400" y="183769"/>
                    <a:pt x="25400" y="378460"/>
                  </a:cubicBezTo>
                  <a:close/>
                </a:path>
              </a:pathLst>
            </a:custGeom>
            <a:solidFill>
              <a:srgbClr val="14B8A6"/>
            </a:solidFill>
          </p:spPr>
        </p:sp>
      </p:grpSp>
      <p:grpSp>
        <p:nvGrpSpPr>
          <p:cNvPr name="Group 29" id="29"/>
          <p:cNvGrpSpPr/>
          <p:nvPr/>
        </p:nvGrpSpPr>
        <p:grpSpPr>
          <a:xfrm rot="0">
            <a:off x="10764243" y="6344070"/>
            <a:ext cx="2284203" cy="734208"/>
            <a:chOff x="0" y="0"/>
            <a:chExt cx="2560320" cy="822960"/>
          </a:xfrm>
        </p:grpSpPr>
        <p:sp>
          <p:nvSpPr>
            <p:cNvPr name="Freeform 30" id="30"/>
            <p:cNvSpPr/>
            <p:nvPr/>
          </p:nvSpPr>
          <p:spPr>
            <a:xfrm flipH="false" flipV="false" rot="0">
              <a:off x="0" y="0"/>
              <a:ext cx="2560320" cy="822960"/>
            </a:xfrm>
            <a:custGeom>
              <a:avLst/>
              <a:gdLst/>
              <a:ahLst/>
              <a:cxnLst/>
              <a:rect r="r" b="b" t="t" l="l"/>
              <a:pathLst>
                <a:path h="822960" w="2560320">
                  <a:moveTo>
                    <a:pt x="0" y="0"/>
                  </a:moveTo>
                  <a:lnTo>
                    <a:pt x="2560320" y="0"/>
                  </a:lnTo>
                  <a:lnTo>
                    <a:pt x="2560320" y="822960"/>
                  </a:lnTo>
                  <a:lnTo>
                    <a:pt x="0" y="822960"/>
                  </a:lnTo>
                  <a:close/>
                </a:path>
              </a:pathLst>
            </a:custGeom>
            <a:blipFill>
              <a:blip r:embed="rId3">
                <a:alphaModFix amt="0"/>
              </a:blip>
              <a:stretch>
                <a:fillRect l="0" t="-10620" r="0" b="-10620"/>
              </a:stretch>
            </a:blipFill>
          </p:spPr>
        </p:sp>
        <p:sp>
          <p:nvSpPr>
            <p:cNvPr name="TextBox 31" id="31"/>
            <p:cNvSpPr txBox="true"/>
            <p:nvPr/>
          </p:nvSpPr>
          <p:spPr>
            <a:xfrm>
              <a:off x="0" y="-19050"/>
              <a:ext cx="2560320" cy="842010"/>
            </a:xfrm>
            <a:prstGeom prst="rect">
              <a:avLst/>
            </a:prstGeom>
          </p:spPr>
          <p:txBody>
            <a:bodyPr anchor="ctr" rtlCol="false" tIns="0" lIns="0" bIns="0" rIns="0"/>
            <a:lstStyle/>
            <a:p>
              <a:pPr algn="ctr">
                <a:lnSpc>
                  <a:spcPts val="1980"/>
                </a:lnSpc>
              </a:pPr>
              <a:r>
                <a:rPr lang="en-US" sz="1650">
                  <a:solidFill>
                    <a:srgbClr val="E2E8F0"/>
                  </a:solidFill>
                  <a:latin typeface="Arial"/>
                  <a:ea typeface="Arial"/>
                  <a:cs typeface="Arial"/>
                  <a:sym typeface="Arial"/>
                </a:rPr>
                <a:t>Ambulance</a:t>
              </a:r>
            </a:p>
          </p:txBody>
        </p:sp>
      </p:grpSp>
      <p:grpSp>
        <p:nvGrpSpPr>
          <p:cNvPr name="Group 32" id="32"/>
          <p:cNvGrpSpPr/>
          <p:nvPr/>
        </p:nvGrpSpPr>
        <p:grpSpPr>
          <a:xfrm rot="0">
            <a:off x="13363430" y="6332740"/>
            <a:ext cx="2306863" cy="756869"/>
            <a:chOff x="0" y="0"/>
            <a:chExt cx="2585720" cy="848360"/>
          </a:xfrm>
        </p:grpSpPr>
        <p:sp>
          <p:nvSpPr>
            <p:cNvPr name="Freeform 33" id="33"/>
            <p:cNvSpPr/>
            <p:nvPr/>
          </p:nvSpPr>
          <p:spPr>
            <a:xfrm flipH="false" flipV="false" rot="0">
              <a:off x="12700" y="12700"/>
              <a:ext cx="2560320" cy="822960"/>
            </a:xfrm>
            <a:custGeom>
              <a:avLst/>
              <a:gdLst/>
              <a:ahLst/>
              <a:cxnLst/>
              <a:rect r="r" b="b" t="t" l="l"/>
              <a:pathLst>
                <a:path h="822960" w="2560320">
                  <a:moveTo>
                    <a:pt x="0" y="365760"/>
                  </a:moveTo>
                  <a:cubicBezTo>
                    <a:pt x="0" y="163703"/>
                    <a:pt x="167132" y="0"/>
                    <a:pt x="373380" y="0"/>
                  </a:cubicBezTo>
                  <a:lnTo>
                    <a:pt x="2186940" y="0"/>
                  </a:lnTo>
                  <a:cubicBezTo>
                    <a:pt x="2393188" y="0"/>
                    <a:pt x="2560320" y="163703"/>
                    <a:pt x="2560320" y="365760"/>
                  </a:cubicBezTo>
                  <a:lnTo>
                    <a:pt x="2560320" y="457200"/>
                  </a:lnTo>
                  <a:cubicBezTo>
                    <a:pt x="2560320" y="659257"/>
                    <a:pt x="2393188" y="822960"/>
                    <a:pt x="2186940" y="822960"/>
                  </a:cubicBezTo>
                  <a:lnTo>
                    <a:pt x="373380" y="822960"/>
                  </a:lnTo>
                  <a:cubicBezTo>
                    <a:pt x="167132" y="822960"/>
                    <a:pt x="0" y="659257"/>
                    <a:pt x="0" y="457200"/>
                  </a:cubicBezTo>
                  <a:close/>
                </a:path>
              </a:pathLst>
            </a:custGeom>
            <a:solidFill>
              <a:srgbClr val="1A2744"/>
            </a:solidFill>
          </p:spPr>
        </p:sp>
        <p:sp>
          <p:nvSpPr>
            <p:cNvPr name="Freeform 34" id="34"/>
            <p:cNvSpPr/>
            <p:nvPr/>
          </p:nvSpPr>
          <p:spPr>
            <a:xfrm flipH="false" flipV="false" rot="0">
              <a:off x="0" y="0"/>
              <a:ext cx="2585720" cy="848360"/>
            </a:xfrm>
            <a:custGeom>
              <a:avLst/>
              <a:gdLst/>
              <a:ahLst/>
              <a:cxnLst/>
              <a:rect r="r" b="b" t="t" l="l"/>
              <a:pathLst>
                <a:path h="848360" w="2585720">
                  <a:moveTo>
                    <a:pt x="0" y="378460"/>
                  </a:moveTo>
                  <a:cubicBezTo>
                    <a:pt x="0" y="169164"/>
                    <a:pt x="173101" y="0"/>
                    <a:pt x="386080" y="0"/>
                  </a:cubicBezTo>
                  <a:lnTo>
                    <a:pt x="2199640" y="0"/>
                  </a:lnTo>
                  <a:lnTo>
                    <a:pt x="2199640" y="12700"/>
                  </a:lnTo>
                  <a:lnTo>
                    <a:pt x="2199640" y="0"/>
                  </a:lnTo>
                  <a:cubicBezTo>
                    <a:pt x="2412619" y="0"/>
                    <a:pt x="2585720" y="169164"/>
                    <a:pt x="2585720" y="378460"/>
                  </a:cubicBezTo>
                  <a:lnTo>
                    <a:pt x="2573020" y="378460"/>
                  </a:lnTo>
                  <a:lnTo>
                    <a:pt x="2585720" y="378460"/>
                  </a:lnTo>
                  <a:lnTo>
                    <a:pt x="2585720" y="469900"/>
                  </a:lnTo>
                  <a:lnTo>
                    <a:pt x="2573020" y="469900"/>
                  </a:lnTo>
                  <a:lnTo>
                    <a:pt x="2585720" y="469900"/>
                  </a:lnTo>
                  <a:cubicBezTo>
                    <a:pt x="2585720" y="679196"/>
                    <a:pt x="2412619" y="848360"/>
                    <a:pt x="2199640" y="848360"/>
                  </a:cubicBezTo>
                  <a:lnTo>
                    <a:pt x="2199640" y="835660"/>
                  </a:lnTo>
                  <a:lnTo>
                    <a:pt x="2199640" y="848360"/>
                  </a:lnTo>
                  <a:lnTo>
                    <a:pt x="386080" y="848360"/>
                  </a:lnTo>
                  <a:lnTo>
                    <a:pt x="386080" y="835660"/>
                  </a:lnTo>
                  <a:lnTo>
                    <a:pt x="386080" y="848360"/>
                  </a:lnTo>
                  <a:cubicBezTo>
                    <a:pt x="173101" y="848360"/>
                    <a:pt x="0" y="679196"/>
                    <a:pt x="0" y="469900"/>
                  </a:cubicBezTo>
                  <a:lnTo>
                    <a:pt x="0" y="378460"/>
                  </a:lnTo>
                  <a:lnTo>
                    <a:pt x="12700" y="378460"/>
                  </a:lnTo>
                  <a:lnTo>
                    <a:pt x="0" y="378460"/>
                  </a:lnTo>
                  <a:moveTo>
                    <a:pt x="25400" y="378460"/>
                  </a:moveTo>
                  <a:lnTo>
                    <a:pt x="25400" y="469900"/>
                  </a:lnTo>
                  <a:lnTo>
                    <a:pt x="12700" y="469900"/>
                  </a:lnTo>
                  <a:lnTo>
                    <a:pt x="25400" y="469900"/>
                  </a:lnTo>
                  <a:cubicBezTo>
                    <a:pt x="25400" y="664591"/>
                    <a:pt x="186563" y="822960"/>
                    <a:pt x="386080" y="822960"/>
                  </a:cubicBezTo>
                  <a:lnTo>
                    <a:pt x="2199640" y="822960"/>
                  </a:lnTo>
                  <a:cubicBezTo>
                    <a:pt x="2399030" y="822960"/>
                    <a:pt x="2560320" y="664591"/>
                    <a:pt x="2560320" y="469900"/>
                  </a:cubicBezTo>
                  <a:lnTo>
                    <a:pt x="2560320" y="378460"/>
                  </a:lnTo>
                  <a:cubicBezTo>
                    <a:pt x="2560320" y="183769"/>
                    <a:pt x="2399157" y="25400"/>
                    <a:pt x="2199640" y="25400"/>
                  </a:cubicBezTo>
                  <a:lnTo>
                    <a:pt x="386080" y="25400"/>
                  </a:lnTo>
                  <a:lnTo>
                    <a:pt x="386080" y="12700"/>
                  </a:lnTo>
                  <a:lnTo>
                    <a:pt x="386080" y="25400"/>
                  </a:lnTo>
                  <a:cubicBezTo>
                    <a:pt x="186563" y="25400"/>
                    <a:pt x="25400" y="183769"/>
                    <a:pt x="25400" y="378460"/>
                  </a:cubicBezTo>
                  <a:close/>
                </a:path>
              </a:pathLst>
            </a:custGeom>
            <a:solidFill>
              <a:srgbClr val="14B8A6"/>
            </a:solidFill>
          </p:spPr>
        </p:sp>
      </p:grpSp>
      <p:grpSp>
        <p:nvGrpSpPr>
          <p:cNvPr name="Group 35" id="35"/>
          <p:cNvGrpSpPr/>
          <p:nvPr/>
        </p:nvGrpSpPr>
        <p:grpSpPr>
          <a:xfrm rot="0">
            <a:off x="13374760" y="6344070"/>
            <a:ext cx="2284203" cy="734208"/>
            <a:chOff x="0" y="0"/>
            <a:chExt cx="2560320" cy="822960"/>
          </a:xfrm>
        </p:grpSpPr>
        <p:sp>
          <p:nvSpPr>
            <p:cNvPr name="Freeform 36" id="36"/>
            <p:cNvSpPr/>
            <p:nvPr/>
          </p:nvSpPr>
          <p:spPr>
            <a:xfrm flipH="false" flipV="false" rot="0">
              <a:off x="0" y="0"/>
              <a:ext cx="2560320" cy="822960"/>
            </a:xfrm>
            <a:custGeom>
              <a:avLst/>
              <a:gdLst/>
              <a:ahLst/>
              <a:cxnLst/>
              <a:rect r="r" b="b" t="t" l="l"/>
              <a:pathLst>
                <a:path h="822960" w="2560320">
                  <a:moveTo>
                    <a:pt x="0" y="0"/>
                  </a:moveTo>
                  <a:lnTo>
                    <a:pt x="2560320" y="0"/>
                  </a:lnTo>
                  <a:lnTo>
                    <a:pt x="2560320" y="822960"/>
                  </a:lnTo>
                  <a:lnTo>
                    <a:pt x="0" y="822960"/>
                  </a:lnTo>
                  <a:close/>
                </a:path>
              </a:pathLst>
            </a:custGeom>
            <a:blipFill>
              <a:blip r:embed="rId3">
                <a:alphaModFix amt="0"/>
              </a:blip>
              <a:stretch>
                <a:fillRect l="0" t="-10620" r="0" b="-10620"/>
              </a:stretch>
            </a:blipFill>
          </p:spPr>
        </p:sp>
        <p:sp>
          <p:nvSpPr>
            <p:cNvPr name="TextBox 37" id="37"/>
            <p:cNvSpPr txBox="true"/>
            <p:nvPr/>
          </p:nvSpPr>
          <p:spPr>
            <a:xfrm>
              <a:off x="0" y="-19050"/>
              <a:ext cx="2560320" cy="842010"/>
            </a:xfrm>
            <a:prstGeom prst="rect">
              <a:avLst/>
            </a:prstGeom>
          </p:spPr>
          <p:txBody>
            <a:bodyPr anchor="ctr" rtlCol="false" tIns="0" lIns="0" bIns="0" rIns="0"/>
            <a:lstStyle/>
            <a:p>
              <a:pPr algn="ctr">
                <a:lnSpc>
                  <a:spcPts val="1980"/>
                </a:lnSpc>
              </a:pPr>
              <a:r>
                <a:rPr lang="en-US" sz="1650">
                  <a:solidFill>
                    <a:srgbClr val="E2E8F0"/>
                  </a:solidFill>
                  <a:latin typeface="Arial"/>
                  <a:ea typeface="Arial"/>
                  <a:cs typeface="Arial"/>
                  <a:sym typeface="Arial"/>
                </a:rPr>
                <a:t>Blood Donors</a:t>
              </a:r>
            </a:p>
          </p:txBody>
        </p:sp>
      </p:grpSp>
      <p:sp>
        <p:nvSpPr>
          <p:cNvPr name="Freeform 38" id="38"/>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127637" y="1957538"/>
            <a:ext cx="10552132" cy="987326"/>
            <a:chOff x="0" y="0"/>
            <a:chExt cx="12568460" cy="1175986"/>
          </a:xfrm>
        </p:grpSpPr>
        <p:sp>
          <p:nvSpPr>
            <p:cNvPr name="Freeform 3" id="3"/>
            <p:cNvSpPr/>
            <p:nvPr/>
          </p:nvSpPr>
          <p:spPr>
            <a:xfrm flipH="false" flipV="false" rot="0">
              <a:off x="0" y="0"/>
              <a:ext cx="12568460" cy="1175986"/>
            </a:xfrm>
            <a:custGeom>
              <a:avLst/>
              <a:gdLst/>
              <a:ahLst/>
              <a:cxnLst/>
              <a:rect r="r" b="b" t="t" l="l"/>
              <a:pathLst>
                <a:path h="1175986" w="12568460">
                  <a:moveTo>
                    <a:pt x="0" y="0"/>
                  </a:moveTo>
                  <a:lnTo>
                    <a:pt x="12568460" y="0"/>
                  </a:lnTo>
                  <a:lnTo>
                    <a:pt x="12568460" y="1175986"/>
                  </a:lnTo>
                  <a:lnTo>
                    <a:pt x="0" y="1175986"/>
                  </a:lnTo>
                  <a:close/>
                </a:path>
              </a:pathLst>
            </a:custGeom>
            <a:blipFill>
              <a:blip r:embed="rId3">
                <a:alphaModFix amt="0"/>
              </a:blip>
              <a:stretch>
                <a:fillRect l="0" t="-165457" r="-1854" b="-158764"/>
              </a:stretch>
            </a:blipFill>
          </p:spPr>
        </p:sp>
        <p:sp>
          <p:nvSpPr>
            <p:cNvPr name="TextBox 4" id="4"/>
            <p:cNvSpPr txBox="true"/>
            <p:nvPr/>
          </p:nvSpPr>
          <p:spPr>
            <a:xfrm>
              <a:off x="0" y="-19050"/>
              <a:ext cx="12568460" cy="1195036"/>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Executive Summary</a:t>
              </a:r>
            </a:p>
          </p:txBody>
        </p:sp>
      </p:grpSp>
      <p:grpSp>
        <p:nvGrpSpPr>
          <p:cNvPr name="Group 5" id="5"/>
          <p:cNvGrpSpPr/>
          <p:nvPr/>
        </p:nvGrpSpPr>
        <p:grpSpPr>
          <a:xfrm rot="0">
            <a:off x="2068438" y="2985688"/>
            <a:ext cx="11951565" cy="1739037"/>
            <a:chOff x="0" y="0"/>
            <a:chExt cx="12568460" cy="1828800"/>
          </a:xfrm>
        </p:grpSpPr>
        <p:sp>
          <p:nvSpPr>
            <p:cNvPr name="Freeform 6" id="6"/>
            <p:cNvSpPr/>
            <p:nvPr/>
          </p:nvSpPr>
          <p:spPr>
            <a:xfrm flipH="false" flipV="false" rot="0">
              <a:off x="0" y="0"/>
              <a:ext cx="12568460" cy="1828800"/>
            </a:xfrm>
            <a:custGeom>
              <a:avLst/>
              <a:gdLst/>
              <a:ahLst/>
              <a:cxnLst/>
              <a:rect r="r" b="b" t="t" l="l"/>
              <a:pathLst>
                <a:path h="1828800" w="12568460">
                  <a:moveTo>
                    <a:pt x="0" y="0"/>
                  </a:moveTo>
                  <a:lnTo>
                    <a:pt x="12568460" y="0"/>
                  </a:lnTo>
                  <a:lnTo>
                    <a:pt x="12568460" y="1828800"/>
                  </a:lnTo>
                  <a:lnTo>
                    <a:pt x="0" y="1828800"/>
                  </a:lnTo>
                  <a:close/>
                </a:path>
              </a:pathLst>
            </a:custGeom>
            <a:blipFill>
              <a:blip r:embed="rId3">
                <a:alphaModFix amt="0"/>
              </a:blip>
              <a:stretch>
                <a:fillRect l="0" t="-86395" r="-1854" b="-86395"/>
              </a:stretch>
            </a:blipFill>
          </p:spPr>
        </p:sp>
        <p:sp>
          <p:nvSpPr>
            <p:cNvPr name="TextBox 7" id="7"/>
            <p:cNvSpPr txBox="true"/>
            <p:nvPr/>
          </p:nvSpPr>
          <p:spPr>
            <a:xfrm>
              <a:off x="0" y="-76200"/>
              <a:ext cx="12568460" cy="1905000"/>
            </a:xfrm>
            <a:prstGeom prst="rect">
              <a:avLst/>
            </a:prstGeom>
          </p:spPr>
          <p:txBody>
            <a:bodyPr anchor="ctr" rtlCol="false" tIns="0" lIns="0" bIns="0" rIns="0"/>
            <a:lstStyle/>
            <a:p>
              <a:pPr algn="l">
                <a:lnSpc>
                  <a:spcPts val="3276"/>
                </a:lnSpc>
              </a:pPr>
              <a:r>
                <a:rPr lang="en-US" sz="2100">
                  <a:solidFill>
                    <a:srgbClr val="94A3B8"/>
                  </a:solidFill>
                  <a:latin typeface="Arial"/>
                  <a:ea typeface="Arial"/>
                  <a:cs typeface="Arial"/>
                  <a:sym typeface="Arial"/>
                </a:rPr>
                <a:t>SER is an AI-powered healthcare routing platform designed to optimize access to medical services in Egypt. The system analyzes user symptoms and intelligently routes them to the appropriate medical specialty and nearest trusted healthcare provider.</a:t>
              </a:r>
            </a:p>
          </p:txBody>
        </p:sp>
      </p:grpSp>
      <p:grpSp>
        <p:nvGrpSpPr>
          <p:cNvPr name="Group 8" id="8"/>
          <p:cNvGrpSpPr/>
          <p:nvPr/>
        </p:nvGrpSpPr>
        <p:grpSpPr>
          <a:xfrm rot="0">
            <a:off x="2056582" y="5408264"/>
            <a:ext cx="3950656" cy="3850036"/>
            <a:chOff x="0" y="0"/>
            <a:chExt cx="4154574" cy="4048760"/>
          </a:xfrm>
        </p:grpSpPr>
        <p:sp>
          <p:nvSpPr>
            <p:cNvPr name="Freeform 9" id="9"/>
            <p:cNvSpPr/>
            <p:nvPr/>
          </p:nvSpPr>
          <p:spPr>
            <a:xfrm flipH="false" flipV="false" rot="0">
              <a:off x="12469" y="12700"/>
              <a:ext cx="4129637" cy="4023360"/>
            </a:xfrm>
            <a:custGeom>
              <a:avLst/>
              <a:gdLst/>
              <a:ahLst/>
              <a:cxnLst/>
              <a:rect r="r" b="b" t="t" l="l"/>
              <a:pathLst>
                <a:path h="4023360" w="4129637">
                  <a:moveTo>
                    <a:pt x="0" y="274320"/>
                  </a:moveTo>
                  <a:cubicBezTo>
                    <a:pt x="0" y="122809"/>
                    <a:pt x="120572" y="0"/>
                    <a:pt x="269449" y="0"/>
                  </a:cubicBezTo>
                  <a:lnTo>
                    <a:pt x="3860188" y="0"/>
                  </a:lnTo>
                  <a:cubicBezTo>
                    <a:pt x="4008939" y="0"/>
                    <a:pt x="4129637" y="122809"/>
                    <a:pt x="4129637" y="274320"/>
                  </a:cubicBezTo>
                  <a:lnTo>
                    <a:pt x="4129637" y="3749040"/>
                  </a:lnTo>
                  <a:cubicBezTo>
                    <a:pt x="4129637" y="3900551"/>
                    <a:pt x="4009064" y="4023360"/>
                    <a:pt x="3860188" y="4023360"/>
                  </a:cubicBezTo>
                  <a:lnTo>
                    <a:pt x="269449" y="4023360"/>
                  </a:lnTo>
                  <a:cubicBezTo>
                    <a:pt x="120572" y="4023360"/>
                    <a:pt x="0" y="3900551"/>
                    <a:pt x="0" y="3749040"/>
                  </a:cubicBezTo>
                  <a:close/>
                </a:path>
              </a:pathLst>
            </a:custGeom>
            <a:solidFill>
              <a:srgbClr val="111D32"/>
            </a:solidFill>
          </p:spPr>
        </p:sp>
        <p:sp>
          <p:nvSpPr>
            <p:cNvPr name="Freeform 10" id="10"/>
            <p:cNvSpPr/>
            <p:nvPr/>
          </p:nvSpPr>
          <p:spPr>
            <a:xfrm flipH="false" flipV="false" rot="0">
              <a:off x="0" y="0"/>
              <a:ext cx="4154574" cy="4048760"/>
            </a:xfrm>
            <a:custGeom>
              <a:avLst/>
              <a:gdLst/>
              <a:ahLst/>
              <a:cxnLst/>
              <a:rect r="r" b="b" t="t" l="l"/>
              <a:pathLst>
                <a:path h="4048760" w="4154574">
                  <a:moveTo>
                    <a:pt x="0" y="287020"/>
                  </a:moveTo>
                  <a:cubicBezTo>
                    <a:pt x="0" y="128524"/>
                    <a:pt x="126183" y="0"/>
                    <a:pt x="281918" y="0"/>
                  </a:cubicBezTo>
                  <a:lnTo>
                    <a:pt x="3872657" y="0"/>
                  </a:lnTo>
                  <a:lnTo>
                    <a:pt x="3872657" y="12700"/>
                  </a:lnTo>
                  <a:lnTo>
                    <a:pt x="3872657" y="0"/>
                  </a:lnTo>
                  <a:cubicBezTo>
                    <a:pt x="4028266" y="0"/>
                    <a:pt x="4154574" y="128524"/>
                    <a:pt x="4154574" y="287020"/>
                  </a:cubicBezTo>
                  <a:lnTo>
                    <a:pt x="4142106" y="287020"/>
                  </a:lnTo>
                  <a:lnTo>
                    <a:pt x="4154574" y="287020"/>
                  </a:lnTo>
                  <a:lnTo>
                    <a:pt x="4154574" y="3761740"/>
                  </a:lnTo>
                  <a:lnTo>
                    <a:pt x="4142106" y="3761740"/>
                  </a:lnTo>
                  <a:lnTo>
                    <a:pt x="4154574" y="3761740"/>
                  </a:lnTo>
                  <a:cubicBezTo>
                    <a:pt x="4154574" y="3920236"/>
                    <a:pt x="4028391" y="4048760"/>
                    <a:pt x="3872657" y="4048760"/>
                  </a:cubicBezTo>
                  <a:lnTo>
                    <a:pt x="3872657" y="4036060"/>
                  </a:lnTo>
                  <a:lnTo>
                    <a:pt x="3872657" y="4048760"/>
                  </a:lnTo>
                  <a:lnTo>
                    <a:pt x="281918" y="4048760"/>
                  </a:lnTo>
                  <a:lnTo>
                    <a:pt x="281918" y="4036060"/>
                  </a:lnTo>
                  <a:lnTo>
                    <a:pt x="281918" y="4048760"/>
                  </a:lnTo>
                  <a:cubicBezTo>
                    <a:pt x="126183" y="4048760"/>
                    <a:pt x="0" y="3920236"/>
                    <a:pt x="0" y="3761740"/>
                  </a:cubicBezTo>
                  <a:lnTo>
                    <a:pt x="0" y="287020"/>
                  </a:lnTo>
                  <a:lnTo>
                    <a:pt x="12469" y="287020"/>
                  </a:lnTo>
                  <a:lnTo>
                    <a:pt x="0" y="287020"/>
                  </a:lnTo>
                  <a:moveTo>
                    <a:pt x="24937" y="287020"/>
                  </a:moveTo>
                  <a:lnTo>
                    <a:pt x="24937" y="3761740"/>
                  </a:lnTo>
                  <a:lnTo>
                    <a:pt x="12469" y="3761740"/>
                  </a:lnTo>
                  <a:lnTo>
                    <a:pt x="24937" y="3761740"/>
                  </a:lnTo>
                  <a:cubicBezTo>
                    <a:pt x="24937" y="3906266"/>
                    <a:pt x="140024" y="4023360"/>
                    <a:pt x="281918" y="4023360"/>
                  </a:cubicBezTo>
                  <a:lnTo>
                    <a:pt x="3872657" y="4023360"/>
                  </a:lnTo>
                  <a:cubicBezTo>
                    <a:pt x="4014551" y="4023360"/>
                    <a:pt x="4129637" y="3906266"/>
                    <a:pt x="4129637" y="3761740"/>
                  </a:cubicBezTo>
                  <a:lnTo>
                    <a:pt x="4129637" y="287020"/>
                  </a:lnTo>
                  <a:cubicBezTo>
                    <a:pt x="4129637" y="142494"/>
                    <a:pt x="4014551" y="25400"/>
                    <a:pt x="3872657" y="25400"/>
                  </a:cubicBezTo>
                  <a:lnTo>
                    <a:pt x="281918" y="25400"/>
                  </a:lnTo>
                  <a:lnTo>
                    <a:pt x="281918" y="12700"/>
                  </a:lnTo>
                  <a:lnTo>
                    <a:pt x="281918" y="25400"/>
                  </a:lnTo>
                  <a:cubicBezTo>
                    <a:pt x="140024" y="25400"/>
                    <a:pt x="24937" y="142494"/>
                    <a:pt x="24937" y="287020"/>
                  </a:cubicBezTo>
                  <a:close/>
                </a:path>
              </a:pathLst>
            </a:custGeom>
            <a:solidFill>
              <a:srgbClr val="1E3048"/>
            </a:solidFill>
          </p:spPr>
        </p:sp>
      </p:grpSp>
      <p:grpSp>
        <p:nvGrpSpPr>
          <p:cNvPr name="Group 11" id="11"/>
          <p:cNvGrpSpPr/>
          <p:nvPr/>
        </p:nvGrpSpPr>
        <p:grpSpPr>
          <a:xfrm rot="0">
            <a:off x="2068438" y="5942052"/>
            <a:ext cx="3926943" cy="695615"/>
            <a:chOff x="0" y="0"/>
            <a:chExt cx="4129637" cy="731520"/>
          </a:xfrm>
        </p:grpSpPr>
        <p:sp>
          <p:nvSpPr>
            <p:cNvPr name="Freeform 12" id="12"/>
            <p:cNvSpPr/>
            <p:nvPr/>
          </p:nvSpPr>
          <p:spPr>
            <a:xfrm flipH="false" flipV="false" rot="0">
              <a:off x="0" y="0"/>
              <a:ext cx="4129637" cy="731520"/>
            </a:xfrm>
            <a:custGeom>
              <a:avLst/>
              <a:gdLst/>
              <a:ahLst/>
              <a:cxnLst/>
              <a:rect r="r" b="b" t="t" l="l"/>
              <a:pathLst>
                <a:path h="731520" w="4129637">
                  <a:moveTo>
                    <a:pt x="0" y="0"/>
                  </a:moveTo>
                  <a:lnTo>
                    <a:pt x="4129637" y="0"/>
                  </a:lnTo>
                  <a:lnTo>
                    <a:pt x="4129637" y="731520"/>
                  </a:lnTo>
                  <a:lnTo>
                    <a:pt x="0" y="731520"/>
                  </a:lnTo>
                  <a:close/>
                </a:path>
              </a:pathLst>
            </a:custGeom>
            <a:blipFill>
              <a:blip r:embed="rId3">
                <a:alphaModFix amt="0"/>
              </a:blip>
              <a:stretch>
                <a:fillRect l="0" t="-62038" r="-1854" b="-62038"/>
              </a:stretch>
            </a:blipFill>
          </p:spPr>
        </p:sp>
        <p:sp>
          <p:nvSpPr>
            <p:cNvPr name="TextBox 13" id="13"/>
            <p:cNvSpPr txBox="true"/>
            <p:nvPr/>
          </p:nvSpPr>
          <p:spPr>
            <a:xfrm>
              <a:off x="0" y="-9525"/>
              <a:ext cx="4129637" cy="741045"/>
            </a:xfrm>
            <a:prstGeom prst="rect">
              <a:avLst/>
            </a:prstGeom>
          </p:spPr>
          <p:txBody>
            <a:bodyPr anchor="ctr" rtlCol="false" tIns="0" lIns="0" bIns="0" rIns="0"/>
            <a:lstStyle/>
            <a:p>
              <a:pPr algn="ctr">
                <a:lnSpc>
                  <a:spcPts val="2879"/>
                </a:lnSpc>
              </a:pPr>
              <a:r>
                <a:rPr lang="en-US" sz="2400" b="true">
                  <a:solidFill>
                    <a:srgbClr val="E2E8F0"/>
                  </a:solidFill>
                  <a:latin typeface="Arial Bold"/>
                  <a:ea typeface="Arial Bold"/>
                  <a:cs typeface="Arial Bold"/>
                  <a:sym typeface="Arial Bold"/>
                </a:rPr>
                <a:t>AI-Powered</a:t>
              </a:r>
            </a:p>
          </p:txBody>
        </p:sp>
      </p:grpSp>
      <p:grpSp>
        <p:nvGrpSpPr>
          <p:cNvPr name="Group 14" id="14"/>
          <p:cNvGrpSpPr/>
          <p:nvPr/>
        </p:nvGrpSpPr>
        <p:grpSpPr>
          <a:xfrm rot="0">
            <a:off x="2409912" y="6811571"/>
            <a:ext cx="3243996" cy="1391230"/>
            <a:chOff x="0" y="0"/>
            <a:chExt cx="3411439" cy="1463040"/>
          </a:xfrm>
        </p:grpSpPr>
        <p:sp>
          <p:nvSpPr>
            <p:cNvPr name="Freeform 15" id="15"/>
            <p:cNvSpPr/>
            <p:nvPr/>
          </p:nvSpPr>
          <p:spPr>
            <a:xfrm flipH="false" flipV="false" rot="0">
              <a:off x="0" y="0"/>
              <a:ext cx="3411439" cy="1463040"/>
            </a:xfrm>
            <a:custGeom>
              <a:avLst/>
              <a:gdLst/>
              <a:ahLst/>
              <a:cxnLst/>
              <a:rect r="r" b="b" t="t" l="l"/>
              <a:pathLst>
                <a:path h="1463040" w="3411439">
                  <a:moveTo>
                    <a:pt x="0" y="0"/>
                  </a:moveTo>
                  <a:lnTo>
                    <a:pt x="3411439" y="0"/>
                  </a:lnTo>
                  <a:lnTo>
                    <a:pt x="3411439" y="1463040"/>
                  </a:lnTo>
                  <a:lnTo>
                    <a:pt x="0" y="1463040"/>
                  </a:lnTo>
                  <a:close/>
                </a:path>
              </a:pathLst>
            </a:custGeom>
            <a:blipFill>
              <a:blip r:embed="rId3">
                <a:alphaModFix amt="0"/>
              </a:blip>
              <a:stretch>
                <a:fillRect l="-4097" t="0" r="-5952" b="0"/>
              </a:stretch>
            </a:blipFill>
          </p:spPr>
        </p:sp>
        <p:sp>
          <p:nvSpPr>
            <p:cNvPr name="TextBox 16" id="16"/>
            <p:cNvSpPr txBox="true"/>
            <p:nvPr/>
          </p:nvSpPr>
          <p:spPr>
            <a:xfrm>
              <a:off x="0" y="-19050"/>
              <a:ext cx="3411439" cy="148209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Symptom analysis &amp; intelligent specialty routing</a:t>
              </a:r>
            </a:p>
          </p:txBody>
        </p:sp>
      </p:grpSp>
      <p:grpSp>
        <p:nvGrpSpPr>
          <p:cNvPr name="Group 17" id="17"/>
          <p:cNvGrpSpPr/>
          <p:nvPr/>
        </p:nvGrpSpPr>
        <p:grpSpPr>
          <a:xfrm rot="0">
            <a:off x="6324998" y="5408264"/>
            <a:ext cx="3950656" cy="3850036"/>
            <a:chOff x="0" y="0"/>
            <a:chExt cx="4154574" cy="4048760"/>
          </a:xfrm>
        </p:grpSpPr>
        <p:sp>
          <p:nvSpPr>
            <p:cNvPr name="Freeform 18" id="18"/>
            <p:cNvSpPr/>
            <p:nvPr/>
          </p:nvSpPr>
          <p:spPr>
            <a:xfrm flipH="false" flipV="false" rot="0">
              <a:off x="12469" y="12700"/>
              <a:ext cx="4129637" cy="4023360"/>
            </a:xfrm>
            <a:custGeom>
              <a:avLst/>
              <a:gdLst/>
              <a:ahLst/>
              <a:cxnLst/>
              <a:rect r="r" b="b" t="t" l="l"/>
              <a:pathLst>
                <a:path h="4023360" w="4129637">
                  <a:moveTo>
                    <a:pt x="0" y="274320"/>
                  </a:moveTo>
                  <a:cubicBezTo>
                    <a:pt x="0" y="122809"/>
                    <a:pt x="120572" y="0"/>
                    <a:pt x="269449" y="0"/>
                  </a:cubicBezTo>
                  <a:lnTo>
                    <a:pt x="3860188" y="0"/>
                  </a:lnTo>
                  <a:cubicBezTo>
                    <a:pt x="4008939" y="0"/>
                    <a:pt x="4129637" y="122809"/>
                    <a:pt x="4129637" y="274320"/>
                  </a:cubicBezTo>
                  <a:lnTo>
                    <a:pt x="4129637" y="3749040"/>
                  </a:lnTo>
                  <a:cubicBezTo>
                    <a:pt x="4129637" y="3900551"/>
                    <a:pt x="4009064" y="4023360"/>
                    <a:pt x="3860188" y="4023360"/>
                  </a:cubicBezTo>
                  <a:lnTo>
                    <a:pt x="269449" y="4023360"/>
                  </a:lnTo>
                  <a:cubicBezTo>
                    <a:pt x="120572" y="4023360"/>
                    <a:pt x="0" y="3900551"/>
                    <a:pt x="0" y="3749040"/>
                  </a:cubicBezTo>
                  <a:close/>
                </a:path>
              </a:pathLst>
            </a:custGeom>
            <a:solidFill>
              <a:srgbClr val="111D32"/>
            </a:solidFill>
          </p:spPr>
        </p:sp>
        <p:sp>
          <p:nvSpPr>
            <p:cNvPr name="Freeform 19" id="19"/>
            <p:cNvSpPr/>
            <p:nvPr/>
          </p:nvSpPr>
          <p:spPr>
            <a:xfrm flipH="false" flipV="false" rot="0">
              <a:off x="0" y="0"/>
              <a:ext cx="4154574" cy="4048760"/>
            </a:xfrm>
            <a:custGeom>
              <a:avLst/>
              <a:gdLst/>
              <a:ahLst/>
              <a:cxnLst/>
              <a:rect r="r" b="b" t="t" l="l"/>
              <a:pathLst>
                <a:path h="4048760" w="4154574">
                  <a:moveTo>
                    <a:pt x="0" y="287020"/>
                  </a:moveTo>
                  <a:cubicBezTo>
                    <a:pt x="0" y="128524"/>
                    <a:pt x="126183" y="0"/>
                    <a:pt x="281918" y="0"/>
                  </a:cubicBezTo>
                  <a:lnTo>
                    <a:pt x="3872657" y="0"/>
                  </a:lnTo>
                  <a:lnTo>
                    <a:pt x="3872657" y="12700"/>
                  </a:lnTo>
                  <a:lnTo>
                    <a:pt x="3872657" y="0"/>
                  </a:lnTo>
                  <a:cubicBezTo>
                    <a:pt x="4028266" y="0"/>
                    <a:pt x="4154574" y="128524"/>
                    <a:pt x="4154574" y="287020"/>
                  </a:cubicBezTo>
                  <a:lnTo>
                    <a:pt x="4142106" y="287020"/>
                  </a:lnTo>
                  <a:lnTo>
                    <a:pt x="4154574" y="287020"/>
                  </a:lnTo>
                  <a:lnTo>
                    <a:pt x="4154574" y="3761740"/>
                  </a:lnTo>
                  <a:lnTo>
                    <a:pt x="4142106" y="3761740"/>
                  </a:lnTo>
                  <a:lnTo>
                    <a:pt x="4154574" y="3761740"/>
                  </a:lnTo>
                  <a:cubicBezTo>
                    <a:pt x="4154574" y="3920236"/>
                    <a:pt x="4028391" y="4048760"/>
                    <a:pt x="3872657" y="4048760"/>
                  </a:cubicBezTo>
                  <a:lnTo>
                    <a:pt x="3872657" y="4036060"/>
                  </a:lnTo>
                  <a:lnTo>
                    <a:pt x="3872657" y="4048760"/>
                  </a:lnTo>
                  <a:lnTo>
                    <a:pt x="281918" y="4048760"/>
                  </a:lnTo>
                  <a:lnTo>
                    <a:pt x="281918" y="4036060"/>
                  </a:lnTo>
                  <a:lnTo>
                    <a:pt x="281918" y="4048760"/>
                  </a:lnTo>
                  <a:cubicBezTo>
                    <a:pt x="126183" y="4048760"/>
                    <a:pt x="0" y="3920236"/>
                    <a:pt x="0" y="3761740"/>
                  </a:cubicBezTo>
                  <a:lnTo>
                    <a:pt x="0" y="287020"/>
                  </a:lnTo>
                  <a:lnTo>
                    <a:pt x="12469" y="287020"/>
                  </a:lnTo>
                  <a:lnTo>
                    <a:pt x="0" y="287020"/>
                  </a:lnTo>
                  <a:moveTo>
                    <a:pt x="24937" y="287020"/>
                  </a:moveTo>
                  <a:lnTo>
                    <a:pt x="24937" y="3761740"/>
                  </a:lnTo>
                  <a:lnTo>
                    <a:pt x="12469" y="3761740"/>
                  </a:lnTo>
                  <a:lnTo>
                    <a:pt x="24937" y="3761740"/>
                  </a:lnTo>
                  <a:cubicBezTo>
                    <a:pt x="24937" y="3906266"/>
                    <a:pt x="140024" y="4023360"/>
                    <a:pt x="281918" y="4023360"/>
                  </a:cubicBezTo>
                  <a:lnTo>
                    <a:pt x="3872657" y="4023360"/>
                  </a:lnTo>
                  <a:cubicBezTo>
                    <a:pt x="4014551" y="4023360"/>
                    <a:pt x="4129637" y="3906266"/>
                    <a:pt x="4129637" y="3761740"/>
                  </a:cubicBezTo>
                  <a:lnTo>
                    <a:pt x="4129637" y="287020"/>
                  </a:lnTo>
                  <a:cubicBezTo>
                    <a:pt x="4129637" y="142494"/>
                    <a:pt x="4014551" y="25400"/>
                    <a:pt x="3872657" y="25400"/>
                  </a:cubicBezTo>
                  <a:lnTo>
                    <a:pt x="281918" y="25400"/>
                  </a:lnTo>
                  <a:lnTo>
                    <a:pt x="281918" y="12700"/>
                  </a:lnTo>
                  <a:lnTo>
                    <a:pt x="281918" y="25400"/>
                  </a:lnTo>
                  <a:cubicBezTo>
                    <a:pt x="140024" y="25400"/>
                    <a:pt x="24937" y="142494"/>
                    <a:pt x="24937" y="287020"/>
                  </a:cubicBezTo>
                  <a:close/>
                </a:path>
              </a:pathLst>
            </a:custGeom>
            <a:solidFill>
              <a:srgbClr val="1E3048"/>
            </a:solidFill>
          </p:spPr>
        </p:sp>
      </p:grpSp>
      <p:grpSp>
        <p:nvGrpSpPr>
          <p:cNvPr name="Group 20" id="20"/>
          <p:cNvGrpSpPr/>
          <p:nvPr/>
        </p:nvGrpSpPr>
        <p:grpSpPr>
          <a:xfrm rot="0">
            <a:off x="6336855" y="5942052"/>
            <a:ext cx="3926943" cy="695615"/>
            <a:chOff x="0" y="0"/>
            <a:chExt cx="4129637" cy="731520"/>
          </a:xfrm>
        </p:grpSpPr>
        <p:sp>
          <p:nvSpPr>
            <p:cNvPr name="Freeform 21" id="21"/>
            <p:cNvSpPr/>
            <p:nvPr/>
          </p:nvSpPr>
          <p:spPr>
            <a:xfrm flipH="false" flipV="false" rot="0">
              <a:off x="0" y="0"/>
              <a:ext cx="4129637" cy="731520"/>
            </a:xfrm>
            <a:custGeom>
              <a:avLst/>
              <a:gdLst/>
              <a:ahLst/>
              <a:cxnLst/>
              <a:rect r="r" b="b" t="t" l="l"/>
              <a:pathLst>
                <a:path h="731520" w="4129637">
                  <a:moveTo>
                    <a:pt x="0" y="0"/>
                  </a:moveTo>
                  <a:lnTo>
                    <a:pt x="4129637" y="0"/>
                  </a:lnTo>
                  <a:lnTo>
                    <a:pt x="4129637" y="731520"/>
                  </a:lnTo>
                  <a:lnTo>
                    <a:pt x="0" y="731520"/>
                  </a:lnTo>
                  <a:close/>
                </a:path>
              </a:pathLst>
            </a:custGeom>
            <a:blipFill>
              <a:blip r:embed="rId3">
                <a:alphaModFix amt="0"/>
              </a:blip>
              <a:stretch>
                <a:fillRect l="0" t="-62038" r="-1854" b="-62038"/>
              </a:stretch>
            </a:blipFill>
          </p:spPr>
        </p:sp>
        <p:sp>
          <p:nvSpPr>
            <p:cNvPr name="TextBox 22" id="22"/>
            <p:cNvSpPr txBox="true"/>
            <p:nvPr/>
          </p:nvSpPr>
          <p:spPr>
            <a:xfrm>
              <a:off x="0" y="-9525"/>
              <a:ext cx="4129637" cy="741045"/>
            </a:xfrm>
            <a:prstGeom prst="rect">
              <a:avLst/>
            </a:prstGeom>
          </p:spPr>
          <p:txBody>
            <a:bodyPr anchor="ctr" rtlCol="false" tIns="0" lIns="0" bIns="0" rIns="0"/>
            <a:lstStyle/>
            <a:p>
              <a:pPr algn="ctr">
                <a:lnSpc>
                  <a:spcPts val="2879"/>
                </a:lnSpc>
              </a:pPr>
              <a:r>
                <a:rPr lang="en-US" sz="2400" b="true">
                  <a:solidFill>
                    <a:srgbClr val="E2E8F0"/>
                  </a:solidFill>
                  <a:latin typeface="Arial Bold"/>
                  <a:ea typeface="Arial Bold"/>
                  <a:cs typeface="Arial Bold"/>
                  <a:sym typeface="Arial Bold"/>
                </a:rPr>
                <a:t>Location-Based</a:t>
              </a:r>
            </a:p>
          </p:txBody>
        </p:sp>
      </p:grpSp>
      <p:grpSp>
        <p:nvGrpSpPr>
          <p:cNvPr name="Group 23" id="23"/>
          <p:cNvGrpSpPr/>
          <p:nvPr/>
        </p:nvGrpSpPr>
        <p:grpSpPr>
          <a:xfrm rot="0">
            <a:off x="6678328" y="6811571"/>
            <a:ext cx="3243996" cy="1391230"/>
            <a:chOff x="0" y="0"/>
            <a:chExt cx="3411439" cy="1463040"/>
          </a:xfrm>
        </p:grpSpPr>
        <p:sp>
          <p:nvSpPr>
            <p:cNvPr name="Freeform 24" id="24"/>
            <p:cNvSpPr/>
            <p:nvPr/>
          </p:nvSpPr>
          <p:spPr>
            <a:xfrm flipH="false" flipV="false" rot="0">
              <a:off x="0" y="0"/>
              <a:ext cx="3411439" cy="1463040"/>
            </a:xfrm>
            <a:custGeom>
              <a:avLst/>
              <a:gdLst/>
              <a:ahLst/>
              <a:cxnLst/>
              <a:rect r="r" b="b" t="t" l="l"/>
              <a:pathLst>
                <a:path h="1463040" w="3411439">
                  <a:moveTo>
                    <a:pt x="0" y="0"/>
                  </a:moveTo>
                  <a:lnTo>
                    <a:pt x="3411439" y="0"/>
                  </a:lnTo>
                  <a:lnTo>
                    <a:pt x="3411439" y="1463040"/>
                  </a:lnTo>
                  <a:lnTo>
                    <a:pt x="0" y="1463040"/>
                  </a:lnTo>
                  <a:close/>
                </a:path>
              </a:pathLst>
            </a:custGeom>
            <a:blipFill>
              <a:blip r:embed="rId3">
                <a:alphaModFix amt="0"/>
              </a:blip>
              <a:stretch>
                <a:fillRect l="-4097" t="0" r="-5952" b="0"/>
              </a:stretch>
            </a:blipFill>
          </p:spPr>
        </p:sp>
        <p:sp>
          <p:nvSpPr>
            <p:cNvPr name="TextBox 25" id="25"/>
            <p:cNvSpPr txBox="true"/>
            <p:nvPr/>
          </p:nvSpPr>
          <p:spPr>
            <a:xfrm>
              <a:off x="0" y="-19050"/>
              <a:ext cx="3411439" cy="148209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Find nearest trusted healthcare providers</a:t>
              </a:r>
            </a:p>
          </p:txBody>
        </p:sp>
      </p:grpSp>
      <p:grpSp>
        <p:nvGrpSpPr>
          <p:cNvPr name="Group 26" id="26"/>
          <p:cNvGrpSpPr/>
          <p:nvPr/>
        </p:nvGrpSpPr>
        <p:grpSpPr>
          <a:xfrm rot="0">
            <a:off x="10593414" y="5408264"/>
            <a:ext cx="3950656" cy="3850036"/>
            <a:chOff x="0" y="0"/>
            <a:chExt cx="4154574" cy="4048760"/>
          </a:xfrm>
        </p:grpSpPr>
        <p:sp>
          <p:nvSpPr>
            <p:cNvPr name="Freeform 27" id="27"/>
            <p:cNvSpPr/>
            <p:nvPr/>
          </p:nvSpPr>
          <p:spPr>
            <a:xfrm flipH="false" flipV="false" rot="0">
              <a:off x="12469" y="12700"/>
              <a:ext cx="4129637" cy="4023360"/>
            </a:xfrm>
            <a:custGeom>
              <a:avLst/>
              <a:gdLst/>
              <a:ahLst/>
              <a:cxnLst/>
              <a:rect r="r" b="b" t="t" l="l"/>
              <a:pathLst>
                <a:path h="4023360" w="4129637">
                  <a:moveTo>
                    <a:pt x="0" y="274320"/>
                  </a:moveTo>
                  <a:cubicBezTo>
                    <a:pt x="0" y="122809"/>
                    <a:pt x="120572" y="0"/>
                    <a:pt x="269449" y="0"/>
                  </a:cubicBezTo>
                  <a:lnTo>
                    <a:pt x="3860188" y="0"/>
                  </a:lnTo>
                  <a:cubicBezTo>
                    <a:pt x="4008939" y="0"/>
                    <a:pt x="4129637" y="122809"/>
                    <a:pt x="4129637" y="274320"/>
                  </a:cubicBezTo>
                  <a:lnTo>
                    <a:pt x="4129637" y="3749040"/>
                  </a:lnTo>
                  <a:cubicBezTo>
                    <a:pt x="4129637" y="3900551"/>
                    <a:pt x="4009064" y="4023360"/>
                    <a:pt x="3860188" y="4023360"/>
                  </a:cubicBezTo>
                  <a:lnTo>
                    <a:pt x="269449" y="4023360"/>
                  </a:lnTo>
                  <a:cubicBezTo>
                    <a:pt x="120572" y="4023360"/>
                    <a:pt x="0" y="3900551"/>
                    <a:pt x="0" y="3749040"/>
                  </a:cubicBezTo>
                  <a:close/>
                </a:path>
              </a:pathLst>
            </a:custGeom>
            <a:solidFill>
              <a:srgbClr val="111D32"/>
            </a:solidFill>
          </p:spPr>
        </p:sp>
        <p:sp>
          <p:nvSpPr>
            <p:cNvPr name="Freeform 28" id="28"/>
            <p:cNvSpPr/>
            <p:nvPr/>
          </p:nvSpPr>
          <p:spPr>
            <a:xfrm flipH="false" flipV="false" rot="0">
              <a:off x="0" y="0"/>
              <a:ext cx="4154574" cy="4048760"/>
            </a:xfrm>
            <a:custGeom>
              <a:avLst/>
              <a:gdLst/>
              <a:ahLst/>
              <a:cxnLst/>
              <a:rect r="r" b="b" t="t" l="l"/>
              <a:pathLst>
                <a:path h="4048760" w="4154574">
                  <a:moveTo>
                    <a:pt x="0" y="287020"/>
                  </a:moveTo>
                  <a:cubicBezTo>
                    <a:pt x="0" y="128524"/>
                    <a:pt x="126183" y="0"/>
                    <a:pt x="281918" y="0"/>
                  </a:cubicBezTo>
                  <a:lnTo>
                    <a:pt x="3872657" y="0"/>
                  </a:lnTo>
                  <a:lnTo>
                    <a:pt x="3872657" y="12700"/>
                  </a:lnTo>
                  <a:lnTo>
                    <a:pt x="3872657" y="0"/>
                  </a:lnTo>
                  <a:cubicBezTo>
                    <a:pt x="4028266" y="0"/>
                    <a:pt x="4154574" y="128524"/>
                    <a:pt x="4154574" y="287020"/>
                  </a:cubicBezTo>
                  <a:lnTo>
                    <a:pt x="4142106" y="287020"/>
                  </a:lnTo>
                  <a:lnTo>
                    <a:pt x="4154574" y="287020"/>
                  </a:lnTo>
                  <a:lnTo>
                    <a:pt x="4154574" y="3761740"/>
                  </a:lnTo>
                  <a:lnTo>
                    <a:pt x="4142106" y="3761740"/>
                  </a:lnTo>
                  <a:lnTo>
                    <a:pt x="4154574" y="3761740"/>
                  </a:lnTo>
                  <a:cubicBezTo>
                    <a:pt x="4154574" y="3920236"/>
                    <a:pt x="4028391" y="4048760"/>
                    <a:pt x="3872657" y="4048760"/>
                  </a:cubicBezTo>
                  <a:lnTo>
                    <a:pt x="3872657" y="4036060"/>
                  </a:lnTo>
                  <a:lnTo>
                    <a:pt x="3872657" y="4048760"/>
                  </a:lnTo>
                  <a:lnTo>
                    <a:pt x="281918" y="4048760"/>
                  </a:lnTo>
                  <a:lnTo>
                    <a:pt x="281918" y="4036060"/>
                  </a:lnTo>
                  <a:lnTo>
                    <a:pt x="281918" y="4048760"/>
                  </a:lnTo>
                  <a:cubicBezTo>
                    <a:pt x="126183" y="4048760"/>
                    <a:pt x="0" y="3920236"/>
                    <a:pt x="0" y="3761740"/>
                  </a:cubicBezTo>
                  <a:lnTo>
                    <a:pt x="0" y="287020"/>
                  </a:lnTo>
                  <a:lnTo>
                    <a:pt x="12469" y="287020"/>
                  </a:lnTo>
                  <a:lnTo>
                    <a:pt x="0" y="287020"/>
                  </a:lnTo>
                  <a:moveTo>
                    <a:pt x="24937" y="287020"/>
                  </a:moveTo>
                  <a:lnTo>
                    <a:pt x="24937" y="3761740"/>
                  </a:lnTo>
                  <a:lnTo>
                    <a:pt x="12469" y="3761740"/>
                  </a:lnTo>
                  <a:lnTo>
                    <a:pt x="24937" y="3761740"/>
                  </a:lnTo>
                  <a:cubicBezTo>
                    <a:pt x="24937" y="3906266"/>
                    <a:pt x="140024" y="4023360"/>
                    <a:pt x="281918" y="4023360"/>
                  </a:cubicBezTo>
                  <a:lnTo>
                    <a:pt x="3872657" y="4023360"/>
                  </a:lnTo>
                  <a:cubicBezTo>
                    <a:pt x="4014551" y="4023360"/>
                    <a:pt x="4129637" y="3906266"/>
                    <a:pt x="4129637" y="3761740"/>
                  </a:cubicBezTo>
                  <a:lnTo>
                    <a:pt x="4129637" y="287020"/>
                  </a:lnTo>
                  <a:cubicBezTo>
                    <a:pt x="4129637" y="142494"/>
                    <a:pt x="4014551" y="25400"/>
                    <a:pt x="3872657" y="25400"/>
                  </a:cubicBezTo>
                  <a:lnTo>
                    <a:pt x="281918" y="25400"/>
                  </a:lnTo>
                  <a:lnTo>
                    <a:pt x="281918" y="12700"/>
                  </a:lnTo>
                  <a:lnTo>
                    <a:pt x="281918" y="25400"/>
                  </a:lnTo>
                  <a:cubicBezTo>
                    <a:pt x="140024" y="25400"/>
                    <a:pt x="24937" y="142494"/>
                    <a:pt x="24937" y="287020"/>
                  </a:cubicBezTo>
                  <a:close/>
                </a:path>
              </a:pathLst>
            </a:custGeom>
            <a:solidFill>
              <a:srgbClr val="1E3048"/>
            </a:solidFill>
          </p:spPr>
        </p:sp>
      </p:grpSp>
      <p:grpSp>
        <p:nvGrpSpPr>
          <p:cNvPr name="Group 29" id="29"/>
          <p:cNvGrpSpPr/>
          <p:nvPr/>
        </p:nvGrpSpPr>
        <p:grpSpPr>
          <a:xfrm rot="0">
            <a:off x="10605271" y="5942052"/>
            <a:ext cx="3926943" cy="695615"/>
            <a:chOff x="0" y="0"/>
            <a:chExt cx="4129637" cy="731520"/>
          </a:xfrm>
        </p:grpSpPr>
        <p:sp>
          <p:nvSpPr>
            <p:cNvPr name="Freeform 30" id="30"/>
            <p:cNvSpPr/>
            <p:nvPr/>
          </p:nvSpPr>
          <p:spPr>
            <a:xfrm flipH="false" flipV="false" rot="0">
              <a:off x="0" y="0"/>
              <a:ext cx="4129637" cy="731520"/>
            </a:xfrm>
            <a:custGeom>
              <a:avLst/>
              <a:gdLst/>
              <a:ahLst/>
              <a:cxnLst/>
              <a:rect r="r" b="b" t="t" l="l"/>
              <a:pathLst>
                <a:path h="731520" w="4129637">
                  <a:moveTo>
                    <a:pt x="0" y="0"/>
                  </a:moveTo>
                  <a:lnTo>
                    <a:pt x="4129637" y="0"/>
                  </a:lnTo>
                  <a:lnTo>
                    <a:pt x="4129637" y="731520"/>
                  </a:lnTo>
                  <a:lnTo>
                    <a:pt x="0" y="731520"/>
                  </a:lnTo>
                  <a:close/>
                </a:path>
              </a:pathLst>
            </a:custGeom>
            <a:blipFill>
              <a:blip r:embed="rId3">
                <a:alphaModFix amt="0"/>
              </a:blip>
              <a:stretch>
                <a:fillRect l="0" t="-62038" r="-1854" b="-62038"/>
              </a:stretch>
            </a:blipFill>
          </p:spPr>
        </p:sp>
        <p:sp>
          <p:nvSpPr>
            <p:cNvPr name="TextBox 31" id="31"/>
            <p:cNvSpPr txBox="true"/>
            <p:nvPr/>
          </p:nvSpPr>
          <p:spPr>
            <a:xfrm>
              <a:off x="0" y="-9525"/>
              <a:ext cx="4129637" cy="741045"/>
            </a:xfrm>
            <a:prstGeom prst="rect">
              <a:avLst/>
            </a:prstGeom>
          </p:spPr>
          <p:txBody>
            <a:bodyPr anchor="ctr" rtlCol="false" tIns="0" lIns="0" bIns="0" rIns="0"/>
            <a:lstStyle/>
            <a:p>
              <a:pPr algn="ctr">
                <a:lnSpc>
                  <a:spcPts val="2879"/>
                </a:lnSpc>
              </a:pPr>
              <a:r>
                <a:rPr lang="en-US" sz="2400" b="true">
                  <a:solidFill>
                    <a:srgbClr val="E2E8F0"/>
                  </a:solidFill>
                  <a:latin typeface="Arial Bold"/>
                  <a:ea typeface="Arial Bold"/>
                  <a:cs typeface="Arial Bold"/>
                  <a:sym typeface="Arial Bold"/>
                </a:rPr>
                <a:t>Unified Platform</a:t>
              </a:r>
            </a:p>
          </p:txBody>
        </p:sp>
      </p:grpSp>
      <p:grpSp>
        <p:nvGrpSpPr>
          <p:cNvPr name="Group 32" id="32"/>
          <p:cNvGrpSpPr/>
          <p:nvPr/>
        </p:nvGrpSpPr>
        <p:grpSpPr>
          <a:xfrm rot="0">
            <a:off x="10946744" y="6811571"/>
            <a:ext cx="3243996" cy="1391230"/>
            <a:chOff x="0" y="0"/>
            <a:chExt cx="3411439" cy="1463040"/>
          </a:xfrm>
        </p:grpSpPr>
        <p:sp>
          <p:nvSpPr>
            <p:cNvPr name="Freeform 33" id="33"/>
            <p:cNvSpPr/>
            <p:nvPr/>
          </p:nvSpPr>
          <p:spPr>
            <a:xfrm flipH="false" flipV="false" rot="0">
              <a:off x="0" y="0"/>
              <a:ext cx="3411439" cy="1463040"/>
            </a:xfrm>
            <a:custGeom>
              <a:avLst/>
              <a:gdLst/>
              <a:ahLst/>
              <a:cxnLst/>
              <a:rect r="r" b="b" t="t" l="l"/>
              <a:pathLst>
                <a:path h="1463040" w="3411439">
                  <a:moveTo>
                    <a:pt x="0" y="0"/>
                  </a:moveTo>
                  <a:lnTo>
                    <a:pt x="3411439" y="0"/>
                  </a:lnTo>
                  <a:lnTo>
                    <a:pt x="3411439" y="1463040"/>
                  </a:lnTo>
                  <a:lnTo>
                    <a:pt x="0" y="1463040"/>
                  </a:lnTo>
                  <a:close/>
                </a:path>
              </a:pathLst>
            </a:custGeom>
            <a:blipFill>
              <a:blip r:embed="rId3">
                <a:alphaModFix amt="0"/>
              </a:blip>
              <a:stretch>
                <a:fillRect l="-4097" t="0" r="-5952" b="0"/>
              </a:stretch>
            </a:blipFill>
          </p:spPr>
        </p:sp>
        <p:sp>
          <p:nvSpPr>
            <p:cNvPr name="TextBox 34" id="34"/>
            <p:cNvSpPr txBox="true"/>
            <p:nvPr/>
          </p:nvSpPr>
          <p:spPr>
            <a:xfrm>
              <a:off x="0" y="-19050"/>
              <a:ext cx="3411439" cy="148209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Doctors, pharmacies, labs, ambulance &amp; blood donors</a:t>
              </a:r>
            </a:p>
          </p:txBody>
        </p:sp>
      </p:grpSp>
      <p:sp>
        <p:nvSpPr>
          <p:cNvPr name="Freeform 35" id="35"/>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156459" y="2031449"/>
            <a:ext cx="10112040" cy="866746"/>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Problem Statement</a:t>
              </a:r>
            </a:p>
          </p:txBody>
        </p:sp>
      </p:grpSp>
      <p:grpSp>
        <p:nvGrpSpPr>
          <p:cNvPr name="Group 5" id="5"/>
          <p:cNvGrpSpPr/>
          <p:nvPr/>
        </p:nvGrpSpPr>
        <p:grpSpPr>
          <a:xfrm rot="0">
            <a:off x="2333158" y="3239980"/>
            <a:ext cx="8667462" cy="577831"/>
            <a:chOff x="0" y="0"/>
            <a:chExt cx="10972800" cy="731520"/>
          </a:xfrm>
        </p:grpSpPr>
        <p:sp>
          <p:nvSpPr>
            <p:cNvPr name="Freeform 6" id="6"/>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7" id="7"/>
            <p:cNvSpPr txBox="true"/>
            <p:nvPr/>
          </p:nvSpPr>
          <p:spPr>
            <a:xfrm>
              <a:off x="0" y="-9525"/>
              <a:ext cx="10972800" cy="741045"/>
            </a:xfrm>
            <a:prstGeom prst="rect">
              <a:avLst/>
            </a:prstGeom>
          </p:spPr>
          <p:txBody>
            <a:bodyPr anchor="ctr" rtlCol="false" tIns="0" lIns="0" bIns="0" rIns="0"/>
            <a:lstStyle/>
            <a:p>
              <a:pPr algn="l">
                <a:lnSpc>
                  <a:spcPts val="2520"/>
                </a:lnSpc>
              </a:pPr>
              <a:r>
                <a:rPr lang="en-US" sz="2100">
                  <a:solidFill>
                    <a:srgbClr val="94A3B8"/>
                  </a:solidFill>
                  <a:latin typeface="Arial"/>
                  <a:ea typeface="Arial"/>
                  <a:cs typeface="Arial"/>
                  <a:sym typeface="Arial"/>
                </a:rPr>
                <a:t>Egypt's healthcare system faces critical accessibility challenges</a:t>
              </a:r>
            </a:p>
          </p:txBody>
        </p:sp>
      </p:grpSp>
      <p:grpSp>
        <p:nvGrpSpPr>
          <p:cNvPr name="Group 8" id="8"/>
          <p:cNvGrpSpPr/>
          <p:nvPr/>
        </p:nvGrpSpPr>
        <p:grpSpPr>
          <a:xfrm rot="0">
            <a:off x="2323126" y="4241152"/>
            <a:ext cx="7965237" cy="886810"/>
            <a:chOff x="0" y="0"/>
            <a:chExt cx="10083800" cy="1122680"/>
          </a:xfrm>
        </p:grpSpPr>
        <p:sp>
          <p:nvSpPr>
            <p:cNvPr name="Freeform 9" id="9"/>
            <p:cNvSpPr/>
            <p:nvPr/>
          </p:nvSpPr>
          <p:spPr>
            <a:xfrm flipH="false" flipV="false" rot="0">
              <a:off x="12700" y="12700"/>
              <a:ext cx="10058400" cy="1097280"/>
            </a:xfrm>
            <a:custGeom>
              <a:avLst/>
              <a:gdLst/>
              <a:ahLst/>
              <a:cxnLst/>
              <a:rect r="r" b="b" t="t" l="l"/>
              <a:pathLst>
                <a:path h="1097280" w="10058400">
                  <a:moveTo>
                    <a:pt x="0" y="182880"/>
                  </a:moveTo>
                  <a:cubicBezTo>
                    <a:pt x="0" y="81915"/>
                    <a:pt x="83566" y="0"/>
                    <a:pt x="186690" y="0"/>
                  </a:cubicBezTo>
                  <a:lnTo>
                    <a:pt x="9871710" y="0"/>
                  </a:lnTo>
                  <a:cubicBezTo>
                    <a:pt x="9974834" y="0"/>
                    <a:pt x="10058400" y="81915"/>
                    <a:pt x="10058400" y="182880"/>
                  </a:cubicBezTo>
                  <a:lnTo>
                    <a:pt x="10058400" y="914400"/>
                  </a:lnTo>
                  <a:cubicBezTo>
                    <a:pt x="10058400" y="1015365"/>
                    <a:pt x="9974834" y="1097280"/>
                    <a:pt x="9871710" y="1097280"/>
                  </a:cubicBezTo>
                  <a:lnTo>
                    <a:pt x="186690" y="1097280"/>
                  </a:lnTo>
                  <a:cubicBezTo>
                    <a:pt x="83566" y="1097280"/>
                    <a:pt x="0" y="1015365"/>
                    <a:pt x="0" y="914400"/>
                  </a:cubicBezTo>
                  <a:close/>
                </a:path>
              </a:pathLst>
            </a:custGeom>
            <a:solidFill>
              <a:srgbClr val="111D32"/>
            </a:solidFill>
          </p:spPr>
        </p:sp>
        <p:sp>
          <p:nvSpPr>
            <p:cNvPr name="Freeform 10" id="10"/>
            <p:cNvSpPr/>
            <p:nvPr/>
          </p:nvSpPr>
          <p:spPr>
            <a:xfrm flipH="false" flipV="false" rot="0">
              <a:off x="0" y="0"/>
              <a:ext cx="10083800" cy="1122680"/>
            </a:xfrm>
            <a:custGeom>
              <a:avLst/>
              <a:gdLst/>
              <a:ahLst/>
              <a:cxnLst/>
              <a:rect r="r" b="b" t="t" l="l"/>
              <a:pathLst>
                <a:path h="1122680" w="10083800">
                  <a:moveTo>
                    <a:pt x="0" y="195580"/>
                  </a:moveTo>
                  <a:cubicBezTo>
                    <a:pt x="0" y="87376"/>
                    <a:pt x="89535" y="0"/>
                    <a:pt x="199390" y="0"/>
                  </a:cubicBezTo>
                  <a:lnTo>
                    <a:pt x="9884410" y="0"/>
                  </a:lnTo>
                  <a:lnTo>
                    <a:pt x="9884410" y="12700"/>
                  </a:lnTo>
                  <a:lnTo>
                    <a:pt x="9884410" y="0"/>
                  </a:lnTo>
                  <a:cubicBezTo>
                    <a:pt x="9994265" y="0"/>
                    <a:pt x="10083800" y="87376"/>
                    <a:pt x="10083800" y="195580"/>
                  </a:cubicBezTo>
                  <a:lnTo>
                    <a:pt x="10071100" y="195580"/>
                  </a:lnTo>
                  <a:lnTo>
                    <a:pt x="10083800" y="195580"/>
                  </a:lnTo>
                  <a:lnTo>
                    <a:pt x="10083800" y="927100"/>
                  </a:lnTo>
                  <a:lnTo>
                    <a:pt x="10071100" y="927100"/>
                  </a:lnTo>
                  <a:lnTo>
                    <a:pt x="10083800" y="927100"/>
                  </a:lnTo>
                  <a:cubicBezTo>
                    <a:pt x="10083800" y="1035304"/>
                    <a:pt x="9994265" y="1122680"/>
                    <a:pt x="9884410" y="1122680"/>
                  </a:cubicBezTo>
                  <a:lnTo>
                    <a:pt x="9884410" y="1109980"/>
                  </a:lnTo>
                  <a:lnTo>
                    <a:pt x="9884410" y="1122680"/>
                  </a:lnTo>
                  <a:lnTo>
                    <a:pt x="199390" y="1122680"/>
                  </a:lnTo>
                  <a:lnTo>
                    <a:pt x="199390" y="1109980"/>
                  </a:lnTo>
                  <a:lnTo>
                    <a:pt x="199390" y="1122680"/>
                  </a:lnTo>
                  <a:cubicBezTo>
                    <a:pt x="89535" y="1122680"/>
                    <a:pt x="0" y="1035304"/>
                    <a:pt x="0" y="927100"/>
                  </a:cubicBezTo>
                  <a:lnTo>
                    <a:pt x="0" y="195580"/>
                  </a:lnTo>
                  <a:lnTo>
                    <a:pt x="12700" y="195580"/>
                  </a:lnTo>
                  <a:lnTo>
                    <a:pt x="0" y="195580"/>
                  </a:lnTo>
                  <a:moveTo>
                    <a:pt x="25400" y="195580"/>
                  </a:moveTo>
                  <a:lnTo>
                    <a:pt x="25400" y="927100"/>
                  </a:lnTo>
                  <a:lnTo>
                    <a:pt x="12700" y="927100"/>
                  </a:lnTo>
                  <a:lnTo>
                    <a:pt x="25400" y="927100"/>
                  </a:lnTo>
                  <a:cubicBezTo>
                    <a:pt x="25400" y="1020826"/>
                    <a:pt x="102997" y="1097280"/>
                    <a:pt x="199390" y="1097280"/>
                  </a:cubicBezTo>
                  <a:lnTo>
                    <a:pt x="9884410" y="1097280"/>
                  </a:lnTo>
                  <a:cubicBezTo>
                    <a:pt x="9980676" y="1097280"/>
                    <a:pt x="10058400" y="1020826"/>
                    <a:pt x="10058400" y="927100"/>
                  </a:cubicBezTo>
                  <a:lnTo>
                    <a:pt x="10058400" y="195580"/>
                  </a:lnTo>
                  <a:cubicBezTo>
                    <a:pt x="10058400" y="101854"/>
                    <a:pt x="9980803" y="25400"/>
                    <a:pt x="9884410" y="25400"/>
                  </a:cubicBezTo>
                  <a:lnTo>
                    <a:pt x="199390" y="25400"/>
                  </a:lnTo>
                  <a:lnTo>
                    <a:pt x="199390" y="12700"/>
                  </a:lnTo>
                  <a:lnTo>
                    <a:pt x="199390" y="25400"/>
                  </a:lnTo>
                  <a:cubicBezTo>
                    <a:pt x="102997" y="25400"/>
                    <a:pt x="25400" y="101854"/>
                    <a:pt x="25400" y="195580"/>
                  </a:cubicBezTo>
                  <a:close/>
                </a:path>
              </a:pathLst>
            </a:custGeom>
            <a:solidFill>
              <a:srgbClr val="1E3048"/>
            </a:solidFill>
          </p:spPr>
        </p:sp>
      </p:grpSp>
      <p:grpSp>
        <p:nvGrpSpPr>
          <p:cNvPr name="Group 11" id="11"/>
          <p:cNvGrpSpPr/>
          <p:nvPr/>
        </p:nvGrpSpPr>
        <p:grpSpPr>
          <a:xfrm rot="0">
            <a:off x="2622074" y="4251183"/>
            <a:ext cx="7656258" cy="866746"/>
            <a:chOff x="0" y="0"/>
            <a:chExt cx="9692640" cy="1097280"/>
          </a:xfrm>
        </p:grpSpPr>
        <p:sp>
          <p:nvSpPr>
            <p:cNvPr name="Freeform 12" id="12"/>
            <p:cNvSpPr/>
            <p:nvPr/>
          </p:nvSpPr>
          <p:spPr>
            <a:xfrm flipH="false" flipV="false" rot="0">
              <a:off x="0" y="0"/>
              <a:ext cx="9692640" cy="1097280"/>
            </a:xfrm>
            <a:custGeom>
              <a:avLst/>
              <a:gdLst/>
              <a:ahLst/>
              <a:cxnLst/>
              <a:rect r="r" b="b" t="t" l="l"/>
              <a:pathLst>
                <a:path h="1097280" w="9692640">
                  <a:moveTo>
                    <a:pt x="0" y="0"/>
                  </a:moveTo>
                  <a:lnTo>
                    <a:pt x="9692640" y="0"/>
                  </a:lnTo>
                  <a:lnTo>
                    <a:pt x="9692640" y="1097280"/>
                  </a:lnTo>
                  <a:lnTo>
                    <a:pt x="0" y="1097280"/>
                  </a:lnTo>
                  <a:close/>
                </a:path>
              </a:pathLst>
            </a:custGeom>
            <a:blipFill>
              <a:blip r:embed="rId3">
                <a:alphaModFix amt="0"/>
              </a:blip>
              <a:stretch>
                <a:fillRect l="0" t="-122117" r="0" b="-122117"/>
              </a:stretch>
            </a:blipFill>
          </p:spPr>
        </p:sp>
        <p:sp>
          <p:nvSpPr>
            <p:cNvPr name="TextBox 13" id="13"/>
            <p:cNvSpPr txBox="true"/>
            <p:nvPr/>
          </p:nvSpPr>
          <p:spPr>
            <a:xfrm>
              <a:off x="0" y="-19050"/>
              <a:ext cx="9692640" cy="1116330"/>
            </a:xfrm>
            <a:prstGeom prst="rect">
              <a:avLst/>
            </a:prstGeom>
          </p:spPr>
          <p:txBody>
            <a:bodyPr anchor="ctr" rtlCol="false" tIns="0" lIns="0" bIns="0" rIns="0"/>
            <a:lstStyle/>
            <a:p>
              <a:pPr algn="l">
                <a:lnSpc>
                  <a:spcPts val="2340"/>
                </a:lnSpc>
              </a:pPr>
              <a:r>
                <a:rPr lang="en-US" sz="1950">
                  <a:solidFill>
                    <a:srgbClr val="E2E8F0"/>
                  </a:solidFill>
                  <a:latin typeface="Arial"/>
                  <a:ea typeface="Arial"/>
                  <a:cs typeface="Arial"/>
                  <a:sym typeface="Arial"/>
                </a:rPr>
                <a:t>• Patients often do not know which medical specialty to visit</a:t>
              </a:r>
            </a:p>
          </p:txBody>
        </p:sp>
      </p:grpSp>
      <p:grpSp>
        <p:nvGrpSpPr>
          <p:cNvPr name="Group 14" id="14"/>
          <p:cNvGrpSpPr/>
          <p:nvPr/>
        </p:nvGrpSpPr>
        <p:grpSpPr>
          <a:xfrm rot="0">
            <a:off x="2323126" y="5324584"/>
            <a:ext cx="7965237" cy="886810"/>
            <a:chOff x="0" y="0"/>
            <a:chExt cx="10083800" cy="1122680"/>
          </a:xfrm>
        </p:grpSpPr>
        <p:sp>
          <p:nvSpPr>
            <p:cNvPr name="Freeform 15" id="15"/>
            <p:cNvSpPr/>
            <p:nvPr/>
          </p:nvSpPr>
          <p:spPr>
            <a:xfrm flipH="false" flipV="false" rot="0">
              <a:off x="12700" y="12700"/>
              <a:ext cx="10058400" cy="1097280"/>
            </a:xfrm>
            <a:custGeom>
              <a:avLst/>
              <a:gdLst/>
              <a:ahLst/>
              <a:cxnLst/>
              <a:rect r="r" b="b" t="t" l="l"/>
              <a:pathLst>
                <a:path h="1097280" w="10058400">
                  <a:moveTo>
                    <a:pt x="0" y="182880"/>
                  </a:moveTo>
                  <a:cubicBezTo>
                    <a:pt x="0" y="81915"/>
                    <a:pt x="83566" y="0"/>
                    <a:pt x="186690" y="0"/>
                  </a:cubicBezTo>
                  <a:lnTo>
                    <a:pt x="9871710" y="0"/>
                  </a:lnTo>
                  <a:cubicBezTo>
                    <a:pt x="9974834" y="0"/>
                    <a:pt x="10058400" y="81915"/>
                    <a:pt x="10058400" y="182880"/>
                  </a:cubicBezTo>
                  <a:lnTo>
                    <a:pt x="10058400" y="914400"/>
                  </a:lnTo>
                  <a:cubicBezTo>
                    <a:pt x="10058400" y="1015365"/>
                    <a:pt x="9974834" y="1097280"/>
                    <a:pt x="9871710" y="1097280"/>
                  </a:cubicBezTo>
                  <a:lnTo>
                    <a:pt x="186690" y="1097280"/>
                  </a:lnTo>
                  <a:cubicBezTo>
                    <a:pt x="83566" y="1097280"/>
                    <a:pt x="0" y="1015365"/>
                    <a:pt x="0" y="914400"/>
                  </a:cubicBezTo>
                  <a:close/>
                </a:path>
              </a:pathLst>
            </a:custGeom>
            <a:solidFill>
              <a:srgbClr val="111D32"/>
            </a:solidFill>
          </p:spPr>
        </p:sp>
        <p:sp>
          <p:nvSpPr>
            <p:cNvPr name="Freeform 16" id="16"/>
            <p:cNvSpPr/>
            <p:nvPr/>
          </p:nvSpPr>
          <p:spPr>
            <a:xfrm flipH="false" flipV="false" rot="0">
              <a:off x="0" y="0"/>
              <a:ext cx="10083800" cy="1122680"/>
            </a:xfrm>
            <a:custGeom>
              <a:avLst/>
              <a:gdLst/>
              <a:ahLst/>
              <a:cxnLst/>
              <a:rect r="r" b="b" t="t" l="l"/>
              <a:pathLst>
                <a:path h="1122680" w="10083800">
                  <a:moveTo>
                    <a:pt x="0" y="195580"/>
                  </a:moveTo>
                  <a:cubicBezTo>
                    <a:pt x="0" y="87376"/>
                    <a:pt x="89535" y="0"/>
                    <a:pt x="199390" y="0"/>
                  </a:cubicBezTo>
                  <a:lnTo>
                    <a:pt x="9884410" y="0"/>
                  </a:lnTo>
                  <a:lnTo>
                    <a:pt x="9884410" y="12700"/>
                  </a:lnTo>
                  <a:lnTo>
                    <a:pt x="9884410" y="0"/>
                  </a:lnTo>
                  <a:cubicBezTo>
                    <a:pt x="9994265" y="0"/>
                    <a:pt x="10083800" y="87376"/>
                    <a:pt x="10083800" y="195580"/>
                  </a:cubicBezTo>
                  <a:lnTo>
                    <a:pt x="10071100" y="195580"/>
                  </a:lnTo>
                  <a:lnTo>
                    <a:pt x="10083800" y="195580"/>
                  </a:lnTo>
                  <a:lnTo>
                    <a:pt x="10083800" y="927100"/>
                  </a:lnTo>
                  <a:lnTo>
                    <a:pt x="10071100" y="927100"/>
                  </a:lnTo>
                  <a:lnTo>
                    <a:pt x="10083800" y="927100"/>
                  </a:lnTo>
                  <a:cubicBezTo>
                    <a:pt x="10083800" y="1035304"/>
                    <a:pt x="9994265" y="1122680"/>
                    <a:pt x="9884410" y="1122680"/>
                  </a:cubicBezTo>
                  <a:lnTo>
                    <a:pt x="9884410" y="1109980"/>
                  </a:lnTo>
                  <a:lnTo>
                    <a:pt x="9884410" y="1122680"/>
                  </a:lnTo>
                  <a:lnTo>
                    <a:pt x="199390" y="1122680"/>
                  </a:lnTo>
                  <a:lnTo>
                    <a:pt x="199390" y="1109980"/>
                  </a:lnTo>
                  <a:lnTo>
                    <a:pt x="199390" y="1122680"/>
                  </a:lnTo>
                  <a:cubicBezTo>
                    <a:pt x="89535" y="1122680"/>
                    <a:pt x="0" y="1035304"/>
                    <a:pt x="0" y="927100"/>
                  </a:cubicBezTo>
                  <a:lnTo>
                    <a:pt x="0" y="195580"/>
                  </a:lnTo>
                  <a:lnTo>
                    <a:pt x="12700" y="195580"/>
                  </a:lnTo>
                  <a:lnTo>
                    <a:pt x="0" y="195580"/>
                  </a:lnTo>
                  <a:moveTo>
                    <a:pt x="25400" y="195580"/>
                  </a:moveTo>
                  <a:lnTo>
                    <a:pt x="25400" y="927100"/>
                  </a:lnTo>
                  <a:lnTo>
                    <a:pt x="12700" y="927100"/>
                  </a:lnTo>
                  <a:lnTo>
                    <a:pt x="25400" y="927100"/>
                  </a:lnTo>
                  <a:cubicBezTo>
                    <a:pt x="25400" y="1020826"/>
                    <a:pt x="102997" y="1097280"/>
                    <a:pt x="199390" y="1097280"/>
                  </a:cubicBezTo>
                  <a:lnTo>
                    <a:pt x="9884410" y="1097280"/>
                  </a:lnTo>
                  <a:cubicBezTo>
                    <a:pt x="9980676" y="1097280"/>
                    <a:pt x="10058400" y="1020826"/>
                    <a:pt x="10058400" y="927100"/>
                  </a:cubicBezTo>
                  <a:lnTo>
                    <a:pt x="10058400" y="195580"/>
                  </a:lnTo>
                  <a:cubicBezTo>
                    <a:pt x="10058400" y="101854"/>
                    <a:pt x="9980803" y="25400"/>
                    <a:pt x="9884410" y="25400"/>
                  </a:cubicBezTo>
                  <a:lnTo>
                    <a:pt x="199390" y="25400"/>
                  </a:lnTo>
                  <a:lnTo>
                    <a:pt x="199390" y="12700"/>
                  </a:lnTo>
                  <a:lnTo>
                    <a:pt x="199390" y="25400"/>
                  </a:lnTo>
                  <a:cubicBezTo>
                    <a:pt x="102997" y="25400"/>
                    <a:pt x="25400" y="101854"/>
                    <a:pt x="25400" y="195580"/>
                  </a:cubicBezTo>
                  <a:close/>
                </a:path>
              </a:pathLst>
            </a:custGeom>
            <a:solidFill>
              <a:srgbClr val="1E3048"/>
            </a:solidFill>
          </p:spPr>
        </p:sp>
      </p:grpSp>
      <p:grpSp>
        <p:nvGrpSpPr>
          <p:cNvPr name="Group 17" id="17"/>
          <p:cNvGrpSpPr/>
          <p:nvPr/>
        </p:nvGrpSpPr>
        <p:grpSpPr>
          <a:xfrm rot="0">
            <a:off x="2622074" y="5334616"/>
            <a:ext cx="7656258" cy="866746"/>
            <a:chOff x="0" y="0"/>
            <a:chExt cx="9692640" cy="1097280"/>
          </a:xfrm>
        </p:grpSpPr>
        <p:sp>
          <p:nvSpPr>
            <p:cNvPr name="Freeform 18" id="18"/>
            <p:cNvSpPr/>
            <p:nvPr/>
          </p:nvSpPr>
          <p:spPr>
            <a:xfrm flipH="false" flipV="false" rot="0">
              <a:off x="0" y="0"/>
              <a:ext cx="9692640" cy="1097280"/>
            </a:xfrm>
            <a:custGeom>
              <a:avLst/>
              <a:gdLst/>
              <a:ahLst/>
              <a:cxnLst/>
              <a:rect r="r" b="b" t="t" l="l"/>
              <a:pathLst>
                <a:path h="1097280" w="9692640">
                  <a:moveTo>
                    <a:pt x="0" y="0"/>
                  </a:moveTo>
                  <a:lnTo>
                    <a:pt x="9692640" y="0"/>
                  </a:lnTo>
                  <a:lnTo>
                    <a:pt x="9692640" y="1097280"/>
                  </a:lnTo>
                  <a:lnTo>
                    <a:pt x="0" y="1097280"/>
                  </a:lnTo>
                  <a:close/>
                </a:path>
              </a:pathLst>
            </a:custGeom>
            <a:blipFill>
              <a:blip r:embed="rId3">
                <a:alphaModFix amt="0"/>
              </a:blip>
              <a:stretch>
                <a:fillRect l="0" t="-122117" r="0" b="-122117"/>
              </a:stretch>
            </a:blipFill>
          </p:spPr>
        </p:sp>
        <p:sp>
          <p:nvSpPr>
            <p:cNvPr name="TextBox 19" id="19"/>
            <p:cNvSpPr txBox="true"/>
            <p:nvPr/>
          </p:nvSpPr>
          <p:spPr>
            <a:xfrm>
              <a:off x="0" y="-19050"/>
              <a:ext cx="9692640" cy="1116330"/>
            </a:xfrm>
            <a:prstGeom prst="rect">
              <a:avLst/>
            </a:prstGeom>
          </p:spPr>
          <p:txBody>
            <a:bodyPr anchor="ctr" rtlCol="false" tIns="0" lIns="0" bIns="0" rIns="0"/>
            <a:lstStyle/>
            <a:p>
              <a:pPr algn="l">
                <a:lnSpc>
                  <a:spcPts val="2340"/>
                </a:lnSpc>
              </a:pPr>
              <a:r>
                <a:rPr lang="en-US" sz="1950">
                  <a:solidFill>
                    <a:srgbClr val="E2E8F0"/>
                  </a:solidFill>
                  <a:latin typeface="Arial"/>
                  <a:ea typeface="Arial"/>
                  <a:cs typeface="Arial"/>
                  <a:sym typeface="Arial"/>
                </a:rPr>
                <a:t>• Searching for nearby trusted providers is time-consuming</a:t>
              </a:r>
            </a:p>
          </p:txBody>
        </p:sp>
      </p:grpSp>
      <p:grpSp>
        <p:nvGrpSpPr>
          <p:cNvPr name="Group 20" id="20"/>
          <p:cNvGrpSpPr/>
          <p:nvPr/>
        </p:nvGrpSpPr>
        <p:grpSpPr>
          <a:xfrm rot="0">
            <a:off x="2323126" y="6408017"/>
            <a:ext cx="7965237" cy="886810"/>
            <a:chOff x="0" y="0"/>
            <a:chExt cx="10083800" cy="1122680"/>
          </a:xfrm>
        </p:grpSpPr>
        <p:sp>
          <p:nvSpPr>
            <p:cNvPr name="Freeform 21" id="21"/>
            <p:cNvSpPr/>
            <p:nvPr/>
          </p:nvSpPr>
          <p:spPr>
            <a:xfrm flipH="false" flipV="false" rot="0">
              <a:off x="12700" y="12700"/>
              <a:ext cx="10058400" cy="1097280"/>
            </a:xfrm>
            <a:custGeom>
              <a:avLst/>
              <a:gdLst/>
              <a:ahLst/>
              <a:cxnLst/>
              <a:rect r="r" b="b" t="t" l="l"/>
              <a:pathLst>
                <a:path h="1097280" w="10058400">
                  <a:moveTo>
                    <a:pt x="0" y="182880"/>
                  </a:moveTo>
                  <a:cubicBezTo>
                    <a:pt x="0" y="81915"/>
                    <a:pt x="83566" y="0"/>
                    <a:pt x="186690" y="0"/>
                  </a:cubicBezTo>
                  <a:lnTo>
                    <a:pt x="9871710" y="0"/>
                  </a:lnTo>
                  <a:cubicBezTo>
                    <a:pt x="9974834" y="0"/>
                    <a:pt x="10058400" y="81915"/>
                    <a:pt x="10058400" y="182880"/>
                  </a:cubicBezTo>
                  <a:lnTo>
                    <a:pt x="10058400" y="914400"/>
                  </a:lnTo>
                  <a:cubicBezTo>
                    <a:pt x="10058400" y="1015365"/>
                    <a:pt x="9974834" y="1097280"/>
                    <a:pt x="9871710" y="1097280"/>
                  </a:cubicBezTo>
                  <a:lnTo>
                    <a:pt x="186690" y="1097280"/>
                  </a:lnTo>
                  <a:cubicBezTo>
                    <a:pt x="83566" y="1097280"/>
                    <a:pt x="0" y="1015365"/>
                    <a:pt x="0" y="914400"/>
                  </a:cubicBezTo>
                  <a:close/>
                </a:path>
              </a:pathLst>
            </a:custGeom>
            <a:solidFill>
              <a:srgbClr val="111D32"/>
            </a:solidFill>
          </p:spPr>
        </p:sp>
        <p:sp>
          <p:nvSpPr>
            <p:cNvPr name="Freeform 22" id="22"/>
            <p:cNvSpPr/>
            <p:nvPr/>
          </p:nvSpPr>
          <p:spPr>
            <a:xfrm flipH="false" flipV="false" rot="0">
              <a:off x="0" y="0"/>
              <a:ext cx="10083800" cy="1122680"/>
            </a:xfrm>
            <a:custGeom>
              <a:avLst/>
              <a:gdLst/>
              <a:ahLst/>
              <a:cxnLst/>
              <a:rect r="r" b="b" t="t" l="l"/>
              <a:pathLst>
                <a:path h="1122680" w="10083800">
                  <a:moveTo>
                    <a:pt x="0" y="195580"/>
                  </a:moveTo>
                  <a:cubicBezTo>
                    <a:pt x="0" y="87376"/>
                    <a:pt x="89535" y="0"/>
                    <a:pt x="199390" y="0"/>
                  </a:cubicBezTo>
                  <a:lnTo>
                    <a:pt x="9884410" y="0"/>
                  </a:lnTo>
                  <a:lnTo>
                    <a:pt x="9884410" y="12700"/>
                  </a:lnTo>
                  <a:lnTo>
                    <a:pt x="9884410" y="0"/>
                  </a:lnTo>
                  <a:cubicBezTo>
                    <a:pt x="9994265" y="0"/>
                    <a:pt x="10083800" y="87376"/>
                    <a:pt x="10083800" y="195580"/>
                  </a:cubicBezTo>
                  <a:lnTo>
                    <a:pt x="10071100" y="195580"/>
                  </a:lnTo>
                  <a:lnTo>
                    <a:pt x="10083800" y="195580"/>
                  </a:lnTo>
                  <a:lnTo>
                    <a:pt x="10083800" y="927100"/>
                  </a:lnTo>
                  <a:lnTo>
                    <a:pt x="10071100" y="927100"/>
                  </a:lnTo>
                  <a:lnTo>
                    <a:pt x="10083800" y="927100"/>
                  </a:lnTo>
                  <a:cubicBezTo>
                    <a:pt x="10083800" y="1035304"/>
                    <a:pt x="9994265" y="1122680"/>
                    <a:pt x="9884410" y="1122680"/>
                  </a:cubicBezTo>
                  <a:lnTo>
                    <a:pt x="9884410" y="1109980"/>
                  </a:lnTo>
                  <a:lnTo>
                    <a:pt x="9884410" y="1122680"/>
                  </a:lnTo>
                  <a:lnTo>
                    <a:pt x="199390" y="1122680"/>
                  </a:lnTo>
                  <a:lnTo>
                    <a:pt x="199390" y="1109980"/>
                  </a:lnTo>
                  <a:lnTo>
                    <a:pt x="199390" y="1122680"/>
                  </a:lnTo>
                  <a:cubicBezTo>
                    <a:pt x="89535" y="1122680"/>
                    <a:pt x="0" y="1035304"/>
                    <a:pt x="0" y="927100"/>
                  </a:cubicBezTo>
                  <a:lnTo>
                    <a:pt x="0" y="195580"/>
                  </a:lnTo>
                  <a:lnTo>
                    <a:pt x="12700" y="195580"/>
                  </a:lnTo>
                  <a:lnTo>
                    <a:pt x="0" y="195580"/>
                  </a:lnTo>
                  <a:moveTo>
                    <a:pt x="25400" y="195580"/>
                  </a:moveTo>
                  <a:lnTo>
                    <a:pt x="25400" y="927100"/>
                  </a:lnTo>
                  <a:lnTo>
                    <a:pt x="12700" y="927100"/>
                  </a:lnTo>
                  <a:lnTo>
                    <a:pt x="25400" y="927100"/>
                  </a:lnTo>
                  <a:cubicBezTo>
                    <a:pt x="25400" y="1020826"/>
                    <a:pt x="102997" y="1097280"/>
                    <a:pt x="199390" y="1097280"/>
                  </a:cubicBezTo>
                  <a:lnTo>
                    <a:pt x="9884410" y="1097280"/>
                  </a:lnTo>
                  <a:cubicBezTo>
                    <a:pt x="9980676" y="1097280"/>
                    <a:pt x="10058400" y="1020826"/>
                    <a:pt x="10058400" y="927100"/>
                  </a:cubicBezTo>
                  <a:lnTo>
                    <a:pt x="10058400" y="195580"/>
                  </a:lnTo>
                  <a:cubicBezTo>
                    <a:pt x="10058400" y="101854"/>
                    <a:pt x="9980803" y="25400"/>
                    <a:pt x="9884410" y="25400"/>
                  </a:cubicBezTo>
                  <a:lnTo>
                    <a:pt x="199390" y="25400"/>
                  </a:lnTo>
                  <a:lnTo>
                    <a:pt x="199390" y="12700"/>
                  </a:lnTo>
                  <a:lnTo>
                    <a:pt x="199390" y="25400"/>
                  </a:lnTo>
                  <a:cubicBezTo>
                    <a:pt x="102997" y="25400"/>
                    <a:pt x="25400" y="101854"/>
                    <a:pt x="25400" y="195580"/>
                  </a:cubicBezTo>
                  <a:close/>
                </a:path>
              </a:pathLst>
            </a:custGeom>
            <a:solidFill>
              <a:srgbClr val="1E3048"/>
            </a:solidFill>
          </p:spPr>
        </p:sp>
      </p:grpSp>
      <p:grpSp>
        <p:nvGrpSpPr>
          <p:cNvPr name="Group 23" id="23"/>
          <p:cNvGrpSpPr/>
          <p:nvPr/>
        </p:nvGrpSpPr>
        <p:grpSpPr>
          <a:xfrm rot="0">
            <a:off x="2622074" y="6418049"/>
            <a:ext cx="7656258" cy="866746"/>
            <a:chOff x="0" y="0"/>
            <a:chExt cx="9692640" cy="1097280"/>
          </a:xfrm>
        </p:grpSpPr>
        <p:sp>
          <p:nvSpPr>
            <p:cNvPr name="Freeform 24" id="24"/>
            <p:cNvSpPr/>
            <p:nvPr/>
          </p:nvSpPr>
          <p:spPr>
            <a:xfrm flipH="false" flipV="false" rot="0">
              <a:off x="0" y="0"/>
              <a:ext cx="9692640" cy="1097280"/>
            </a:xfrm>
            <a:custGeom>
              <a:avLst/>
              <a:gdLst/>
              <a:ahLst/>
              <a:cxnLst/>
              <a:rect r="r" b="b" t="t" l="l"/>
              <a:pathLst>
                <a:path h="1097280" w="9692640">
                  <a:moveTo>
                    <a:pt x="0" y="0"/>
                  </a:moveTo>
                  <a:lnTo>
                    <a:pt x="9692640" y="0"/>
                  </a:lnTo>
                  <a:lnTo>
                    <a:pt x="9692640" y="1097280"/>
                  </a:lnTo>
                  <a:lnTo>
                    <a:pt x="0" y="1097280"/>
                  </a:lnTo>
                  <a:close/>
                </a:path>
              </a:pathLst>
            </a:custGeom>
            <a:blipFill>
              <a:blip r:embed="rId3">
                <a:alphaModFix amt="0"/>
              </a:blip>
              <a:stretch>
                <a:fillRect l="0" t="-122117" r="0" b="-122117"/>
              </a:stretch>
            </a:blipFill>
          </p:spPr>
        </p:sp>
        <p:sp>
          <p:nvSpPr>
            <p:cNvPr name="TextBox 25" id="25"/>
            <p:cNvSpPr txBox="true"/>
            <p:nvPr/>
          </p:nvSpPr>
          <p:spPr>
            <a:xfrm>
              <a:off x="0" y="-19050"/>
              <a:ext cx="9692640" cy="1116330"/>
            </a:xfrm>
            <a:prstGeom prst="rect">
              <a:avLst/>
            </a:prstGeom>
          </p:spPr>
          <p:txBody>
            <a:bodyPr anchor="ctr" rtlCol="false" tIns="0" lIns="0" bIns="0" rIns="0"/>
            <a:lstStyle/>
            <a:p>
              <a:pPr algn="l">
                <a:lnSpc>
                  <a:spcPts val="2340"/>
                </a:lnSpc>
              </a:pPr>
              <a:r>
                <a:rPr lang="en-US" sz="1950">
                  <a:solidFill>
                    <a:srgbClr val="E2E8F0"/>
                  </a:solidFill>
                  <a:latin typeface="Arial"/>
                  <a:ea typeface="Arial"/>
                  <a:cs typeface="Arial"/>
                  <a:sym typeface="Arial"/>
                </a:rPr>
                <a:t>• Delays in emergencies can lead to serious complications</a:t>
              </a:r>
            </a:p>
          </p:txBody>
        </p:sp>
      </p:grpSp>
      <p:grpSp>
        <p:nvGrpSpPr>
          <p:cNvPr name="Group 26" id="26"/>
          <p:cNvGrpSpPr/>
          <p:nvPr/>
        </p:nvGrpSpPr>
        <p:grpSpPr>
          <a:xfrm rot="0">
            <a:off x="2323126" y="7491450"/>
            <a:ext cx="7965237" cy="886810"/>
            <a:chOff x="0" y="0"/>
            <a:chExt cx="10083800" cy="1122680"/>
          </a:xfrm>
        </p:grpSpPr>
        <p:sp>
          <p:nvSpPr>
            <p:cNvPr name="Freeform 27" id="27"/>
            <p:cNvSpPr/>
            <p:nvPr/>
          </p:nvSpPr>
          <p:spPr>
            <a:xfrm flipH="false" flipV="false" rot="0">
              <a:off x="12700" y="12700"/>
              <a:ext cx="10058400" cy="1097280"/>
            </a:xfrm>
            <a:custGeom>
              <a:avLst/>
              <a:gdLst/>
              <a:ahLst/>
              <a:cxnLst/>
              <a:rect r="r" b="b" t="t" l="l"/>
              <a:pathLst>
                <a:path h="1097280" w="10058400">
                  <a:moveTo>
                    <a:pt x="0" y="182880"/>
                  </a:moveTo>
                  <a:cubicBezTo>
                    <a:pt x="0" y="81915"/>
                    <a:pt x="83566" y="0"/>
                    <a:pt x="186690" y="0"/>
                  </a:cubicBezTo>
                  <a:lnTo>
                    <a:pt x="9871710" y="0"/>
                  </a:lnTo>
                  <a:cubicBezTo>
                    <a:pt x="9974834" y="0"/>
                    <a:pt x="10058400" y="81915"/>
                    <a:pt x="10058400" y="182880"/>
                  </a:cubicBezTo>
                  <a:lnTo>
                    <a:pt x="10058400" y="914400"/>
                  </a:lnTo>
                  <a:cubicBezTo>
                    <a:pt x="10058400" y="1015365"/>
                    <a:pt x="9974834" y="1097280"/>
                    <a:pt x="9871710" y="1097280"/>
                  </a:cubicBezTo>
                  <a:lnTo>
                    <a:pt x="186690" y="1097280"/>
                  </a:lnTo>
                  <a:cubicBezTo>
                    <a:pt x="83566" y="1097280"/>
                    <a:pt x="0" y="1015365"/>
                    <a:pt x="0" y="914400"/>
                  </a:cubicBezTo>
                  <a:close/>
                </a:path>
              </a:pathLst>
            </a:custGeom>
            <a:solidFill>
              <a:srgbClr val="111D32"/>
            </a:solidFill>
          </p:spPr>
        </p:sp>
        <p:sp>
          <p:nvSpPr>
            <p:cNvPr name="Freeform 28" id="28"/>
            <p:cNvSpPr/>
            <p:nvPr/>
          </p:nvSpPr>
          <p:spPr>
            <a:xfrm flipH="false" flipV="false" rot="0">
              <a:off x="0" y="0"/>
              <a:ext cx="10083800" cy="1122680"/>
            </a:xfrm>
            <a:custGeom>
              <a:avLst/>
              <a:gdLst/>
              <a:ahLst/>
              <a:cxnLst/>
              <a:rect r="r" b="b" t="t" l="l"/>
              <a:pathLst>
                <a:path h="1122680" w="10083800">
                  <a:moveTo>
                    <a:pt x="0" y="195580"/>
                  </a:moveTo>
                  <a:cubicBezTo>
                    <a:pt x="0" y="87376"/>
                    <a:pt x="89535" y="0"/>
                    <a:pt x="199390" y="0"/>
                  </a:cubicBezTo>
                  <a:lnTo>
                    <a:pt x="9884410" y="0"/>
                  </a:lnTo>
                  <a:lnTo>
                    <a:pt x="9884410" y="12700"/>
                  </a:lnTo>
                  <a:lnTo>
                    <a:pt x="9884410" y="0"/>
                  </a:lnTo>
                  <a:cubicBezTo>
                    <a:pt x="9994265" y="0"/>
                    <a:pt x="10083800" y="87376"/>
                    <a:pt x="10083800" y="195580"/>
                  </a:cubicBezTo>
                  <a:lnTo>
                    <a:pt x="10071100" y="195580"/>
                  </a:lnTo>
                  <a:lnTo>
                    <a:pt x="10083800" y="195580"/>
                  </a:lnTo>
                  <a:lnTo>
                    <a:pt x="10083800" y="927100"/>
                  </a:lnTo>
                  <a:lnTo>
                    <a:pt x="10071100" y="927100"/>
                  </a:lnTo>
                  <a:lnTo>
                    <a:pt x="10083800" y="927100"/>
                  </a:lnTo>
                  <a:cubicBezTo>
                    <a:pt x="10083800" y="1035304"/>
                    <a:pt x="9994265" y="1122680"/>
                    <a:pt x="9884410" y="1122680"/>
                  </a:cubicBezTo>
                  <a:lnTo>
                    <a:pt x="9884410" y="1109980"/>
                  </a:lnTo>
                  <a:lnTo>
                    <a:pt x="9884410" y="1122680"/>
                  </a:lnTo>
                  <a:lnTo>
                    <a:pt x="199390" y="1122680"/>
                  </a:lnTo>
                  <a:lnTo>
                    <a:pt x="199390" y="1109980"/>
                  </a:lnTo>
                  <a:lnTo>
                    <a:pt x="199390" y="1122680"/>
                  </a:lnTo>
                  <a:cubicBezTo>
                    <a:pt x="89535" y="1122680"/>
                    <a:pt x="0" y="1035304"/>
                    <a:pt x="0" y="927100"/>
                  </a:cubicBezTo>
                  <a:lnTo>
                    <a:pt x="0" y="195580"/>
                  </a:lnTo>
                  <a:lnTo>
                    <a:pt x="12700" y="195580"/>
                  </a:lnTo>
                  <a:lnTo>
                    <a:pt x="0" y="195580"/>
                  </a:lnTo>
                  <a:moveTo>
                    <a:pt x="25400" y="195580"/>
                  </a:moveTo>
                  <a:lnTo>
                    <a:pt x="25400" y="927100"/>
                  </a:lnTo>
                  <a:lnTo>
                    <a:pt x="12700" y="927100"/>
                  </a:lnTo>
                  <a:lnTo>
                    <a:pt x="25400" y="927100"/>
                  </a:lnTo>
                  <a:cubicBezTo>
                    <a:pt x="25400" y="1020826"/>
                    <a:pt x="102997" y="1097280"/>
                    <a:pt x="199390" y="1097280"/>
                  </a:cubicBezTo>
                  <a:lnTo>
                    <a:pt x="9884410" y="1097280"/>
                  </a:lnTo>
                  <a:cubicBezTo>
                    <a:pt x="9980676" y="1097280"/>
                    <a:pt x="10058400" y="1020826"/>
                    <a:pt x="10058400" y="927100"/>
                  </a:cubicBezTo>
                  <a:lnTo>
                    <a:pt x="10058400" y="195580"/>
                  </a:lnTo>
                  <a:cubicBezTo>
                    <a:pt x="10058400" y="101854"/>
                    <a:pt x="9980803" y="25400"/>
                    <a:pt x="9884410" y="25400"/>
                  </a:cubicBezTo>
                  <a:lnTo>
                    <a:pt x="199390" y="25400"/>
                  </a:lnTo>
                  <a:lnTo>
                    <a:pt x="199390" y="12700"/>
                  </a:lnTo>
                  <a:lnTo>
                    <a:pt x="199390" y="25400"/>
                  </a:lnTo>
                  <a:cubicBezTo>
                    <a:pt x="102997" y="25400"/>
                    <a:pt x="25400" y="101854"/>
                    <a:pt x="25400" y="195580"/>
                  </a:cubicBezTo>
                  <a:close/>
                </a:path>
              </a:pathLst>
            </a:custGeom>
            <a:solidFill>
              <a:srgbClr val="1E3048"/>
            </a:solidFill>
          </p:spPr>
        </p:sp>
      </p:grpSp>
      <p:grpSp>
        <p:nvGrpSpPr>
          <p:cNvPr name="Group 29" id="29"/>
          <p:cNvGrpSpPr/>
          <p:nvPr/>
        </p:nvGrpSpPr>
        <p:grpSpPr>
          <a:xfrm rot="0">
            <a:off x="2622074" y="7501482"/>
            <a:ext cx="7656258" cy="866746"/>
            <a:chOff x="0" y="0"/>
            <a:chExt cx="9692640" cy="1097280"/>
          </a:xfrm>
        </p:grpSpPr>
        <p:sp>
          <p:nvSpPr>
            <p:cNvPr name="Freeform 30" id="30"/>
            <p:cNvSpPr/>
            <p:nvPr/>
          </p:nvSpPr>
          <p:spPr>
            <a:xfrm flipH="false" flipV="false" rot="0">
              <a:off x="0" y="0"/>
              <a:ext cx="9692640" cy="1097280"/>
            </a:xfrm>
            <a:custGeom>
              <a:avLst/>
              <a:gdLst/>
              <a:ahLst/>
              <a:cxnLst/>
              <a:rect r="r" b="b" t="t" l="l"/>
              <a:pathLst>
                <a:path h="1097280" w="9692640">
                  <a:moveTo>
                    <a:pt x="0" y="0"/>
                  </a:moveTo>
                  <a:lnTo>
                    <a:pt x="9692640" y="0"/>
                  </a:lnTo>
                  <a:lnTo>
                    <a:pt x="9692640" y="1097280"/>
                  </a:lnTo>
                  <a:lnTo>
                    <a:pt x="0" y="1097280"/>
                  </a:lnTo>
                  <a:close/>
                </a:path>
              </a:pathLst>
            </a:custGeom>
            <a:blipFill>
              <a:blip r:embed="rId3">
                <a:alphaModFix amt="0"/>
              </a:blip>
              <a:stretch>
                <a:fillRect l="0" t="-122117" r="0" b="-122117"/>
              </a:stretch>
            </a:blipFill>
          </p:spPr>
        </p:sp>
        <p:sp>
          <p:nvSpPr>
            <p:cNvPr name="TextBox 31" id="31"/>
            <p:cNvSpPr txBox="true"/>
            <p:nvPr/>
          </p:nvSpPr>
          <p:spPr>
            <a:xfrm>
              <a:off x="0" y="-19050"/>
              <a:ext cx="9692640" cy="1116330"/>
            </a:xfrm>
            <a:prstGeom prst="rect">
              <a:avLst/>
            </a:prstGeom>
          </p:spPr>
          <p:txBody>
            <a:bodyPr anchor="ctr" rtlCol="false" tIns="0" lIns="0" bIns="0" rIns="0"/>
            <a:lstStyle/>
            <a:p>
              <a:pPr algn="l">
                <a:lnSpc>
                  <a:spcPts val="2340"/>
                </a:lnSpc>
              </a:pPr>
              <a:r>
                <a:rPr lang="en-US" sz="1950">
                  <a:solidFill>
                    <a:srgbClr val="E2E8F0"/>
                  </a:solidFill>
                  <a:latin typeface="Arial"/>
                  <a:ea typeface="Arial"/>
                  <a:cs typeface="Arial"/>
                  <a:sym typeface="Arial"/>
                </a:rPr>
                <a:t>• No unified system integrates doctors, pharmacies, labs, blood donors, and ambulance services</a:t>
              </a:r>
            </a:p>
          </p:txBody>
        </p:sp>
      </p:grpSp>
      <p:sp>
        <p:nvSpPr>
          <p:cNvPr name="Freeform 32" id="32"/>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028700" y="1911895"/>
            <a:ext cx="10391362" cy="890688"/>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The SER Solution</a:t>
              </a:r>
            </a:p>
          </p:txBody>
        </p:sp>
      </p:grpSp>
      <p:grpSp>
        <p:nvGrpSpPr>
          <p:cNvPr name="Group 5" id="5"/>
          <p:cNvGrpSpPr/>
          <p:nvPr/>
        </p:nvGrpSpPr>
        <p:grpSpPr>
          <a:xfrm rot="0">
            <a:off x="2086054" y="2908922"/>
            <a:ext cx="4297575" cy="3183198"/>
            <a:chOff x="0" y="0"/>
            <a:chExt cx="4231640" cy="3134360"/>
          </a:xfrm>
        </p:grpSpPr>
        <p:sp>
          <p:nvSpPr>
            <p:cNvPr name="Freeform 6" id="6"/>
            <p:cNvSpPr/>
            <p:nvPr/>
          </p:nvSpPr>
          <p:spPr>
            <a:xfrm flipH="false" flipV="false" rot="0">
              <a:off x="12700" y="12700"/>
              <a:ext cx="4206240" cy="3108960"/>
            </a:xfrm>
            <a:custGeom>
              <a:avLst/>
              <a:gdLst/>
              <a:ahLst/>
              <a:cxnLst/>
              <a:rect r="r" b="b" t="t" l="l"/>
              <a:pathLst>
                <a:path h="3108960" w="4206240">
                  <a:moveTo>
                    <a:pt x="0" y="274320"/>
                  </a:moveTo>
                  <a:cubicBezTo>
                    <a:pt x="0" y="122809"/>
                    <a:pt x="123063" y="0"/>
                    <a:pt x="274955" y="0"/>
                  </a:cubicBezTo>
                  <a:lnTo>
                    <a:pt x="3931285" y="0"/>
                  </a:lnTo>
                  <a:cubicBezTo>
                    <a:pt x="4083177" y="0"/>
                    <a:pt x="4206240" y="122809"/>
                    <a:pt x="4206240" y="274320"/>
                  </a:cubicBezTo>
                  <a:lnTo>
                    <a:pt x="4206240" y="2834640"/>
                  </a:lnTo>
                  <a:cubicBezTo>
                    <a:pt x="4206240" y="2986151"/>
                    <a:pt x="4083177" y="3108960"/>
                    <a:pt x="3931285" y="3108960"/>
                  </a:cubicBezTo>
                  <a:lnTo>
                    <a:pt x="274955" y="3108960"/>
                  </a:lnTo>
                  <a:cubicBezTo>
                    <a:pt x="123063" y="3108960"/>
                    <a:pt x="0" y="2986151"/>
                    <a:pt x="0" y="2834640"/>
                  </a:cubicBezTo>
                  <a:close/>
                </a:path>
              </a:pathLst>
            </a:custGeom>
            <a:solidFill>
              <a:srgbClr val="111D32"/>
            </a:solidFill>
          </p:spPr>
        </p:sp>
        <p:sp>
          <p:nvSpPr>
            <p:cNvPr name="Freeform 7" id="7"/>
            <p:cNvSpPr/>
            <p:nvPr/>
          </p:nvSpPr>
          <p:spPr>
            <a:xfrm flipH="false" flipV="false" rot="0">
              <a:off x="0" y="0"/>
              <a:ext cx="4231640" cy="3134360"/>
            </a:xfrm>
            <a:custGeom>
              <a:avLst/>
              <a:gdLst/>
              <a:ahLst/>
              <a:cxnLst/>
              <a:rect r="r" b="b" t="t" l="l"/>
              <a:pathLst>
                <a:path h="3134360" w="4231640">
                  <a:moveTo>
                    <a:pt x="0" y="287020"/>
                  </a:moveTo>
                  <a:cubicBezTo>
                    <a:pt x="0" y="128524"/>
                    <a:pt x="128778" y="0"/>
                    <a:pt x="287655" y="0"/>
                  </a:cubicBezTo>
                  <a:lnTo>
                    <a:pt x="3943985" y="0"/>
                  </a:lnTo>
                  <a:lnTo>
                    <a:pt x="3943985" y="12700"/>
                  </a:lnTo>
                  <a:lnTo>
                    <a:pt x="3943985" y="0"/>
                  </a:lnTo>
                  <a:cubicBezTo>
                    <a:pt x="4102862" y="0"/>
                    <a:pt x="4231640" y="128524"/>
                    <a:pt x="4231640" y="287020"/>
                  </a:cubicBezTo>
                  <a:lnTo>
                    <a:pt x="4218940" y="287020"/>
                  </a:lnTo>
                  <a:lnTo>
                    <a:pt x="4231640" y="287020"/>
                  </a:lnTo>
                  <a:lnTo>
                    <a:pt x="4231640" y="2847340"/>
                  </a:lnTo>
                  <a:lnTo>
                    <a:pt x="4218940" y="2847340"/>
                  </a:lnTo>
                  <a:lnTo>
                    <a:pt x="4231640" y="2847340"/>
                  </a:lnTo>
                  <a:cubicBezTo>
                    <a:pt x="4231640" y="3005836"/>
                    <a:pt x="4102862" y="3134360"/>
                    <a:pt x="3943985" y="3134360"/>
                  </a:cubicBezTo>
                  <a:lnTo>
                    <a:pt x="3943985" y="3121660"/>
                  </a:lnTo>
                  <a:lnTo>
                    <a:pt x="3943985" y="3134360"/>
                  </a:lnTo>
                  <a:lnTo>
                    <a:pt x="287655" y="3134360"/>
                  </a:lnTo>
                  <a:lnTo>
                    <a:pt x="287655" y="3121660"/>
                  </a:lnTo>
                  <a:lnTo>
                    <a:pt x="287655" y="3134360"/>
                  </a:lnTo>
                  <a:cubicBezTo>
                    <a:pt x="128778" y="3134360"/>
                    <a:pt x="0" y="3005836"/>
                    <a:pt x="0" y="2847340"/>
                  </a:cubicBezTo>
                  <a:lnTo>
                    <a:pt x="0" y="287020"/>
                  </a:lnTo>
                  <a:lnTo>
                    <a:pt x="12700" y="287020"/>
                  </a:lnTo>
                  <a:lnTo>
                    <a:pt x="0" y="287020"/>
                  </a:lnTo>
                  <a:moveTo>
                    <a:pt x="25400" y="287020"/>
                  </a:moveTo>
                  <a:lnTo>
                    <a:pt x="25400" y="2847340"/>
                  </a:lnTo>
                  <a:lnTo>
                    <a:pt x="12700" y="2847340"/>
                  </a:lnTo>
                  <a:lnTo>
                    <a:pt x="25400" y="2847340"/>
                  </a:lnTo>
                  <a:cubicBezTo>
                    <a:pt x="25400" y="2991866"/>
                    <a:pt x="142748" y="3108960"/>
                    <a:pt x="287655" y="3108960"/>
                  </a:cubicBezTo>
                  <a:lnTo>
                    <a:pt x="3943985" y="3108960"/>
                  </a:lnTo>
                  <a:cubicBezTo>
                    <a:pt x="4088765" y="3108960"/>
                    <a:pt x="4206240" y="2991739"/>
                    <a:pt x="4206240" y="2847340"/>
                  </a:cubicBezTo>
                  <a:lnTo>
                    <a:pt x="4206240" y="287020"/>
                  </a:lnTo>
                  <a:cubicBezTo>
                    <a:pt x="4206240" y="142494"/>
                    <a:pt x="4088892" y="25400"/>
                    <a:pt x="3943985" y="25400"/>
                  </a:cubicBezTo>
                  <a:lnTo>
                    <a:pt x="287655" y="25400"/>
                  </a:lnTo>
                  <a:lnTo>
                    <a:pt x="287655" y="12700"/>
                  </a:lnTo>
                  <a:lnTo>
                    <a:pt x="287655" y="25400"/>
                  </a:lnTo>
                  <a:cubicBezTo>
                    <a:pt x="142748" y="25400"/>
                    <a:pt x="25400" y="142621"/>
                    <a:pt x="25400" y="287020"/>
                  </a:cubicBezTo>
                  <a:close/>
                </a:path>
              </a:pathLst>
            </a:custGeom>
            <a:solidFill>
              <a:srgbClr val="1E3048"/>
            </a:solidFill>
          </p:spPr>
        </p:sp>
      </p:grpSp>
      <p:grpSp>
        <p:nvGrpSpPr>
          <p:cNvPr name="Group 8" id="8"/>
          <p:cNvGrpSpPr/>
          <p:nvPr/>
        </p:nvGrpSpPr>
        <p:grpSpPr>
          <a:xfrm rot="0">
            <a:off x="2099457" y="3231268"/>
            <a:ext cx="4439027" cy="772005"/>
            <a:chOff x="0" y="0"/>
            <a:chExt cx="4206240" cy="731520"/>
          </a:xfrm>
        </p:grpSpPr>
        <p:sp>
          <p:nvSpPr>
            <p:cNvPr name="Freeform 9" id="9"/>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10" id="10"/>
            <p:cNvSpPr txBox="true"/>
            <p:nvPr/>
          </p:nvSpPr>
          <p:spPr>
            <a:xfrm>
              <a:off x="0" y="-19050"/>
              <a:ext cx="4206240" cy="75057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AI Symptom Analysis</a:t>
              </a:r>
            </a:p>
          </p:txBody>
        </p:sp>
      </p:grpSp>
      <p:grpSp>
        <p:nvGrpSpPr>
          <p:cNvPr name="Group 11" id="11"/>
          <p:cNvGrpSpPr/>
          <p:nvPr/>
        </p:nvGrpSpPr>
        <p:grpSpPr>
          <a:xfrm rot="0">
            <a:off x="2098952" y="4407656"/>
            <a:ext cx="4271779" cy="742918"/>
            <a:chOff x="0" y="0"/>
            <a:chExt cx="4206240" cy="731520"/>
          </a:xfrm>
        </p:grpSpPr>
        <p:sp>
          <p:nvSpPr>
            <p:cNvPr name="Freeform 12" id="12"/>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13" id="13"/>
            <p:cNvSpPr txBox="true"/>
            <p:nvPr/>
          </p:nvSpPr>
          <p:spPr>
            <a:xfrm>
              <a:off x="0" y="-19050"/>
              <a:ext cx="420624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Specialty recommendation</a:t>
              </a:r>
            </a:p>
          </p:txBody>
        </p:sp>
      </p:grpSp>
      <p:grpSp>
        <p:nvGrpSpPr>
          <p:cNvPr name="Group 14" id="14"/>
          <p:cNvGrpSpPr/>
          <p:nvPr/>
        </p:nvGrpSpPr>
        <p:grpSpPr>
          <a:xfrm rot="0">
            <a:off x="6729292" y="2908922"/>
            <a:ext cx="4297575" cy="3183198"/>
            <a:chOff x="0" y="0"/>
            <a:chExt cx="4231640" cy="3134360"/>
          </a:xfrm>
        </p:grpSpPr>
        <p:sp>
          <p:nvSpPr>
            <p:cNvPr name="Freeform 15" id="15"/>
            <p:cNvSpPr/>
            <p:nvPr/>
          </p:nvSpPr>
          <p:spPr>
            <a:xfrm flipH="false" flipV="false" rot="0">
              <a:off x="12700" y="12700"/>
              <a:ext cx="4206240" cy="3108960"/>
            </a:xfrm>
            <a:custGeom>
              <a:avLst/>
              <a:gdLst/>
              <a:ahLst/>
              <a:cxnLst/>
              <a:rect r="r" b="b" t="t" l="l"/>
              <a:pathLst>
                <a:path h="3108960" w="4206240">
                  <a:moveTo>
                    <a:pt x="0" y="274320"/>
                  </a:moveTo>
                  <a:cubicBezTo>
                    <a:pt x="0" y="122809"/>
                    <a:pt x="123063" y="0"/>
                    <a:pt x="274955" y="0"/>
                  </a:cubicBezTo>
                  <a:lnTo>
                    <a:pt x="3931285" y="0"/>
                  </a:lnTo>
                  <a:cubicBezTo>
                    <a:pt x="4083177" y="0"/>
                    <a:pt x="4206240" y="122809"/>
                    <a:pt x="4206240" y="274320"/>
                  </a:cubicBezTo>
                  <a:lnTo>
                    <a:pt x="4206240" y="2834640"/>
                  </a:lnTo>
                  <a:cubicBezTo>
                    <a:pt x="4206240" y="2986151"/>
                    <a:pt x="4083177" y="3108960"/>
                    <a:pt x="3931285" y="3108960"/>
                  </a:cubicBezTo>
                  <a:lnTo>
                    <a:pt x="274955" y="3108960"/>
                  </a:lnTo>
                  <a:cubicBezTo>
                    <a:pt x="123063" y="3108960"/>
                    <a:pt x="0" y="2986151"/>
                    <a:pt x="0" y="2834640"/>
                  </a:cubicBezTo>
                  <a:close/>
                </a:path>
              </a:pathLst>
            </a:custGeom>
            <a:solidFill>
              <a:srgbClr val="111D32"/>
            </a:solidFill>
          </p:spPr>
        </p:sp>
        <p:sp>
          <p:nvSpPr>
            <p:cNvPr name="Freeform 16" id="16"/>
            <p:cNvSpPr/>
            <p:nvPr/>
          </p:nvSpPr>
          <p:spPr>
            <a:xfrm flipH="false" flipV="false" rot="0">
              <a:off x="0" y="0"/>
              <a:ext cx="4231640" cy="3134360"/>
            </a:xfrm>
            <a:custGeom>
              <a:avLst/>
              <a:gdLst/>
              <a:ahLst/>
              <a:cxnLst/>
              <a:rect r="r" b="b" t="t" l="l"/>
              <a:pathLst>
                <a:path h="3134360" w="4231640">
                  <a:moveTo>
                    <a:pt x="0" y="287020"/>
                  </a:moveTo>
                  <a:cubicBezTo>
                    <a:pt x="0" y="128524"/>
                    <a:pt x="128778" y="0"/>
                    <a:pt x="287655" y="0"/>
                  </a:cubicBezTo>
                  <a:lnTo>
                    <a:pt x="3943985" y="0"/>
                  </a:lnTo>
                  <a:lnTo>
                    <a:pt x="3943985" y="12700"/>
                  </a:lnTo>
                  <a:lnTo>
                    <a:pt x="3943985" y="0"/>
                  </a:lnTo>
                  <a:cubicBezTo>
                    <a:pt x="4102862" y="0"/>
                    <a:pt x="4231640" y="128524"/>
                    <a:pt x="4231640" y="287020"/>
                  </a:cubicBezTo>
                  <a:lnTo>
                    <a:pt x="4218940" y="287020"/>
                  </a:lnTo>
                  <a:lnTo>
                    <a:pt x="4231640" y="287020"/>
                  </a:lnTo>
                  <a:lnTo>
                    <a:pt x="4231640" y="2847340"/>
                  </a:lnTo>
                  <a:lnTo>
                    <a:pt x="4218940" y="2847340"/>
                  </a:lnTo>
                  <a:lnTo>
                    <a:pt x="4231640" y="2847340"/>
                  </a:lnTo>
                  <a:cubicBezTo>
                    <a:pt x="4231640" y="3005836"/>
                    <a:pt x="4102862" y="3134360"/>
                    <a:pt x="3943985" y="3134360"/>
                  </a:cubicBezTo>
                  <a:lnTo>
                    <a:pt x="3943985" y="3121660"/>
                  </a:lnTo>
                  <a:lnTo>
                    <a:pt x="3943985" y="3134360"/>
                  </a:lnTo>
                  <a:lnTo>
                    <a:pt x="287655" y="3134360"/>
                  </a:lnTo>
                  <a:lnTo>
                    <a:pt x="287655" y="3121660"/>
                  </a:lnTo>
                  <a:lnTo>
                    <a:pt x="287655" y="3134360"/>
                  </a:lnTo>
                  <a:cubicBezTo>
                    <a:pt x="128778" y="3134360"/>
                    <a:pt x="0" y="3005836"/>
                    <a:pt x="0" y="2847340"/>
                  </a:cubicBezTo>
                  <a:lnTo>
                    <a:pt x="0" y="287020"/>
                  </a:lnTo>
                  <a:lnTo>
                    <a:pt x="12700" y="287020"/>
                  </a:lnTo>
                  <a:lnTo>
                    <a:pt x="0" y="287020"/>
                  </a:lnTo>
                  <a:moveTo>
                    <a:pt x="25400" y="287020"/>
                  </a:moveTo>
                  <a:lnTo>
                    <a:pt x="25400" y="2847340"/>
                  </a:lnTo>
                  <a:lnTo>
                    <a:pt x="12700" y="2847340"/>
                  </a:lnTo>
                  <a:lnTo>
                    <a:pt x="25400" y="2847340"/>
                  </a:lnTo>
                  <a:cubicBezTo>
                    <a:pt x="25400" y="2991866"/>
                    <a:pt x="142748" y="3108960"/>
                    <a:pt x="287655" y="3108960"/>
                  </a:cubicBezTo>
                  <a:lnTo>
                    <a:pt x="3943985" y="3108960"/>
                  </a:lnTo>
                  <a:cubicBezTo>
                    <a:pt x="4088765" y="3108960"/>
                    <a:pt x="4206240" y="2991739"/>
                    <a:pt x="4206240" y="2847340"/>
                  </a:cubicBezTo>
                  <a:lnTo>
                    <a:pt x="4206240" y="287020"/>
                  </a:lnTo>
                  <a:cubicBezTo>
                    <a:pt x="4206240" y="142494"/>
                    <a:pt x="4088892" y="25400"/>
                    <a:pt x="3943985" y="25400"/>
                  </a:cubicBezTo>
                  <a:lnTo>
                    <a:pt x="287655" y="25400"/>
                  </a:lnTo>
                  <a:lnTo>
                    <a:pt x="287655" y="12700"/>
                  </a:lnTo>
                  <a:lnTo>
                    <a:pt x="287655" y="25400"/>
                  </a:lnTo>
                  <a:cubicBezTo>
                    <a:pt x="142748" y="25400"/>
                    <a:pt x="25400" y="142621"/>
                    <a:pt x="25400" y="287020"/>
                  </a:cubicBezTo>
                  <a:close/>
                </a:path>
              </a:pathLst>
            </a:custGeom>
            <a:solidFill>
              <a:srgbClr val="1E3048"/>
            </a:solidFill>
          </p:spPr>
        </p:sp>
      </p:grpSp>
      <p:grpSp>
        <p:nvGrpSpPr>
          <p:cNvPr name="Group 17" id="17"/>
          <p:cNvGrpSpPr/>
          <p:nvPr/>
        </p:nvGrpSpPr>
        <p:grpSpPr>
          <a:xfrm rot="0">
            <a:off x="6924486" y="3231268"/>
            <a:ext cx="4439027" cy="772005"/>
            <a:chOff x="0" y="0"/>
            <a:chExt cx="4206240" cy="731520"/>
          </a:xfrm>
        </p:grpSpPr>
        <p:sp>
          <p:nvSpPr>
            <p:cNvPr name="Freeform 18" id="18"/>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19" id="19"/>
            <p:cNvSpPr txBox="true"/>
            <p:nvPr/>
          </p:nvSpPr>
          <p:spPr>
            <a:xfrm>
              <a:off x="0" y="-19050"/>
              <a:ext cx="4206240" cy="75057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Real-time Routing</a:t>
              </a:r>
            </a:p>
          </p:txBody>
        </p:sp>
      </p:grpSp>
      <p:grpSp>
        <p:nvGrpSpPr>
          <p:cNvPr name="Group 20" id="20"/>
          <p:cNvGrpSpPr/>
          <p:nvPr/>
        </p:nvGrpSpPr>
        <p:grpSpPr>
          <a:xfrm rot="0">
            <a:off x="6742190" y="4407656"/>
            <a:ext cx="4271779" cy="742918"/>
            <a:chOff x="0" y="0"/>
            <a:chExt cx="4206240" cy="731520"/>
          </a:xfrm>
        </p:grpSpPr>
        <p:sp>
          <p:nvSpPr>
            <p:cNvPr name="Freeform 21" id="21"/>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22" id="22"/>
            <p:cNvSpPr txBox="true"/>
            <p:nvPr/>
          </p:nvSpPr>
          <p:spPr>
            <a:xfrm>
              <a:off x="0" y="-19050"/>
              <a:ext cx="420624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Nearest provider geolocation</a:t>
              </a:r>
            </a:p>
          </p:txBody>
        </p:sp>
      </p:grpSp>
      <p:grpSp>
        <p:nvGrpSpPr>
          <p:cNvPr name="Group 23" id="23"/>
          <p:cNvGrpSpPr/>
          <p:nvPr/>
        </p:nvGrpSpPr>
        <p:grpSpPr>
          <a:xfrm rot="0">
            <a:off x="11372531" y="2908922"/>
            <a:ext cx="4297575" cy="3183198"/>
            <a:chOff x="0" y="0"/>
            <a:chExt cx="4231640" cy="3134360"/>
          </a:xfrm>
        </p:grpSpPr>
        <p:sp>
          <p:nvSpPr>
            <p:cNvPr name="Freeform 24" id="24"/>
            <p:cNvSpPr/>
            <p:nvPr/>
          </p:nvSpPr>
          <p:spPr>
            <a:xfrm flipH="false" flipV="false" rot="0">
              <a:off x="12700" y="12700"/>
              <a:ext cx="4206240" cy="3108960"/>
            </a:xfrm>
            <a:custGeom>
              <a:avLst/>
              <a:gdLst/>
              <a:ahLst/>
              <a:cxnLst/>
              <a:rect r="r" b="b" t="t" l="l"/>
              <a:pathLst>
                <a:path h="3108960" w="4206240">
                  <a:moveTo>
                    <a:pt x="0" y="274320"/>
                  </a:moveTo>
                  <a:cubicBezTo>
                    <a:pt x="0" y="122809"/>
                    <a:pt x="123063" y="0"/>
                    <a:pt x="274955" y="0"/>
                  </a:cubicBezTo>
                  <a:lnTo>
                    <a:pt x="3931285" y="0"/>
                  </a:lnTo>
                  <a:cubicBezTo>
                    <a:pt x="4083177" y="0"/>
                    <a:pt x="4206240" y="122809"/>
                    <a:pt x="4206240" y="274320"/>
                  </a:cubicBezTo>
                  <a:lnTo>
                    <a:pt x="4206240" y="2834640"/>
                  </a:lnTo>
                  <a:cubicBezTo>
                    <a:pt x="4206240" y="2986151"/>
                    <a:pt x="4083177" y="3108960"/>
                    <a:pt x="3931285" y="3108960"/>
                  </a:cubicBezTo>
                  <a:lnTo>
                    <a:pt x="274955" y="3108960"/>
                  </a:lnTo>
                  <a:cubicBezTo>
                    <a:pt x="123063" y="3108960"/>
                    <a:pt x="0" y="2986151"/>
                    <a:pt x="0" y="2834640"/>
                  </a:cubicBezTo>
                  <a:close/>
                </a:path>
              </a:pathLst>
            </a:custGeom>
            <a:solidFill>
              <a:srgbClr val="111D32"/>
            </a:solidFill>
          </p:spPr>
        </p:sp>
        <p:sp>
          <p:nvSpPr>
            <p:cNvPr name="Freeform 25" id="25"/>
            <p:cNvSpPr/>
            <p:nvPr/>
          </p:nvSpPr>
          <p:spPr>
            <a:xfrm flipH="false" flipV="false" rot="0">
              <a:off x="0" y="0"/>
              <a:ext cx="4231640" cy="3134360"/>
            </a:xfrm>
            <a:custGeom>
              <a:avLst/>
              <a:gdLst/>
              <a:ahLst/>
              <a:cxnLst/>
              <a:rect r="r" b="b" t="t" l="l"/>
              <a:pathLst>
                <a:path h="3134360" w="4231640">
                  <a:moveTo>
                    <a:pt x="0" y="287020"/>
                  </a:moveTo>
                  <a:cubicBezTo>
                    <a:pt x="0" y="128524"/>
                    <a:pt x="128778" y="0"/>
                    <a:pt x="287655" y="0"/>
                  </a:cubicBezTo>
                  <a:lnTo>
                    <a:pt x="3943985" y="0"/>
                  </a:lnTo>
                  <a:lnTo>
                    <a:pt x="3943985" y="12700"/>
                  </a:lnTo>
                  <a:lnTo>
                    <a:pt x="3943985" y="0"/>
                  </a:lnTo>
                  <a:cubicBezTo>
                    <a:pt x="4102862" y="0"/>
                    <a:pt x="4231640" y="128524"/>
                    <a:pt x="4231640" y="287020"/>
                  </a:cubicBezTo>
                  <a:lnTo>
                    <a:pt x="4218940" y="287020"/>
                  </a:lnTo>
                  <a:lnTo>
                    <a:pt x="4231640" y="287020"/>
                  </a:lnTo>
                  <a:lnTo>
                    <a:pt x="4231640" y="2847340"/>
                  </a:lnTo>
                  <a:lnTo>
                    <a:pt x="4218940" y="2847340"/>
                  </a:lnTo>
                  <a:lnTo>
                    <a:pt x="4231640" y="2847340"/>
                  </a:lnTo>
                  <a:cubicBezTo>
                    <a:pt x="4231640" y="3005836"/>
                    <a:pt x="4102862" y="3134360"/>
                    <a:pt x="3943985" y="3134360"/>
                  </a:cubicBezTo>
                  <a:lnTo>
                    <a:pt x="3943985" y="3121660"/>
                  </a:lnTo>
                  <a:lnTo>
                    <a:pt x="3943985" y="3134360"/>
                  </a:lnTo>
                  <a:lnTo>
                    <a:pt x="287655" y="3134360"/>
                  </a:lnTo>
                  <a:lnTo>
                    <a:pt x="287655" y="3121660"/>
                  </a:lnTo>
                  <a:lnTo>
                    <a:pt x="287655" y="3134360"/>
                  </a:lnTo>
                  <a:cubicBezTo>
                    <a:pt x="128778" y="3134360"/>
                    <a:pt x="0" y="3005836"/>
                    <a:pt x="0" y="2847340"/>
                  </a:cubicBezTo>
                  <a:lnTo>
                    <a:pt x="0" y="287020"/>
                  </a:lnTo>
                  <a:lnTo>
                    <a:pt x="12700" y="287020"/>
                  </a:lnTo>
                  <a:lnTo>
                    <a:pt x="0" y="287020"/>
                  </a:lnTo>
                  <a:moveTo>
                    <a:pt x="25400" y="287020"/>
                  </a:moveTo>
                  <a:lnTo>
                    <a:pt x="25400" y="2847340"/>
                  </a:lnTo>
                  <a:lnTo>
                    <a:pt x="12700" y="2847340"/>
                  </a:lnTo>
                  <a:lnTo>
                    <a:pt x="25400" y="2847340"/>
                  </a:lnTo>
                  <a:cubicBezTo>
                    <a:pt x="25400" y="2991866"/>
                    <a:pt x="142748" y="3108960"/>
                    <a:pt x="287655" y="3108960"/>
                  </a:cubicBezTo>
                  <a:lnTo>
                    <a:pt x="3943985" y="3108960"/>
                  </a:lnTo>
                  <a:cubicBezTo>
                    <a:pt x="4088765" y="3108960"/>
                    <a:pt x="4206240" y="2991739"/>
                    <a:pt x="4206240" y="2847340"/>
                  </a:cubicBezTo>
                  <a:lnTo>
                    <a:pt x="4206240" y="287020"/>
                  </a:lnTo>
                  <a:cubicBezTo>
                    <a:pt x="4206240" y="142494"/>
                    <a:pt x="4088892" y="25400"/>
                    <a:pt x="3943985" y="25400"/>
                  </a:cubicBezTo>
                  <a:lnTo>
                    <a:pt x="287655" y="25400"/>
                  </a:lnTo>
                  <a:lnTo>
                    <a:pt x="287655" y="12700"/>
                  </a:lnTo>
                  <a:lnTo>
                    <a:pt x="287655" y="25400"/>
                  </a:lnTo>
                  <a:cubicBezTo>
                    <a:pt x="142748" y="25400"/>
                    <a:pt x="25400" y="142621"/>
                    <a:pt x="25400" y="287020"/>
                  </a:cubicBezTo>
                  <a:close/>
                </a:path>
              </a:pathLst>
            </a:custGeom>
            <a:solidFill>
              <a:srgbClr val="1E3048"/>
            </a:solidFill>
          </p:spPr>
        </p:sp>
      </p:grpSp>
      <p:grpSp>
        <p:nvGrpSpPr>
          <p:cNvPr name="Group 26" id="26"/>
          <p:cNvGrpSpPr/>
          <p:nvPr/>
        </p:nvGrpSpPr>
        <p:grpSpPr>
          <a:xfrm rot="0">
            <a:off x="11749516" y="3231268"/>
            <a:ext cx="4439027" cy="772005"/>
            <a:chOff x="0" y="0"/>
            <a:chExt cx="4206240" cy="731520"/>
          </a:xfrm>
        </p:grpSpPr>
        <p:sp>
          <p:nvSpPr>
            <p:cNvPr name="Freeform 27" id="27"/>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28" id="28"/>
            <p:cNvSpPr txBox="true"/>
            <p:nvPr/>
          </p:nvSpPr>
          <p:spPr>
            <a:xfrm>
              <a:off x="0" y="-19050"/>
              <a:ext cx="4206240" cy="75057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Medicine Availability</a:t>
              </a:r>
            </a:p>
          </p:txBody>
        </p:sp>
      </p:grpSp>
      <p:grpSp>
        <p:nvGrpSpPr>
          <p:cNvPr name="Group 29" id="29"/>
          <p:cNvGrpSpPr/>
          <p:nvPr/>
        </p:nvGrpSpPr>
        <p:grpSpPr>
          <a:xfrm rot="0">
            <a:off x="11385428" y="4407656"/>
            <a:ext cx="4271779" cy="742918"/>
            <a:chOff x="0" y="0"/>
            <a:chExt cx="4206240" cy="731520"/>
          </a:xfrm>
        </p:grpSpPr>
        <p:sp>
          <p:nvSpPr>
            <p:cNvPr name="Freeform 30" id="30"/>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31" id="31"/>
            <p:cNvSpPr txBox="true"/>
            <p:nvPr/>
          </p:nvSpPr>
          <p:spPr>
            <a:xfrm>
              <a:off x="0" y="-19050"/>
              <a:ext cx="420624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Pharmacy comparison</a:t>
              </a:r>
            </a:p>
          </p:txBody>
        </p:sp>
      </p:grpSp>
      <p:grpSp>
        <p:nvGrpSpPr>
          <p:cNvPr name="Group 32" id="32"/>
          <p:cNvGrpSpPr/>
          <p:nvPr/>
        </p:nvGrpSpPr>
        <p:grpSpPr>
          <a:xfrm rot="0">
            <a:off x="2086054" y="6623513"/>
            <a:ext cx="4297575" cy="3183198"/>
            <a:chOff x="0" y="0"/>
            <a:chExt cx="4231640" cy="3134360"/>
          </a:xfrm>
        </p:grpSpPr>
        <p:sp>
          <p:nvSpPr>
            <p:cNvPr name="Freeform 33" id="33"/>
            <p:cNvSpPr/>
            <p:nvPr/>
          </p:nvSpPr>
          <p:spPr>
            <a:xfrm flipH="false" flipV="false" rot="0">
              <a:off x="12700" y="12700"/>
              <a:ext cx="4206240" cy="3108960"/>
            </a:xfrm>
            <a:custGeom>
              <a:avLst/>
              <a:gdLst/>
              <a:ahLst/>
              <a:cxnLst/>
              <a:rect r="r" b="b" t="t" l="l"/>
              <a:pathLst>
                <a:path h="3108960" w="4206240">
                  <a:moveTo>
                    <a:pt x="0" y="274320"/>
                  </a:moveTo>
                  <a:cubicBezTo>
                    <a:pt x="0" y="122809"/>
                    <a:pt x="123063" y="0"/>
                    <a:pt x="274955" y="0"/>
                  </a:cubicBezTo>
                  <a:lnTo>
                    <a:pt x="3931285" y="0"/>
                  </a:lnTo>
                  <a:cubicBezTo>
                    <a:pt x="4083177" y="0"/>
                    <a:pt x="4206240" y="122809"/>
                    <a:pt x="4206240" y="274320"/>
                  </a:cubicBezTo>
                  <a:lnTo>
                    <a:pt x="4206240" y="2834640"/>
                  </a:lnTo>
                  <a:cubicBezTo>
                    <a:pt x="4206240" y="2986151"/>
                    <a:pt x="4083177" y="3108960"/>
                    <a:pt x="3931285" y="3108960"/>
                  </a:cubicBezTo>
                  <a:lnTo>
                    <a:pt x="274955" y="3108960"/>
                  </a:lnTo>
                  <a:cubicBezTo>
                    <a:pt x="123063" y="3108960"/>
                    <a:pt x="0" y="2986151"/>
                    <a:pt x="0" y="2834640"/>
                  </a:cubicBezTo>
                  <a:close/>
                </a:path>
              </a:pathLst>
            </a:custGeom>
            <a:solidFill>
              <a:srgbClr val="111D32"/>
            </a:solidFill>
          </p:spPr>
        </p:sp>
        <p:sp>
          <p:nvSpPr>
            <p:cNvPr name="Freeform 34" id="34"/>
            <p:cNvSpPr/>
            <p:nvPr/>
          </p:nvSpPr>
          <p:spPr>
            <a:xfrm flipH="false" flipV="false" rot="0">
              <a:off x="0" y="0"/>
              <a:ext cx="4231640" cy="3134360"/>
            </a:xfrm>
            <a:custGeom>
              <a:avLst/>
              <a:gdLst/>
              <a:ahLst/>
              <a:cxnLst/>
              <a:rect r="r" b="b" t="t" l="l"/>
              <a:pathLst>
                <a:path h="3134360" w="4231640">
                  <a:moveTo>
                    <a:pt x="0" y="287020"/>
                  </a:moveTo>
                  <a:cubicBezTo>
                    <a:pt x="0" y="128524"/>
                    <a:pt x="128778" y="0"/>
                    <a:pt x="287655" y="0"/>
                  </a:cubicBezTo>
                  <a:lnTo>
                    <a:pt x="3943985" y="0"/>
                  </a:lnTo>
                  <a:lnTo>
                    <a:pt x="3943985" y="12700"/>
                  </a:lnTo>
                  <a:lnTo>
                    <a:pt x="3943985" y="0"/>
                  </a:lnTo>
                  <a:cubicBezTo>
                    <a:pt x="4102862" y="0"/>
                    <a:pt x="4231640" y="128524"/>
                    <a:pt x="4231640" y="287020"/>
                  </a:cubicBezTo>
                  <a:lnTo>
                    <a:pt x="4218940" y="287020"/>
                  </a:lnTo>
                  <a:lnTo>
                    <a:pt x="4231640" y="287020"/>
                  </a:lnTo>
                  <a:lnTo>
                    <a:pt x="4231640" y="2847340"/>
                  </a:lnTo>
                  <a:lnTo>
                    <a:pt x="4218940" y="2847340"/>
                  </a:lnTo>
                  <a:lnTo>
                    <a:pt x="4231640" y="2847340"/>
                  </a:lnTo>
                  <a:cubicBezTo>
                    <a:pt x="4231640" y="3005836"/>
                    <a:pt x="4102862" y="3134360"/>
                    <a:pt x="3943985" y="3134360"/>
                  </a:cubicBezTo>
                  <a:lnTo>
                    <a:pt x="3943985" y="3121660"/>
                  </a:lnTo>
                  <a:lnTo>
                    <a:pt x="3943985" y="3134360"/>
                  </a:lnTo>
                  <a:lnTo>
                    <a:pt x="287655" y="3134360"/>
                  </a:lnTo>
                  <a:lnTo>
                    <a:pt x="287655" y="3121660"/>
                  </a:lnTo>
                  <a:lnTo>
                    <a:pt x="287655" y="3134360"/>
                  </a:lnTo>
                  <a:cubicBezTo>
                    <a:pt x="128778" y="3134360"/>
                    <a:pt x="0" y="3005836"/>
                    <a:pt x="0" y="2847340"/>
                  </a:cubicBezTo>
                  <a:lnTo>
                    <a:pt x="0" y="287020"/>
                  </a:lnTo>
                  <a:lnTo>
                    <a:pt x="12700" y="287020"/>
                  </a:lnTo>
                  <a:lnTo>
                    <a:pt x="0" y="287020"/>
                  </a:lnTo>
                  <a:moveTo>
                    <a:pt x="25400" y="287020"/>
                  </a:moveTo>
                  <a:lnTo>
                    <a:pt x="25400" y="2847340"/>
                  </a:lnTo>
                  <a:lnTo>
                    <a:pt x="12700" y="2847340"/>
                  </a:lnTo>
                  <a:lnTo>
                    <a:pt x="25400" y="2847340"/>
                  </a:lnTo>
                  <a:cubicBezTo>
                    <a:pt x="25400" y="2991866"/>
                    <a:pt x="142748" y="3108960"/>
                    <a:pt x="287655" y="3108960"/>
                  </a:cubicBezTo>
                  <a:lnTo>
                    <a:pt x="3943985" y="3108960"/>
                  </a:lnTo>
                  <a:cubicBezTo>
                    <a:pt x="4088765" y="3108960"/>
                    <a:pt x="4206240" y="2991739"/>
                    <a:pt x="4206240" y="2847340"/>
                  </a:cubicBezTo>
                  <a:lnTo>
                    <a:pt x="4206240" y="287020"/>
                  </a:lnTo>
                  <a:cubicBezTo>
                    <a:pt x="4206240" y="142494"/>
                    <a:pt x="4088892" y="25400"/>
                    <a:pt x="3943985" y="25400"/>
                  </a:cubicBezTo>
                  <a:lnTo>
                    <a:pt x="287655" y="25400"/>
                  </a:lnTo>
                  <a:lnTo>
                    <a:pt x="287655" y="12700"/>
                  </a:lnTo>
                  <a:lnTo>
                    <a:pt x="287655" y="25400"/>
                  </a:lnTo>
                  <a:cubicBezTo>
                    <a:pt x="142748" y="25400"/>
                    <a:pt x="25400" y="142621"/>
                    <a:pt x="25400" y="287020"/>
                  </a:cubicBezTo>
                  <a:close/>
                </a:path>
              </a:pathLst>
            </a:custGeom>
            <a:solidFill>
              <a:srgbClr val="1E3048"/>
            </a:solidFill>
          </p:spPr>
        </p:sp>
      </p:grpSp>
      <p:grpSp>
        <p:nvGrpSpPr>
          <p:cNvPr name="Group 35" id="35"/>
          <p:cNvGrpSpPr/>
          <p:nvPr/>
        </p:nvGrpSpPr>
        <p:grpSpPr>
          <a:xfrm rot="0">
            <a:off x="2098952" y="7193599"/>
            <a:ext cx="4271779" cy="742918"/>
            <a:chOff x="0" y="0"/>
            <a:chExt cx="4206240" cy="731520"/>
          </a:xfrm>
        </p:grpSpPr>
        <p:sp>
          <p:nvSpPr>
            <p:cNvPr name="Freeform 36" id="36"/>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37" id="37"/>
            <p:cNvSpPr txBox="true"/>
            <p:nvPr/>
          </p:nvSpPr>
          <p:spPr>
            <a:xfrm>
              <a:off x="0" y="-19050"/>
              <a:ext cx="4206240" cy="75057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Lab Booking</a:t>
              </a:r>
            </a:p>
          </p:txBody>
        </p:sp>
      </p:grpSp>
      <p:grpSp>
        <p:nvGrpSpPr>
          <p:cNvPr name="Group 38" id="38"/>
          <p:cNvGrpSpPr/>
          <p:nvPr/>
        </p:nvGrpSpPr>
        <p:grpSpPr>
          <a:xfrm rot="0">
            <a:off x="2098952" y="8122247"/>
            <a:ext cx="4271779" cy="742918"/>
            <a:chOff x="0" y="0"/>
            <a:chExt cx="4206240" cy="731520"/>
          </a:xfrm>
        </p:grpSpPr>
        <p:sp>
          <p:nvSpPr>
            <p:cNvPr name="Freeform 39" id="39"/>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40" id="40"/>
            <p:cNvSpPr txBox="true"/>
            <p:nvPr/>
          </p:nvSpPr>
          <p:spPr>
            <a:xfrm>
              <a:off x="0" y="-19050"/>
              <a:ext cx="420624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Filtering &amp; scheduling</a:t>
              </a:r>
            </a:p>
          </p:txBody>
        </p:sp>
      </p:grpSp>
      <p:grpSp>
        <p:nvGrpSpPr>
          <p:cNvPr name="Group 41" id="41"/>
          <p:cNvGrpSpPr/>
          <p:nvPr/>
        </p:nvGrpSpPr>
        <p:grpSpPr>
          <a:xfrm rot="0">
            <a:off x="6729292" y="6623513"/>
            <a:ext cx="4297575" cy="3183198"/>
            <a:chOff x="0" y="0"/>
            <a:chExt cx="4231640" cy="3134360"/>
          </a:xfrm>
        </p:grpSpPr>
        <p:sp>
          <p:nvSpPr>
            <p:cNvPr name="Freeform 42" id="42"/>
            <p:cNvSpPr/>
            <p:nvPr/>
          </p:nvSpPr>
          <p:spPr>
            <a:xfrm flipH="false" flipV="false" rot="0">
              <a:off x="12700" y="12700"/>
              <a:ext cx="4206240" cy="3108960"/>
            </a:xfrm>
            <a:custGeom>
              <a:avLst/>
              <a:gdLst/>
              <a:ahLst/>
              <a:cxnLst/>
              <a:rect r="r" b="b" t="t" l="l"/>
              <a:pathLst>
                <a:path h="3108960" w="4206240">
                  <a:moveTo>
                    <a:pt x="0" y="274320"/>
                  </a:moveTo>
                  <a:cubicBezTo>
                    <a:pt x="0" y="122809"/>
                    <a:pt x="123063" y="0"/>
                    <a:pt x="274955" y="0"/>
                  </a:cubicBezTo>
                  <a:lnTo>
                    <a:pt x="3931285" y="0"/>
                  </a:lnTo>
                  <a:cubicBezTo>
                    <a:pt x="4083177" y="0"/>
                    <a:pt x="4206240" y="122809"/>
                    <a:pt x="4206240" y="274320"/>
                  </a:cubicBezTo>
                  <a:lnTo>
                    <a:pt x="4206240" y="2834640"/>
                  </a:lnTo>
                  <a:cubicBezTo>
                    <a:pt x="4206240" y="2986151"/>
                    <a:pt x="4083177" y="3108960"/>
                    <a:pt x="3931285" y="3108960"/>
                  </a:cubicBezTo>
                  <a:lnTo>
                    <a:pt x="274955" y="3108960"/>
                  </a:lnTo>
                  <a:cubicBezTo>
                    <a:pt x="123063" y="3108960"/>
                    <a:pt x="0" y="2986151"/>
                    <a:pt x="0" y="2834640"/>
                  </a:cubicBezTo>
                  <a:close/>
                </a:path>
              </a:pathLst>
            </a:custGeom>
            <a:solidFill>
              <a:srgbClr val="111D32"/>
            </a:solidFill>
          </p:spPr>
        </p:sp>
        <p:sp>
          <p:nvSpPr>
            <p:cNvPr name="Freeform 43" id="43"/>
            <p:cNvSpPr/>
            <p:nvPr/>
          </p:nvSpPr>
          <p:spPr>
            <a:xfrm flipH="false" flipV="false" rot="0">
              <a:off x="0" y="0"/>
              <a:ext cx="4231640" cy="3134360"/>
            </a:xfrm>
            <a:custGeom>
              <a:avLst/>
              <a:gdLst/>
              <a:ahLst/>
              <a:cxnLst/>
              <a:rect r="r" b="b" t="t" l="l"/>
              <a:pathLst>
                <a:path h="3134360" w="4231640">
                  <a:moveTo>
                    <a:pt x="0" y="287020"/>
                  </a:moveTo>
                  <a:cubicBezTo>
                    <a:pt x="0" y="128524"/>
                    <a:pt x="128778" y="0"/>
                    <a:pt x="287655" y="0"/>
                  </a:cubicBezTo>
                  <a:lnTo>
                    <a:pt x="3943985" y="0"/>
                  </a:lnTo>
                  <a:lnTo>
                    <a:pt x="3943985" y="12700"/>
                  </a:lnTo>
                  <a:lnTo>
                    <a:pt x="3943985" y="0"/>
                  </a:lnTo>
                  <a:cubicBezTo>
                    <a:pt x="4102862" y="0"/>
                    <a:pt x="4231640" y="128524"/>
                    <a:pt x="4231640" y="287020"/>
                  </a:cubicBezTo>
                  <a:lnTo>
                    <a:pt x="4218940" y="287020"/>
                  </a:lnTo>
                  <a:lnTo>
                    <a:pt x="4231640" y="287020"/>
                  </a:lnTo>
                  <a:lnTo>
                    <a:pt x="4231640" y="2847340"/>
                  </a:lnTo>
                  <a:lnTo>
                    <a:pt x="4218940" y="2847340"/>
                  </a:lnTo>
                  <a:lnTo>
                    <a:pt x="4231640" y="2847340"/>
                  </a:lnTo>
                  <a:cubicBezTo>
                    <a:pt x="4231640" y="3005836"/>
                    <a:pt x="4102862" y="3134360"/>
                    <a:pt x="3943985" y="3134360"/>
                  </a:cubicBezTo>
                  <a:lnTo>
                    <a:pt x="3943985" y="3121660"/>
                  </a:lnTo>
                  <a:lnTo>
                    <a:pt x="3943985" y="3134360"/>
                  </a:lnTo>
                  <a:lnTo>
                    <a:pt x="287655" y="3134360"/>
                  </a:lnTo>
                  <a:lnTo>
                    <a:pt x="287655" y="3121660"/>
                  </a:lnTo>
                  <a:lnTo>
                    <a:pt x="287655" y="3134360"/>
                  </a:lnTo>
                  <a:cubicBezTo>
                    <a:pt x="128778" y="3134360"/>
                    <a:pt x="0" y="3005836"/>
                    <a:pt x="0" y="2847340"/>
                  </a:cubicBezTo>
                  <a:lnTo>
                    <a:pt x="0" y="287020"/>
                  </a:lnTo>
                  <a:lnTo>
                    <a:pt x="12700" y="287020"/>
                  </a:lnTo>
                  <a:lnTo>
                    <a:pt x="0" y="287020"/>
                  </a:lnTo>
                  <a:moveTo>
                    <a:pt x="25400" y="287020"/>
                  </a:moveTo>
                  <a:lnTo>
                    <a:pt x="25400" y="2847340"/>
                  </a:lnTo>
                  <a:lnTo>
                    <a:pt x="12700" y="2847340"/>
                  </a:lnTo>
                  <a:lnTo>
                    <a:pt x="25400" y="2847340"/>
                  </a:lnTo>
                  <a:cubicBezTo>
                    <a:pt x="25400" y="2991866"/>
                    <a:pt x="142748" y="3108960"/>
                    <a:pt x="287655" y="3108960"/>
                  </a:cubicBezTo>
                  <a:lnTo>
                    <a:pt x="3943985" y="3108960"/>
                  </a:lnTo>
                  <a:cubicBezTo>
                    <a:pt x="4088765" y="3108960"/>
                    <a:pt x="4206240" y="2991739"/>
                    <a:pt x="4206240" y="2847340"/>
                  </a:cubicBezTo>
                  <a:lnTo>
                    <a:pt x="4206240" y="287020"/>
                  </a:lnTo>
                  <a:cubicBezTo>
                    <a:pt x="4206240" y="142494"/>
                    <a:pt x="4088892" y="25400"/>
                    <a:pt x="3943985" y="25400"/>
                  </a:cubicBezTo>
                  <a:lnTo>
                    <a:pt x="287655" y="25400"/>
                  </a:lnTo>
                  <a:lnTo>
                    <a:pt x="287655" y="12700"/>
                  </a:lnTo>
                  <a:lnTo>
                    <a:pt x="287655" y="25400"/>
                  </a:lnTo>
                  <a:cubicBezTo>
                    <a:pt x="142748" y="25400"/>
                    <a:pt x="25400" y="142621"/>
                    <a:pt x="25400" y="287020"/>
                  </a:cubicBezTo>
                  <a:close/>
                </a:path>
              </a:pathLst>
            </a:custGeom>
            <a:solidFill>
              <a:srgbClr val="1E3048"/>
            </a:solidFill>
          </p:spPr>
        </p:sp>
      </p:grpSp>
      <p:grpSp>
        <p:nvGrpSpPr>
          <p:cNvPr name="Group 44" id="44"/>
          <p:cNvGrpSpPr/>
          <p:nvPr/>
        </p:nvGrpSpPr>
        <p:grpSpPr>
          <a:xfrm rot="0">
            <a:off x="6742190" y="7193599"/>
            <a:ext cx="4271779" cy="742918"/>
            <a:chOff x="0" y="0"/>
            <a:chExt cx="4206240" cy="731520"/>
          </a:xfrm>
        </p:grpSpPr>
        <p:sp>
          <p:nvSpPr>
            <p:cNvPr name="Freeform 45" id="45"/>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46" id="46"/>
            <p:cNvSpPr txBox="true"/>
            <p:nvPr/>
          </p:nvSpPr>
          <p:spPr>
            <a:xfrm>
              <a:off x="0" y="-19050"/>
              <a:ext cx="4206240" cy="75057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Emergency Services</a:t>
              </a:r>
            </a:p>
          </p:txBody>
        </p:sp>
      </p:grpSp>
      <p:grpSp>
        <p:nvGrpSpPr>
          <p:cNvPr name="Group 47" id="47"/>
          <p:cNvGrpSpPr/>
          <p:nvPr/>
        </p:nvGrpSpPr>
        <p:grpSpPr>
          <a:xfrm rot="0">
            <a:off x="6742190" y="8122247"/>
            <a:ext cx="4271779" cy="742918"/>
            <a:chOff x="0" y="0"/>
            <a:chExt cx="4206240" cy="731520"/>
          </a:xfrm>
        </p:grpSpPr>
        <p:sp>
          <p:nvSpPr>
            <p:cNvPr name="Freeform 48" id="48"/>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49" id="49"/>
            <p:cNvSpPr txBox="true"/>
            <p:nvPr/>
          </p:nvSpPr>
          <p:spPr>
            <a:xfrm>
              <a:off x="0" y="-19050"/>
              <a:ext cx="420624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Ambulance request system</a:t>
              </a:r>
            </a:p>
          </p:txBody>
        </p:sp>
      </p:grpSp>
      <p:grpSp>
        <p:nvGrpSpPr>
          <p:cNvPr name="Group 50" id="50"/>
          <p:cNvGrpSpPr/>
          <p:nvPr/>
        </p:nvGrpSpPr>
        <p:grpSpPr>
          <a:xfrm rot="0">
            <a:off x="11372531" y="6623513"/>
            <a:ext cx="4297575" cy="3183198"/>
            <a:chOff x="0" y="0"/>
            <a:chExt cx="4231640" cy="3134360"/>
          </a:xfrm>
        </p:grpSpPr>
        <p:sp>
          <p:nvSpPr>
            <p:cNvPr name="Freeform 51" id="51"/>
            <p:cNvSpPr/>
            <p:nvPr/>
          </p:nvSpPr>
          <p:spPr>
            <a:xfrm flipH="false" flipV="false" rot="0">
              <a:off x="12700" y="12700"/>
              <a:ext cx="4206240" cy="3108960"/>
            </a:xfrm>
            <a:custGeom>
              <a:avLst/>
              <a:gdLst/>
              <a:ahLst/>
              <a:cxnLst/>
              <a:rect r="r" b="b" t="t" l="l"/>
              <a:pathLst>
                <a:path h="3108960" w="4206240">
                  <a:moveTo>
                    <a:pt x="0" y="274320"/>
                  </a:moveTo>
                  <a:cubicBezTo>
                    <a:pt x="0" y="122809"/>
                    <a:pt x="123063" y="0"/>
                    <a:pt x="274955" y="0"/>
                  </a:cubicBezTo>
                  <a:lnTo>
                    <a:pt x="3931285" y="0"/>
                  </a:lnTo>
                  <a:cubicBezTo>
                    <a:pt x="4083177" y="0"/>
                    <a:pt x="4206240" y="122809"/>
                    <a:pt x="4206240" y="274320"/>
                  </a:cubicBezTo>
                  <a:lnTo>
                    <a:pt x="4206240" y="2834640"/>
                  </a:lnTo>
                  <a:cubicBezTo>
                    <a:pt x="4206240" y="2986151"/>
                    <a:pt x="4083177" y="3108960"/>
                    <a:pt x="3931285" y="3108960"/>
                  </a:cubicBezTo>
                  <a:lnTo>
                    <a:pt x="274955" y="3108960"/>
                  </a:lnTo>
                  <a:cubicBezTo>
                    <a:pt x="123063" y="3108960"/>
                    <a:pt x="0" y="2986151"/>
                    <a:pt x="0" y="2834640"/>
                  </a:cubicBezTo>
                  <a:close/>
                </a:path>
              </a:pathLst>
            </a:custGeom>
            <a:solidFill>
              <a:srgbClr val="111D32"/>
            </a:solidFill>
          </p:spPr>
        </p:sp>
        <p:sp>
          <p:nvSpPr>
            <p:cNvPr name="Freeform 52" id="52"/>
            <p:cNvSpPr/>
            <p:nvPr/>
          </p:nvSpPr>
          <p:spPr>
            <a:xfrm flipH="false" flipV="false" rot="0">
              <a:off x="0" y="0"/>
              <a:ext cx="4231640" cy="3134360"/>
            </a:xfrm>
            <a:custGeom>
              <a:avLst/>
              <a:gdLst/>
              <a:ahLst/>
              <a:cxnLst/>
              <a:rect r="r" b="b" t="t" l="l"/>
              <a:pathLst>
                <a:path h="3134360" w="4231640">
                  <a:moveTo>
                    <a:pt x="0" y="287020"/>
                  </a:moveTo>
                  <a:cubicBezTo>
                    <a:pt x="0" y="128524"/>
                    <a:pt x="128778" y="0"/>
                    <a:pt x="287655" y="0"/>
                  </a:cubicBezTo>
                  <a:lnTo>
                    <a:pt x="3943985" y="0"/>
                  </a:lnTo>
                  <a:lnTo>
                    <a:pt x="3943985" y="12700"/>
                  </a:lnTo>
                  <a:lnTo>
                    <a:pt x="3943985" y="0"/>
                  </a:lnTo>
                  <a:cubicBezTo>
                    <a:pt x="4102862" y="0"/>
                    <a:pt x="4231640" y="128524"/>
                    <a:pt x="4231640" y="287020"/>
                  </a:cubicBezTo>
                  <a:lnTo>
                    <a:pt x="4218940" y="287020"/>
                  </a:lnTo>
                  <a:lnTo>
                    <a:pt x="4231640" y="287020"/>
                  </a:lnTo>
                  <a:lnTo>
                    <a:pt x="4231640" y="2847340"/>
                  </a:lnTo>
                  <a:lnTo>
                    <a:pt x="4218940" y="2847340"/>
                  </a:lnTo>
                  <a:lnTo>
                    <a:pt x="4231640" y="2847340"/>
                  </a:lnTo>
                  <a:cubicBezTo>
                    <a:pt x="4231640" y="3005836"/>
                    <a:pt x="4102862" y="3134360"/>
                    <a:pt x="3943985" y="3134360"/>
                  </a:cubicBezTo>
                  <a:lnTo>
                    <a:pt x="3943985" y="3121660"/>
                  </a:lnTo>
                  <a:lnTo>
                    <a:pt x="3943985" y="3134360"/>
                  </a:lnTo>
                  <a:lnTo>
                    <a:pt x="287655" y="3134360"/>
                  </a:lnTo>
                  <a:lnTo>
                    <a:pt x="287655" y="3121660"/>
                  </a:lnTo>
                  <a:lnTo>
                    <a:pt x="287655" y="3134360"/>
                  </a:lnTo>
                  <a:cubicBezTo>
                    <a:pt x="128778" y="3134360"/>
                    <a:pt x="0" y="3005836"/>
                    <a:pt x="0" y="2847340"/>
                  </a:cubicBezTo>
                  <a:lnTo>
                    <a:pt x="0" y="287020"/>
                  </a:lnTo>
                  <a:lnTo>
                    <a:pt x="12700" y="287020"/>
                  </a:lnTo>
                  <a:lnTo>
                    <a:pt x="0" y="287020"/>
                  </a:lnTo>
                  <a:moveTo>
                    <a:pt x="25400" y="287020"/>
                  </a:moveTo>
                  <a:lnTo>
                    <a:pt x="25400" y="2847340"/>
                  </a:lnTo>
                  <a:lnTo>
                    <a:pt x="12700" y="2847340"/>
                  </a:lnTo>
                  <a:lnTo>
                    <a:pt x="25400" y="2847340"/>
                  </a:lnTo>
                  <a:cubicBezTo>
                    <a:pt x="25400" y="2991866"/>
                    <a:pt x="142748" y="3108960"/>
                    <a:pt x="287655" y="3108960"/>
                  </a:cubicBezTo>
                  <a:lnTo>
                    <a:pt x="3943985" y="3108960"/>
                  </a:lnTo>
                  <a:cubicBezTo>
                    <a:pt x="4088765" y="3108960"/>
                    <a:pt x="4206240" y="2991739"/>
                    <a:pt x="4206240" y="2847340"/>
                  </a:cubicBezTo>
                  <a:lnTo>
                    <a:pt x="4206240" y="287020"/>
                  </a:lnTo>
                  <a:cubicBezTo>
                    <a:pt x="4206240" y="142494"/>
                    <a:pt x="4088892" y="25400"/>
                    <a:pt x="3943985" y="25400"/>
                  </a:cubicBezTo>
                  <a:lnTo>
                    <a:pt x="287655" y="25400"/>
                  </a:lnTo>
                  <a:lnTo>
                    <a:pt x="287655" y="12700"/>
                  </a:lnTo>
                  <a:lnTo>
                    <a:pt x="287655" y="25400"/>
                  </a:lnTo>
                  <a:cubicBezTo>
                    <a:pt x="142748" y="25400"/>
                    <a:pt x="25400" y="142621"/>
                    <a:pt x="25400" y="287020"/>
                  </a:cubicBezTo>
                  <a:close/>
                </a:path>
              </a:pathLst>
            </a:custGeom>
            <a:solidFill>
              <a:srgbClr val="1E3048"/>
            </a:solidFill>
          </p:spPr>
        </p:sp>
      </p:grpSp>
      <p:grpSp>
        <p:nvGrpSpPr>
          <p:cNvPr name="Group 53" id="53"/>
          <p:cNvGrpSpPr/>
          <p:nvPr/>
        </p:nvGrpSpPr>
        <p:grpSpPr>
          <a:xfrm rot="0">
            <a:off x="11385428" y="7193599"/>
            <a:ext cx="4271779" cy="742918"/>
            <a:chOff x="0" y="0"/>
            <a:chExt cx="4206240" cy="731520"/>
          </a:xfrm>
        </p:grpSpPr>
        <p:sp>
          <p:nvSpPr>
            <p:cNvPr name="Freeform 54" id="54"/>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55" id="55"/>
            <p:cNvSpPr txBox="true"/>
            <p:nvPr/>
          </p:nvSpPr>
          <p:spPr>
            <a:xfrm>
              <a:off x="0" y="-19050"/>
              <a:ext cx="4206240" cy="75057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Blood Matching</a:t>
              </a:r>
            </a:p>
          </p:txBody>
        </p:sp>
      </p:grpSp>
      <p:grpSp>
        <p:nvGrpSpPr>
          <p:cNvPr name="Group 56" id="56"/>
          <p:cNvGrpSpPr/>
          <p:nvPr/>
        </p:nvGrpSpPr>
        <p:grpSpPr>
          <a:xfrm rot="0">
            <a:off x="11385428" y="8122247"/>
            <a:ext cx="4271779" cy="742918"/>
            <a:chOff x="0" y="0"/>
            <a:chExt cx="4206240" cy="731520"/>
          </a:xfrm>
        </p:grpSpPr>
        <p:sp>
          <p:nvSpPr>
            <p:cNvPr name="Freeform 57" id="57"/>
            <p:cNvSpPr/>
            <p:nvPr/>
          </p:nvSpPr>
          <p:spPr>
            <a:xfrm flipH="false" flipV="false" rot="0">
              <a:off x="0" y="0"/>
              <a:ext cx="4206240" cy="731520"/>
            </a:xfrm>
            <a:custGeom>
              <a:avLst/>
              <a:gdLst/>
              <a:ahLst/>
              <a:cxnLst/>
              <a:rect r="r" b="b" t="t" l="l"/>
              <a:pathLst>
                <a:path h="731520" w="4206240">
                  <a:moveTo>
                    <a:pt x="0" y="0"/>
                  </a:moveTo>
                  <a:lnTo>
                    <a:pt x="4206240" y="0"/>
                  </a:lnTo>
                  <a:lnTo>
                    <a:pt x="4206240" y="731520"/>
                  </a:lnTo>
                  <a:lnTo>
                    <a:pt x="0" y="731520"/>
                  </a:lnTo>
                  <a:close/>
                </a:path>
              </a:pathLst>
            </a:custGeom>
            <a:blipFill>
              <a:blip r:embed="rId3">
                <a:alphaModFix amt="0"/>
              </a:blip>
              <a:stretch>
                <a:fillRect l="0" t="-62038" r="0" b="-62038"/>
              </a:stretch>
            </a:blipFill>
          </p:spPr>
        </p:sp>
        <p:sp>
          <p:nvSpPr>
            <p:cNvPr name="TextBox 58" id="58"/>
            <p:cNvSpPr txBox="true"/>
            <p:nvPr/>
          </p:nvSpPr>
          <p:spPr>
            <a:xfrm>
              <a:off x="0" y="-19050"/>
              <a:ext cx="420624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By type &amp; location</a:t>
              </a:r>
            </a:p>
          </p:txBody>
        </p:sp>
      </p:grpSp>
      <p:sp>
        <p:nvSpPr>
          <p:cNvPr name="Freeform 59" id="59"/>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028700" y="2138919"/>
            <a:ext cx="9601200" cy="822960"/>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How It Works</a:t>
              </a:r>
            </a:p>
          </p:txBody>
        </p:sp>
      </p:grpSp>
      <p:grpSp>
        <p:nvGrpSpPr>
          <p:cNvPr name="Group 5" id="5"/>
          <p:cNvGrpSpPr/>
          <p:nvPr/>
        </p:nvGrpSpPr>
        <p:grpSpPr>
          <a:xfrm rot="0">
            <a:off x="2099346" y="4027313"/>
            <a:ext cx="1557309" cy="1557309"/>
            <a:chOff x="0" y="0"/>
            <a:chExt cx="1684020" cy="1684020"/>
          </a:xfrm>
        </p:grpSpPr>
        <p:sp>
          <p:nvSpPr>
            <p:cNvPr name="Freeform 6" id="6"/>
            <p:cNvSpPr/>
            <p:nvPr/>
          </p:nvSpPr>
          <p:spPr>
            <a:xfrm flipH="false" flipV="false" rot="0">
              <a:off x="19050" y="1905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D2847"/>
            </a:solidFill>
          </p:spPr>
        </p:sp>
        <p:sp>
          <p:nvSpPr>
            <p:cNvPr name="Freeform 7" id="7"/>
            <p:cNvSpPr/>
            <p:nvPr/>
          </p:nvSpPr>
          <p:spPr>
            <a:xfrm flipH="false" flipV="false" rot="0">
              <a:off x="0" y="0"/>
              <a:ext cx="1684020" cy="1684020"/>
            </a:xfrm>
            <a:custGeom>
              <a:avLst/>
              <a:gdLst/>
              <a:ahLst/>
              <a:cxnLst/>
              <a:rect r="r" b="b" t="t" l="l"/>
              <a:pathLst>
                <a:path h="1684020" w="1684020">
                  <a:moveTo>
                    <a:pt x="0" y="842010"/>
                  </a:moveTo>
                  <a:cubicBezTo>
                    <a:pt x="0" y="376936"/>
                    <a:pt x="376936" y="0"/>
                    <a:pt x="842010" y="0"/>
                  </a:cubicBezTo>
                  <a:lnTo>
                    <a:pt x="842010" y="19050"/>
                  </a:lnTo>
                  <a:lnTo>
                    <a:pt x="842010" y="0"/>
                  </a:lnTo>
                  <a:cubicBezTo>
                    <a:pt x="1307084" y="0"/>
                    <a:pt x="1684020" y="376936"/>
                    <a:pt x="1684020" y="842010"/>
                  </a:cubicBezTo>
                  <a:cubicBezTo>
                    <a:pt x="1684020" y="1307084"/>
                    <a:pt x="1307084" y="1684020"/>
                    <a:pt x="842010" y="1684020"/>
                  </a:cubicBezTo>
                  <a:lnTo>
                    <a:pt x="842010" y="1664970"/>
                  </a:lnTo>
                  <a:lnTo>
                    <a:pt x="842010" y="1684020"/>
                  </a:lnTo>
                  <a:cubicBezTo>
                    <a:pt x="376936" y="1684020"/>
                    <a:pt x="0" y="1307084"/>
                    <a:pt x="0" y="842010"/>
                  </a:cubicBezTo>
                  <a:lnTo>
                    <a:pt x="19050" y="842010"/>
                  </a:lnTo>
                  <a:lnTo>
                    <a:pt x="35179" y="852170"/>
                  </a:lnTo>
                  <a:cubicBezTo>
                    <a:pt x="30607" y="859282"/>
                    <a:pt x="21971" y="862584"/>
                    <a:pt x="13716" y="860298"/>
                  </a:cubicBezTo>
                  <a:cubicBezTo>
                    <a:pt x="5461" y="858012"/>
                    <a:pt x="0" y="850519"/>
                    <a:pt x="0" y="842010"/>
                  </a:cubicBezTo>
                  <a:moveTo>
                    <a:pt x="38100" y="842010"/>
                  </a:moveTo>
                  <a:lnTo>
                    <a:pt x="19050" y="842010"/>
                  </a:lnTo>
                  <a:lnTo>
                    <a:pt x="2921" y="831850"/>
                  </a:lnTo>
                  <a:cubicBezTo>
                    <a:pt x="7493" y="824738"/>
                    <a:pt x="16129" y="821436"/>
                    <a:pt x="24384" y="823722"/>
                  </a:cubicBezTo>
                  <a:cubicBezTo>
                    <a:pt x="32639" y="826008"/>
                    <a:pt x="38100" y="833501"/>
                    <a:pt x="38100" y="842010"/>
                  </a:cubicBezTo>
                  <a:cubicBezTo>
                    <a:pt x="38100" y="1286002"/>
                    <a:pt x="398018" y="1645920"/>
                    <a:pt x="842010" y="1645920"/>
                  </a:cubicBezTo>
                  <a:cubicBezTo>
                    <a:pt x="1286002" y="1645920"/>
                    <a:pt x="1645920" y="1286002"/>
                    <a:pt x="1645920" y="842010"/>
                  </a:cubicBezTo>
                  <a:lnTo>
                    <a:pt x="1664970" y="842010"/>
                  </a:lnTo>
                  <a:lnTo>
                    <a:pt x="1645920" y="842010"/>
                  </a:lnTo>
                  <a:cubicBezTo>
                    <a:pt x="1645920" y="398018"/>
                    <a:pt x="1286002" y="38100"/>
                    <a:pt x="842010" y="38100"/>
                  </a:cubicBezTo>
                  <a:lnTo>
                    <a:pt x="842010" y="19050"/>
                  </a:lnTo>
                  <a:lnTo>
                    <a:pt x="842010" y="38100"/>
                  </a:lnTo>
                  <a:cubicBezTo>
                    <a:pt x="398018" y="38100"/>
                    <a:pt x="38100" y="398018"/>
                    <a:pt x="38100" y="842010"/>
                  </a:cubicBezTo>
                  <a:close/>
                </a:path>
              </a:pathLst>
            </a:custGeom>
            <a:solidFill>
              <a:srgbClr val="14B8A6"/>
            </a:solidFill>
          </p:spPr>
        </p:sp>
      </p:grpSp>
      <p:grpSp>
        <p:nvGrpSpPr>
          <p:cNvPr name="Group 8" id="8"/>
          <p:cNvGrpSpPr/>
          <p:nvPr/>
        </p:nvGrpSpPr>
        <p:grpSpPr>
          <a:xfrm rot="0">
            <a:off x="2116962" y="4044930"/>
            <a:ext cx="1522076" cy="1522076"/>
            <a:chOff x="0" y="0"/>
            <a:chExt cx="1645920" cy="1645920"/>
          </a:xfrm>
        </p:grpSpPr>
        <p:sp>
          <p:nvSpPr>
            <p:cNvPr name="Freeform 9" id="9"/>
            <p:cNvSpPr/>
            <p:nvPr/>
          </p:nvSpPr>
          <p:spPr>
            <a:xfrm flipH="false" flipV="false" rot="0">
              <a:off x="0" y="0"/>
              <a:ext cx="1645920" cy="1645920"/>
            </a:xfrm>
            <a:custGeom>
              <a:avLst/>
              <a:gdLst/>
              <a:ahLst/>
              <a:cxnLst/>
              <a:rect r="r" b="b" t="t" l="l"/>
              <a:pathLst>
                <a:path h="1645920" w="1645920">
                  <a:moveTo>
                    <a:pt x="0" y="0"/>
                  </a:moveTo>
                  <a:lnTo>
                    <a:pt x="1645920" y="0"/>
                  </a:lnTo>
                  <a:lnTo>
                    <a:pt x="1645920" y="1645920"/>
                  </a:lnTo>
                  <a:lnTo>
                    <a:pt x="0" y="1645920"/>
                  </a:lnTo>
                  <a:close/>
                </a:path>
              </a:pathLst>
            </a:custGeom>
            <a:blipFill>
              <a:blip r:embed="rId3">
                <a:alphaModFix amt="0"/>
              </a:blip>
              <a:stretch>
                <a:fillRect l="-78303" t="0" r="-78303" b="0"/>
              </a:stretch>
            </a:blipFill>
          </p:spPr>
        </p:sp>
        <p:sp>
          <p:nvSpPr>
            <p:cNvPr name="TextBox 10" id="10"/>
            <p:cNvSpPr txBox="true"/>
            <p:nvPr/>
          </p:nvSpPr>
          <p:spPr>
            <a:xfrm>
              <a:off x="0" y="-9525"/>
              <a:ext cx="1645920" cy="1655445"/>
            </a:xfrm>
            <a:prstGeom prst="rect">
              <a:avLst/>
            </a:prstGeom>
          </p:spPr>
          <p:txBody>
            <a:bodyPr anchor="ctr" rtlCol="false" tIns="0" lIns="0" bIns="0" rIns="0"/>
            <a:lstStyle/>
            <a:p>
              <a:pPr algn="ctr">
                <a:lnSpc>
                  <a:spcPts val="2879"/>
                </a:lnSpc>
              </a:pPr>
              <a:r>
                <a:rPr lang="en-US" sz="2400" b="true">
                  <a:solidFill>
                    <a:srgbClr val="14B8A6"/>
                  </a:solidFill>
                  <a:latin typeface="Arial Bold"/>
                  <a:ea typeface="Arial Bold"/>
                  <a:cs typeface="Arial Bold"/>
                  <a:sym typeface="Arial Bold"/>
                </a:rPr>
                <a:t>01</a:t>
              </a:r>
            </a:p>
          </p:txBody>
        </p:sp>
      </p:grpSp>
      <p:grpSp>
        <p:nvGrpSpPr>
          <p:cNvPr name="Group 11" id="11"/>
          <p:cNvGrpSpPr/>
          <p:nvPr/>
        </p:nvGrpSpPr>
        <p:grpSpPr>
          <a:xfrm rot="0">
            <a:off x="1355924" y="5905245"/>
            <a:ext cx="3044152" cy="845598"/>
            <a:chOff x="0" y="0"/>
            <a:chExt cx="3291840" cy="914400"/>
          </a:xfrm>
        </p:grpSpPr>
        <p:sp>
          <p:nvSpPr>
            <p:cNvPr name="Freeform 12" id="12"/>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13" id="13"/>
            <p:cNvSpPr txBox="true"/>
            <p:nvPr/>
          </p:nvSpPr>
          <p:spPr>
            <a:xfrm>
              <a:off x="0" y="-19050"/>
              <a:ext cx="3291840" cy="933450"/>
            </a:xfrm>
            <a:prstGeom prst="rect">
              <a:avLst/>
            </a:prstGeom>
          </p:spPr>
          <p:txBody>
            <a:bodyPr anchor="ctr" rtlCol="false" tIns="0" lIns="0" bIns="0" rIns="0"/>
            <a:lstStyle/>
            <a:p>
              <a:pPr algn="ctr">
                <a:lnSpc>
                  <a:spcPts val="2340"/>
                </a:lnSpc>
              </a:pPr>
              <a:r>
                <a:rPr lang="en-US" sz="1950" b="true">
                  <a:solidFill>
                    <a:srgbClr val="E2E8F0"/>
                  </a:solidFill>
                  <a:latin typeface="Arial Bold"/>
                  <a:ea typeface="Arial Bold"/>
                  <a:cs typeface="Arial Bold"/>
                  <a:sym typeface="Arial Bold"/>
                </a:rPr>
                <a:t>Enter Symptoms</a:t>
              </a:r>
            </a:p>
          </p:txBody>
        </p:sp>
      </p:grpSp>
      <p:grpSp>
        <p:nvGrpSpPr>
          <p:cNvPr name="Group 14" id="14"/>
          <p:cNvGrpSpPr/>
          <p:nvPr/>
        </p:nvGrpSpPr>
        <p:grpSpPr>
          <a:xfrm rot="0">
            <a:off x="3627294" y="4794223"/>
            <a:ext cx="1545565" cy="23489"/>
            <a:chOff x="0" y="0"/>
            <a:chExt cx="1671320" cy="25400"/>
          </a:xfrm>
        </p:grpSpPr>
        <p:sp>
          <p:nvSpPr>
            <p:cNvPr name="Freeform 15" id="15"/>
            <p:cNvSpPr/>
            <p:nvPr/>
          </p:nvSpPr>
          <p:spPr>
            <a:xfrm flipH="false" flipV="false" rot="0">
              <a:off x="12700" y="0"/>
              <a:ext cx="1645920" cy="25400"/>
            </a:xfrm>
            <a:custGeom>
              <a:avLst/>
              <a:gdLst/>
              <a:ahLst/>
              <a:cxnLst/>
              <a:rect r="r" b="b" t="t" l="l"/>
              <a:pathLst>
                <a:path h="25400" w="1645920">
                  <a:moveTo>
                    <a:pt x="177800" y="0"/>
                  </a:moveTo>
                  <a:lnTo>
                    <a:pt x="254000" y="0"/>
                  </a:lnTo>
                  <a:lnTo>
                    <a:pt x="254000" y="25400"/>
                  </a:lnTo>
                  <a:lnTo>
                    <a:pt x="177800" y="25400"/>
                  </a:lnTo>
                  <a:close/>
                  <a:moveTo>
                    <a:pt x="355600" y="0"/>
                  </a:moveTo>
                  <a:lnTo>
                    <a:pt x="431800" y="0"/>
                  </a:lnTo>
                  <a:lnTo>
                    <a:pt x="431800" y="25400"/>
                  </a:lnTo>
                  <a:lnTo>
                    <a:pt x="355600" y="25400"/>
                  </a:lnTo>
                  <a:close/>
                  <a:moveTo>
                    <a:pt x="533400" y="0"/>
                  </a:moveTo>
                  <a:lnTo>
                    <a:pt x="609600" y="0"/>
                  </a:lnTo>
                  <a:lnTo>
                    <a:pt x="609600" y="25400"/>
                  </a:lnTo>
                  <a:lnTo>
                    <a:pt x="533400" y="25400"/>
                  </a:lnTo>
                  <a:close/>
                  <a:moveTo>
                    <a:pt x="711200" y="0"/>
                  </a:moveTo>
                  <a:lnTo>
                    <a:pt x="787400" y="0"/>
                  </a:lnTo>
                  <a:lnTo>
                    <a:pt x="787400" y="25400"/>
                  </a:lnTo>
                  <a:lnTo>
                    <a:pt x="711200" y="25400"/>
                  </a:lnTo>
                  <a:close/>
                  <a:moveTo>
                    <a:pt x="889000" y="0"/>
                  </a:moveTo>
                  <a:lnTo>
                    <a:pt x="965200" y="0"/>
                  </a:lnTo>
                  <a:lnTo>
                    <a:pt x="965200" y="25400"/>
                  </a:lnTo>
                  <a:lnTo>
                    <a:pt x="889000" y="25400"/>
                  </a:lnTo>
                  <a:close/>
                  <a:moveTo>
                    <a:pt x="1066800" y="0"/>
                  </a:moveTo>
                  <a:lnTo>
                    <a:pt x="1143000" y="0"/>
                  </a:lnTo>
                  <a:lnTo>
                    <a:pt x="1143000" y="25400"/>
                  </a:lnTo>
                  <a:lnTo>
                    <a:pt x="1066800" y="25400"/>
                  </a:lnTo>
                  <a:close/>
                  <a:moveTo>
                    <a:pt x="1244600" y="0"/>
                  </a:moveTo>
                  <a:lnTo>
                    <a:pt x="1320800" y="0"/>
                  </a:lnTo>
                  <a:lnTo>
                    <a:pt x="1320800" y="25400"/>
                  </a:lnTo>
                  <a:lnTo>
                    <a:pt x="1244600" y="25400"/>
                  </a:lnTo>
                  <a:close/>
                  <a:moveTo>
                    <a:pt x="1422400" y="25400"/>
                  </a:moveTo>
                  <a:lnTo>
                    <a:pt x="1498600" y="25400"/>
                  </a:lnTo>
                  <a:lnTo>
                    <a:pt x="1422400" y="25400"/>
                  </a:lnTo>
                  <a:close/>
                  <a:moveTo>
                    <a:pt x="1600200" y="25400"/>
                  </a:moveTo>
                  <a:lnTo>
                    <a:pt x="1645920" y="25400"/>
                  </a:lnTo>
                  <a:lnTo>
                    <a:pt x="1600200" y="25400"/>
                  </a:lnTo>
                  <a:close/>
                  <a:moveTo>
                    <a:pt x="0" y="0"/>
                  </a:moveTo>
                  <a:lnTo>
                    <a:pt x="76200" y="0"/>
                  </a:lnTo>
                  <a:lnTo>
                    <a:pt x="76200" y="25400"/>
                  </a:lnTo>
                  <a:lnTo>
                    <a:pt x="0" y="25400"/>
                  </a:lnTo>
                  <a:close/>
                </a:path>
              </a:pathLst>
            </a:custGeom>
            <a:solidFill>
              <a:srgbClr val="14B8A6"/>
            </a:solidFill>
          </p:spPr>
        </p:sp>
      </p:grpSp>
      <p:grpSp>
        <p:nvGrpSpPr>
          <p:cNvPr name="Group 16" id="16"/>
          <p:cNvGrpSpPr/>
          <p:nvPr/>
        </p:nvGrpSpPr>
        <p:grpSpPr>
          <a:xfrm rot="0">
            <a:off x="5143498" y="4027313"/>
            <a:ext cx="1557309" cy="1557309"/>
            <a:chOff x="0" y="0"/>
            <a:chExt cx="1684020" cy="1684020"/>
          </a:xfrm>
        </p:grpSpPr>
        <p:sp>
          <p:nvSpPr>
            <p:cNvPr name="Freeform 17" id="17"/>
            <p:cNvSpPr/>
            <p:nvPr/>
          </p:nvSpPr>
          <p:spPr>
            <a:xfrm flipH="false" flipV="false" rot="0">
              <a:off x="19050" y="1905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D2847"/>
            </a:solidFill>
          </p:spPr>
        </p:sp>
        <p:sp>
          <p:nvSpPr>
            <p:cNvPr name="Freeform 18" id="18"/>
            <p:cNvSpPr/>
            <p:nvPr/>
          </p:nvSpPr>
          <p:spPr>
            <a:xfrm flipH="false" flipV="false" rot="0">
              <a:off x="0" y="0"/>
              <a:ext cx="1684020" cy="1684020"/>
            </a:xfrm>
            <a:custGeom>
              <a:avLst/>
              <a:gdLst/>
              <a:ahLst/>
              <a:cxnLst/>
              <a:rect r="r" b="b" t="t" l="l"/>
              <a:pathLst>
                <a:path h="1684020" w="1684020">
                  <a:moveTo>
                    <a:pt x="0" y="842010"/>
                  </a:moveTo>
                  <a:cubicBezTo>
                    <a:pt x="0" y="376936"/>
                    <a:pt x="376936" y="0"/>
                    <a:pt x="842010" y="0"/>
                  </a:cubicBezTo>
                  <a:lnTo>
                    <a:pt x="842010" y="19050"/>
                  </a:lnTo>
                  <a:lnTo>
                    <a:pt x="842010" y="0"/>
                  </a:lnTo>
                  <a:cubicBezTo>
                    <a:pt x="1307084" y="0"/>
                    <a:pt x="1684020" y="376936"/>
                    <a:pt x="1684020" y="842010"/>
                  </a:cubicBezTo>
                  <a:cubicBezTo>
                    <a:pt x="1684020" y="1307084"/>
                    <a:pt x="1307084" y="1684020"/>
                    <a:pt x="842010" y="1684020"/>
                  </a:cubicBezTo>
                  <a:lnTo>
                    <a:pt x="842010" y="1664970"/>
                  </a:lnTo>
                  <a:lnTo>
                    <a:pt x="842010" y="1684020"/>
                  </a:lnTo>
                  <a:cubicBezTo>
                    <a:pt x="376936" y="1684020"/>
                    <a:pt x="0" y="1307084"/>
                    <a:pt x="0" y="842010"/>
                  </a:cubicBezTo>
                  <a:lnTo>
                    <a:pt x="19050" y="842010"/>
                  </a:lnTo>
                  <a:lnTo>
                    <a:pt x="35179" y="852170"/>
                  </a:lnTo>
                  <a:cubicBezTo>
                    <a:pt x="30607" y="859282"/>
                    <a:pt x="21971" y="862584"/>
                    <a:pt x="13716" y="860298"/>
                  </a:cubicBezTo>
                  <a:cubicBezTo>
                    <a:pt x="5461" y="858012"/>
                    <a:pt x="0" y="850519"/>
                    <a:pt x="0" y="842010"/>
                  </a:cubicBezTo>
                  <a:moveTo>
                    <a:pt x="38100" y="842010"/>
                  </a:moveTo>
                  <a:lnTo>
                    <a:pt x="19050" y="842010"/>
                  </a:lnTo>
                  <a:lnTo>
                    <a:pt x="2921" y="831850"/>
                  </a:lnTo>
                  <a:cubicBezTo>
                    <a:pt x="7493" y="824738"/>
                    <a:pt x="16129" y="821436"/>
                    <a:pt x="24384" y="823722"/>
                  </a:cubicBezTo>
                  <a:cubicBezTo>
                    <a:pt x="32639" y="826008"/>
                    <a:pt x="38100" y="833501"/>
                    <a:pt x="38100" y="842010"/>
                  </a:cubicBezTo>
                  <a:cubicBezTo>
                    <a:pt x="38100" y="1286002"/>
                    <a:pt x="398018" y="1645920"/>
                    <a:pt x="842010" y="1645920"/>
                  </a:cubicBezTo>
                  <a:cubicBezTo>
                    <a:pt x="1286002" y="1645920"/>
                    <a:pt x="1645920" y="1286002"/>
                    <a:pt x="1645920" y="842010"/>
                  </a:cubicBezTo>
                  <a:lnTo>
                    <a:pt x="1664970" y="842010"/>
                  </a:lnTo>
                  <a:lnTo>
                    <a:pt x="1645920" y="842010"/>
                  </a:lnTo>
                  <a:cubicBezTo>
                    <a:pt x="1645920" y="398018"/>
                    <a:pt x="1286002" y="38100"/>
                    <a:pt x="842010" y="38100"/>
                  </a:cubicBezTo>
                  <a:lnTo>
                    <a:pt x="842010" y="19050"/>
                  </a:lnTo>
                  <a:lnTo>
                    <a:pt x="842010" y="38100"/>
                  </a:lnTo>
                  <a:cubicBezTo>
                    <a:pt x="398018" y="38100"/>
                    <a:pt x="38100" y="398018"/>
                    <a:pt x="38100" y="842010"/>
                  </a:cubicBezTo>
                  <a:close/>
                </a:path>
              </a:pathLst>
            </a:custGeom>
            <a:solidFill>
              <a:srgbClr val="14B8A6"/>
            </a:solidFill>
          </p:spPr>
        </p:sp>
      </p:grpSp>
      <p:grpSp>
        <p:nvGrpSpPr>
          <p:cNvPr name="Group 19" id="19"/>
          <p:cNvGrpSpPr/>
          <p:nvPr/>
        </p:nvGrpSpPr>
        <p:grpSpPr>
          <a:xfrm rot="0">
            <a:off x="5161115" y="4044930"/>
            <a:ext cx="1522076" cy="1522076"/>
            <a:chOff x="0" y="0"/>
            <a:chExt cx="1645920" cy="1645920"/>
          </a:xfrm>
        </p:grpSpPr>
        <p:sp>
          <p:nvSpPr>
            <p:cNvPr name="Freeform 20" id="20"/>
            <p:cNvSpPr/>
            <p:nvPr/>
          </p:nvSpPr>
          <p:spPr>
            <a:xfrm flipH="false" flipV="false" rot="0">
              <a:off x="0" y="0"/>
              <a:ext cx="1645920" cy="1645920"/>
            </a:xfrm>
            <a:custGeom>
              <a:avLst/>
              <a:gdLst/>
              <a:ahLst/>
              <a:cxnLst/>
              <a:rect r="r" b="b" t="t" l="l"/>
              <a:pathLst>
                <a:path h="1645920" w="1645920">
                  <a:moveTo>
                    <a:pt x="0" y="0"/>
                  </a:moveTo>
                  <a:lnTo>
                    <a:pt x="1645920" y="0"/>
                  </a:lnTo>
                  <a:lnTo>
                    <a:pt x="1645920" y="1645920"/>
                  </a:lnTo>
                  <a:lnTo>
                    <a:pt x="0" y="1645920"/>
                  </a:lnTo>
                  <a:close/>
                </a:path>
              </a:pathLst>
            </a:custGeom>
            <a:blipFill>
              <a:blip r:embed="rId3">
                <a:alphaModFix amt="0"/>
              </a:blip>
              <a:stretch>
                <a:fillRect l="-78303" t="0" r="-78303" b="0"/>
              </a:stretch>
            </a:blipFill>
          </p:spPr>
        </p:sp>
        <p:sp>
          <p:nvSpPr>
            <p:cNvPr name="TextBox 21" id="21"/>
            <p:cNvSpPr txBox="true"/>
            <p:nvPr/>
          </p:nvSpPr>
          <p:spPr>
            <a:xfrm>
              <a:off x="0" y="-9525"/>
              <a:ext cx="1645920" cy="1655445"/>
            </a:xfrm>
            <a:prstGeom prst="rect">
              <a:avLst/>
            </a:prstGeom>
          </p:spPr>
          <p:txBody>
            <a:bodyPr anchor="ctr" rtlCol="false" tIns="0" lIns="0" bIns="0" rIns="0"/>
            <a:lstStyle/>
            <a:p>
              <a:pPr algn="ctr">
                <a:lnSpc>
                  <a:spcPts val="2879"/>
                </a:lnSpc>
              </a:pPr>
              <a:r>
                <a:rPr lang="en-US" sz="2400" b="true">
                  <a:solidFill>
                    <a:srgbClr val="14B8A6"/>
                  </a:solidFill>
                  <a:latin typeface="Arial Bold"/>
                  <a:ea typeface="Arial Bold"/>
                  <a:cs typeface="Arial Bold"/>
                  <a:sym typeface="Arial Bold"/>
                </a:rPr>
                <a:t>02</a:t>
              </a:r>
            </a:p>
          </p:txBody>
        </p:sp>
      </p:grpSp>
      <p:grpSp>
        <p:nvGrpSpPr>
          <p:cNvPr name="Group 22" id="22"/>
          <p:cNvGrpSpPr/>
          <p:nvPr/>
        </p:nvGrpSpPr>
        <p:grpSpPr>
          <a:xfrm rot="0">
            <a:off x="4400077" y="5905245"/>
            <a:ext cx="3044152" cy="845598"/>
            <a:chOff x="0" y="0"/>
            <a:chExt cx="3291840" cy="914400"/>
          </a:xfrm>
        </p:grpSpPr>
        <p:sp>
          <p:nvSpPr>
            <p:cNvPr name="Freeform 23" id="23"/>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24" id="24"/>
            <p:cNvSpPr txBox="true"/>
            <p:nvPr/>
          </p:nvSpPr>
          <p:spPr>
            <a:xfrm>
              <a:off x="0" y="-19050"/>
              <a:ext cx="3291840" cy="933450"/>
            </a:xfrm>
            <a:prstGeom prst="rect">
              <a:avLst/>
            </a:prstGeom>
          </p:spPr>
          <p:txBody>
            <a:bodyPr anchor="ctr" rtlCol="false" tIns="0" lIns="0" bIns="0" rIns="0"/>
            <a:lstStyle/>
            <a:p>
              <a:pPr algn="ctr">
                <a:lnSpc>
                  <a:spcPts val="2340"/>
                </a:lnSpc>
              </a:pPr>
              <a:r>
                <a:rPr lang="en-US" sz="1950" b="true">
                  <a:solidFill>
                    <a:srgbClr val="E2E8F0"/>
                  </a:solidFill>
                  <a:latin typeface="Arial Bold"/>
                  <a:ea typeface="Arial Bold"/>
                  <a:cs typeface="Arial Bold"/>
                  <a:sym typeface="Arial Bold"/>
                </a:rPr>
                <a:t>AI Analysis</a:t>
              </a:r>
            </a:p>
          </p:txBody>
        </p:sp>
      </p:grpSp>
      <p:grpSp>
        <p:nvGrpSpPr>
          <p:cNvPr name="Group 25" id="25"/>
          <p:cNvGrpSpPr/>
          <p:nvPr/>
        </p:nvGrpSpPr>
        <p:grpSpPr>
          <a:xfrm rot="0">
            <a:off x="6671447" y="4794223"/>
            <a:ext cx="1545565" cy="23489"/>
            <a:chOff x="0" y="0"/>
            <a:chExt cx="1671320" cy="25400"/>
          </a:xfrm>
        </p:grpSpPr>
        <p:sp>
          <p:nvSpPr>
            <p:cNvPr name="Freeform 26" id="26"/>
            <p:cNvSpPr/>
            <p:nvPr/>
          </p:nvSpPr>
          <p:spPr>
            <a:xfrm flipH="false" flipV="false" rot="0">
              <a:off x="12700" y="0"/>
              <a:ext cx="1645920" cy="25400"/>
            </a:xfrm>
            <a:custGeom>
              <a:avLst/>
              <a:gdLst/>
              <a:ahLst/>
              <a:cxnLst/>
              <a:rect r="r" b="b" t="t" l="l"/>
              <a:pathLst>
                <a:path h="25400" w="1645920">
                  <a:moveTo>
                    <a:pt x="177800" y="0"/>
                  </a:moveTo>
                  <a:lnTo>
                    <a:pt x="254000" y="0"/>
                  </a:lnTo>
                  <a:lnTo>
                    <a:pt x="254000" y="25400"/>
                  </a:lnTo>
                  <a:lnTo>
                    <a:pt x="177800" y="25400"/>
                  </a:lnTo>
                  <a:close/>
                  <a:moveTo>
                    <a:pt x="355600" y="0"/>
                  </a:moveTo>
                  <a:lnTo>
                    <a:pt x="431800" y="0"/>
                  </a:lnTo>
                  <a:lnTo>
                    <a:pt x="431800" y="25400"/>
                  </a:lnTo>
                  <a:lnTo>
                    <a:pt x="355600" y="25400"/>
                  </a:lnTo>
                  <a:close/>
                  <a:moveTo>
                    <a:pt x="533400" y="0"/>
                  </a:moveTo>
                  <a:lnTo>
                    <a:pt x="609600" y="0"/>
                  </a:lnTo>
                  <a:lnTo>
                    <a:pt x="609600" y="25400"/>
                  </a:lnTo>
                  <a:lnTo>
                    <a:pt x="533400" y="25400"/>
                  </a:lnTo>
                  <a:close/>
                  <a:moveTo>
                    <a:pt x="711200" y="0"/>
                  </a:moveTo>
                  <a:lnTo>
                    <a:pt x="787400" y="0"/>
                  </a:lnTo>
                  <a:lnTo>
                    <a:pt x="787400" y="25400"/>
                  </a:lnTo>
                  <a:lnTo>
                    <a:pt x="711200" y="25400"/>
                  </a:lnTo>
                  <a:close/>
                  <a:moveTo>
                    <a:pt x="889000" y="0"/>
                  </a:moveTo>
                  <a:lnTo>
                    <a:pt x="965200" y="0"/>
                  </a:lnTo>
                  <a:lnTo>
                    <a:pt x="965200" y="25400"/>
                  </a:lnTo>
                  <a:lnTo>
                    <a:pt x="889000" y="25400"/>
                  </a:lnTo>
                  <a:close/>
                  <a:moveTo>
                    <a:pt x="1066800" y="0"/>
                  </a:moveTo>
                  <a:lnTo>
                    <a:pt x="1143000" y="0"/>
                  </a:lnTo>
                  <a:lnTo>
                    <a:pt x="1143000" y="25400"/>
                  </a:lnTo>
                  <a:lnTo>
                    <a:pt x="1066800" y="25400"/>
                  </a:lnTo>
                  <a:close/>
                  <a:moveTo>
                    <a:pt x="1244600" y="0"/>
                  </a:moveTo>
                  <a:lnTo>
                    <a:pt x="1320800" y="0"/>
                  </a:lnTo>
                  <a:lnTo>
                    <a:pt x="1320800" y="25400"/>
                  </a:lnTo>
                  <a:lnTo>
                    <a:pt x="1244600" y="25400"/>
                  </a:lnTo>
                  <a:close/>
                  <a:moveTo>
                    <a:pt x="1422400" y="25400"/>
                  </a:moveTo>
                  <a:lnTo>
                    <a:pt x="1498600" y="25400"/>
                  </a:lnTo>
                  <a:lnTo>
                    <a:pt x="1422400" y="25400"/>
                  </a:lnTo>
                  <a:close/>
                  <a:moveTo>
                    <a:pt x="1600200" y="25400"/>
                  </a:moveTo>
                  <a:lnTo>
                    <a:pt x="1645920" y="25400"/>
                  </a:lnTo>
                  <a:lnTo>
                    <a:pt x="1600200" y="25400"/>
                  </a:lnTo>
                  <a:close/>
                  <a:moveTo>
                    <a:pt x="0" y="0"/>
                  </a:moveTo>
                  <a:lnTo>
                    <a:pt x="76200" y="0"/>
                  </a:lnTo>
                  <a:lnTo>
                    <a:pt x="76200" y="25400"/>
                  </a:lnTo>
                  <a:lnTo>
                    <a:pt x="0" y="25400"/>
                  </a:lnTo>
                  <a:close/>
                </a:path>
              </a:pathLst>
            </a:custGeom>
            <a:solidFill>
              <a:srgbClr val="14B8A6"/>
            </a:solidFill>
          </p:spPr>
        </p:sp>
      </p:grpSp>
      <p:grpSp>
        <p:nvGrpSpPr>
          <p:cNvPr name="Group 27" id="27"/>
          <p:cNvGrpSpPr/>
          <p:nvPr/>
        </p:nvGrpSpPr>
        <p:grpSpPr>
          <a:xfrm rot="0">
            <a:off x="8187651" y="4027313"/>
            <a:ext cx="1557309" cy="1557309"/>
            <a:chOff x="0" y="0"/>
            <a:chExt cx="1684020" cy="1684020"/>
          </a:xfrm>
        </p:grpSpPr>
        <p:sp>
          <p:nvSpPr>
            <p:cNvPr name="Freeform 28" id="28"/>
            <p:cNvSpPr/>
            <p:nvPr/>
          </p:nvSpPr>
          <p:spPr>
            <a:xfrm flipH="false" flipV="false" rot="0">
              <a:off x="19050" y="1905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D2847"/>
            </a:solidFill>
          </p:spPr>
        </p:sp>
        <p:sp>
          <p:nvSpPr>
            <p:cNvPr name="Freeform 29" id="29"/>
            <p:cNvSpPr/>
            <p:nvPr/>
          </p:nvSpPr>
          <p:spPr>
            <a:xfrm flipH="false" flipV="false" rot="0">
              <a:off x="0" y="0"/>
              <a:ext cx="1684020" cy="1684020"/>
            </a:xfrm>
            <a:custGeom>
              <a:avLst/>
              <a:gdLst/>
              <a:ahLst/>
              <a:cxnLst/>
              <a:rect r="r" b="b" t="t" l="l"/>
              <a:pathLst>
                <a:path h="1684020" w="1684020">
                  <a:moveTo>
                    <a:pt x="0" y="842010"/>
                  </a:moveTo>
                  <a:cubicBezTo>
                    <a:pt x="0" y="376936"/>
                    <a:pt x="376936" y="0"/>
                    <a:pt x="842010" y="0"/>
                  </a:cubicBezTo>
                  <a:lnTo>
                    <a:pt x="842010" y="19050"/>
                  </a:lnTo>
                  <a:lnTo>
                    <a:pt x="842010" y="0"/>
                  </a:lnTo>
                  <a:cubicBezTo>
                    <a:pt x="1307084" y="0"/>
                    <a:pt x="1684020" y="376936"/>
                    <a:pt x="1684020" y="842010"/>
                  </a:cubicBezTo>
                  <a:cubicBezTo>
                    <a:pt x="1684020" y="1307084"/>
                    <a:pt x="1307084" y="1684020"/>
                    <a:pt x="842010" y="1684020"/>
                  </a:cubicBezTo>
                  <a:lnTo>
                    <a:pt x="842010" y="1664970"/>
                  </a:lnTo>
                  <a:lnTo>
                    <a:pt x="842010" y="1684020"/>
                  </a:lnTo>
                  <a:cubicBezTo>
                    <a:pt x="376936" y="1684020"/>
                    <a:pt x="0" y="1307084"/>
                    <a:pt x="0" y="842010"/>
                  </a:cubicBezTo>
                  <a:lnTo>
                    <a:pt x="19050" y="842010"/>
                  </a:lnTo>
                  <a:lnTo>
                    <a:pt x="35179" y="852170"/>
                  </a:lnTo>
                  <a:cubicBezTo>
                    <a:pt x="30607" y="859282"/>
                    <a:pt x="21971" y="862584"/>
                    <a:pt x="13716" y="860298"/>
                  </a:cubicBezTo>
                  <a:cubicBezTo>
                    <a:pt x="5461" y="858012"/>
                    <a:pt x="0" y="850519"/>
                    <a:pt x="0" y="842010"/>
                  </a:cubicBezTo>
                  <a:moveTo>
                    <a:pt x="38100" y="842010"/>
                  </a:moveTo>
                  <a:lnTo>
                    <a:pt x="19050" y="842010"/>
                  </a:lnTo>
                  <a:lnTo>
                    <a:pt x="2921" y="831850"/>
                  </a:lnTo>
                  <a:cubicBezTo>
                    <a:pt x="7493" y="824738"/>
                    <a:pt x="16129" y="821436"/>
                    <a:pt x="24384" y="823722"/>
                  </a:cubicBezTo>
                  <a:cubicBezTo>
                    <a:pt x="32639" y="826008"/>
                    <a:pt x="38100" y="833501"/>
                    <a:pt x="38100" y="842010"/>
                  </a:cubicBezTo>
                  <a:cubicBezTo>
                    <a:pt x="38100" y="1286002"/>
                    <a:pt x="398018" y="1645920"/>
                    <a:pt x="842010" y="1645920"/>
                  </a:cubicBezTo>
                  <a:cubicBezTo>
                    <a:pt x="1286002" y="1645920"/>
                    <a:pt x="1645920" y="1286002"/>
                    <a:pt x="1645920" y="842010"/>
                  </a:cubicBezTo>
                  <a:lnTo>
                    <a:pt x="1664970" y="842010"/>
                  </a:lnTo>
                  <a:lnTo>
                    <a:pt x="1645920" y="842010"/>
                  </a:lnTo>
                  <a:cubicBezTo>
                    <a:pt x="1645920" y="398018"/>
                    <a:pt x="1286002" y="38100"/>
                    <a:pt x="842010" y="38100"/>
                  </a:cubicBezTo>
                  <a:lnTo>
                    <a:pt x="842010" y="19050"/>
                  </a:lnTo>
                  <a:lnTo>
                    <a:pt x="842010" y="38100"/>
                  </a:lnTo>
                  <a:cubicBezTo>
                    <a:pt x="398018" y="38100"/>
                    <a:pt x="38100" y="398018"/>
                    <a:pt x="38100" y="842010"/>
                  </a:cubicBezTo>
                  <a:close/>
                </a:path>
              </a:pathLst>
            </a:custGeom>
            <a:solidFill>
              <a:srgbClr val="14B8A6"/>
            </a:solidFill>
          </p:spPr>
        </p:sp>
      </p:grpSp>
      <p:grpSp>
        <p:nvGrpSpPr>
          <p:cNvPr name="Group 30" id="30"/>
          <p:cNvGrpSpPr/>
          <p:nvPr/>
        </p:nvGrpSpPr>
        <p:grpSpPr>
          <a:xfrm rot="0">
            <a:off x="8205267" y="4044930"/>
            <a:ext cx="1522076" cy="1522076"/>
            <a:chOff x="0" y="0"/>
            <a:chExt cx="1645920" cy="1645920"/>
          </a:xfrm>
        </p:grpSpPr>
        <p:sp>
          <p:nvSpPr>
            <p:cNvPr name="Freeform 31" id="31"/>
            <p:cNvSpPr/>
            <p:nvPr/>
          </p:nvSpPr>
          <p:spPr>
            <a:xfrm flipH="false" flipV="false" rot="0">
              <a:off x="0" y="0"/>
              <a:ext cx="1645920" cy="1645920"/>
            </a:xfrm>
            <a:custGeom>
              <a:avLst/>
              <a:gdLst/>
              <a:ahLst/>
              <a:cxnLst/>
              <a:rect r="r" b="b" t="t" l="l"/>
              <a:pathLst>
                <a:path h="1645920" w="1645920">
                  <a:moveTo>
                    <a:pt x="0" y="0"/>
                  </a:moveTo>
                  <a:lnTo>
                    <a:pt x="1645920" y="0"/>
                  </a:lnTo>
                  <a:lnTo>
                    <a:pt x="1645920" y="1645920"/>
                  </a:lnTo>
                  <a:lnTo>
                    <a:pt x="0" y="1645920"/>
                  </a:lnTo>
                  <a:close/>
                </a:path>
              </a:pathLst>
            </a:custGeom>
            <a:blipFill>
              <a:blip r:embed="rId3">
                <a:alphaModFix amt="0"/>
              </a:blip>
              <a:stretch>
                <a:fillRect l="-78303" t="0" r="-78303" b="0"/>
              </a:stretch>
            </a:blipFill>
          </p:spPr>
        </p:sp>
        <p:sp>
          <p:nvSpPr>
            <p:cNvPr name="TextBox 32" id="32"/>
            <p:cNvSpPr txBox="true"/>
            <p:nvPr/>
          </p:nvSpPr>
          <p:spPr>
            <a:xfrm>
              <a:off x="0" y="-9525"/>
              <a:ext cx="1645920" cy="1655445"/>
            </a:xfrm>
            <a:prstGeom prst="rect">
              <a:avLst/>
            </a:prstGeom>
          </p:spPr>
          <p:txBody>
            <a:bodyPr anchor="ctr" rtlCol="false" tIns="0" lIns="0" bIns="0" rIns="0"/>
            <a:lstStyle/>
            <a:p>
              <a:pPr algn="ctr">
                <a:lnSpc>
                  <a:spcPts val="2879"/>
                </a:lnSpc>
              </a:pPr>
              <a:r>
                <a:rPr lang="en-US" sz="2400" b="true">
                  <a:solidFill>
                    <a:srgbClr val="14B8A6"/>
                  </a:solidFill>
                  <a:latin typeface="Arial Bold"/>
                  <a:ea typeface="Arial Bold"/>
                  <a:cs typeface="Arial Bold"/>
                  <a:sym typeface="Arial Bold"/>
                </a:rPr>
                <a:t>03</a:t>
              </a:r>
            </a:p>
          </p:txBody>
        </p:sp>
      </p:grpSp>
      <p:grpSp>
        <p:nvGrpSpPr>
          <p:cNvPr name="Group 33" id="33"/>
          <p:cNvGrpSpPr/>
          <p:nvPr/>
        </p:nvGrpSpPr>
        <p:grpSpPr>
          <a:xfrm rot="0">
            <a:off x="7444229" y="5905245"/>
            <a:ext cx="3044152" cy="845598"/>
            <a:chOff x="0" y="0"/>
            <a:chExt cx="3291840" cy="914400"/>
          </a:xfrm>
        </p:grpSpPr>
        <p:sp>
          <p:nvSpPr>
            <p:cNvPr name="Freeform 34" id="34"/>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35" id="35"/>
            <p:cNvSpPr txBox="true"/>
            <p:nvPr/>
          </p:nvSpPr>
          <p:spPr>
            <a:xfrm>
              <a:off x="0" y="-19050"/>
              <a:ext cx="3291840" cy="933450"/>
            </a:xfrm>
            <a:prstGeom prst="rect">
              <a:avLst/>
            </a:prstGeom>
          </p:spPr>
          <p:txBody>
            <a:bodyPr anchor="ctr" rtlCol="false" tIns="0" lIns="0" bIns="0" rIns="0"/>
            <a:lstStyle/>
            <a:p>
              <a:pPr algn="ctr">
                <a:lnSpc>
                  <a:spcPts val="2340"/>
                </a:lnSpc>
              </a:pPr>
              <a:r>
                <a:rPr lang="en-US" sz="1950" b="true">
                  <a:solidFill>
                    <a:srgbClr val="E2E8F0"/>
                  </a:solidFill>
                  <a:latin typeface="Arial Bold"/>
                  <a:ea typeface="Arial Bold"/>
                  <a:cs typeface="Arial Bold"/>
                  <a:sym typeface="Arial Bold"/>
                </a:rPr>
                <a:t>Specialty Match</a:t>
              </a:r>
            </a:p>
          </p:txBody>
        </p:sp>
      </p:grpSp>
      <p:grpSp>
        <p:nvGrpSpPr>
          <p:cNvPr name="Group 36" id="36"/>
          <p:cNvGrpSpPr/>
          <p:nvPr/>
        </p:nvGrpSpPr>
        <p:grpSpPr>
          <a:xfrm rot="0">
            <a:off x="9715599" y="4794223"/>
            <a:ext cx="1545565" cy="23489"/>
            <a:chOff x="0" y="0"/>
            <a:chExt cx="1671320" cy="25400"/>
          </a:xfrm>
        </p:grpSpPr>
        <p:sp>
          <p:nvSpPr>
            <p:cNvPr name="Freeform 37" id="37"/>
            <p:cNvSpPr/>
            <p:nvPr/>
          </p:nvSpPr>
          <p:spPr>
            <a:xfrm flipH="false" flipV="false" rot="0">
              <a:off x="12700" y="0"/>
              <a:ext cx="1645920" cy="25400"/>
            </a:xfrm>
            <a:custGeom>
              <a:avLst/>
              <a:gdLst/>
              <a:ahLst/>
              <a:cxnLst/>
              <a:rect r="r" b="b" t="t" l="l"/>
              <a:pathLst>
                <a:path h="25400" w="1645920">
                  <a:moveTo>
                    <a:pt x="177800" y="0"/>
                  </a:moveTo>
                  <a:lnTo>
                    <a:pt x="254000" y="0"/>
                  </a:lnTo>
                  <a:lnTo>
                    <a:pt x="254000" y="25400"/>
                  </a:lnTo>
                  <a:lnTo>
                    <a:pt x="177800" y="25400"/>
                  </a:lnTo>
                  <a:close/>
                  <a:moveTo>
                    <a:pt x="355600" y="0"/>
                  </a:moveTo>
                  <a:lnTo>
                    <a:pt x="431800" y="0"/>
                  </a:lnTo>
                  <a:lnTo>
                    <a:pt x="431800" y="25400"/>
                  </a:lnTo>
                  <a:lnTo>
                    <a:pt x="355600" y="25400"/>
                  </a:lnTo>
                  <a:close/>
                  <a:moveTo>
                    <a:pt x="533400" y="0"/>
                  </a:moveTo>
                  <a:lnTo>
                    <a:pt x="609600" y="0"/>
                  </a:lnTo>
                  <a:lnTo>
                    <a:pt x="609600" y="25400"/>
                  </a:lnTo>
                  <a:lnTo>
                    <a:pt x="533400" y="25400"/>
                  </a:lnTo>
                  <a:close/>
                  <a:moveTo>
                    <a:pt x="711200" y="0"/>
                  </a:moveTo>
                  <a:lnTo>
                    <a:pt x="787400" y="0"/>
                  </a:lnTo>
                  <a:lnTo>
                    <a:pt x="787400" y="25400"/>
                  </a:lnTo>
                  <a:lnTo>
                    <a:pt x="711200" y="25400"/>
                  </a:lnTo>
                  <a:close/>
                  <a:moveTo>
                    <a:pt x="889000" y="0"/>
                  </a:moveTo>
                  <a:lnTo>
                    <a:pt x="965200" y="0"/>
                  </a:lnTo>
                  <a:lnTo>
                    <a:pt x="965200" y="25400"/>
                  </a:lnTo>
                  <a:lnTo>
                    <a:pt x="889000" y="25400"/>
                  </a:lnTo>
                  <a:close/>
                  <a:moveTo>
                    <a:pt x="1066800" y="0"/>
                  </a:moveTo>
                  <a:lnTo>
                    <a:pt x="1143000" y="0"/>
                  </a:lnTo>
                  <a:lnTo>
                    <a:pt x="1143000" y="25400"/>
                  </a:lnTo>
                  <a:lnTo>
                    <a:pt x="1066800" y="25400"/>
                  </a:lnTo>
                  <a:close/>
                  <a:moveTo>
                    <a:pt x="1244600" y="0"/>
                  </a:moveTo>
                  <a:lnTo>
                    <a:pt x="1320800" y="0"/>
                  </a:lnTo>
                  <a:lnTo>
                    <a:pt x="1320800" y="25400"/>
                  </a:lnTo>
                  <a:lnTo>
                    <a:pt x="1244600" y="25400"/>
                  </a:lnTo>
                  <a:close/>
                  <a:moveTo>
                    <a:pt x="1422400" y="25400"/>
                  </a:moveTo>
                  <a:lnTo>
                    <a:pt x="1498600" y="25400"/>
                  </a:lnTo>
                  <a:lnTo>
                    <a:pt x="1422400" y="25400"/>
                  </a:lnTo>
                  <a:close/>
                  <a:moveTo>
                    <a:pt x="1600200" y="25400"/>
                  </a:moveTo>
                  <a:lnTo>
                    <a:pt x="1645920" y="25400"/>
                  </a:lnTo>
                  <a:lnTo>
                    <a:pt x="1600200" y="25400"/>
                  </a:lnTo>
                  <a:close/>
                  <a:moveTo>
                    <a:pt x="0" y="0"/>
                  </a:moveTo>
                  <a:lnTo>
                    <a:pt x="76200" y="0"/>
                  </a:lnTo>
                  <a:lnTo>
                    <a:pt x="76200" y="25400"/>
                  </a:lnTo>
                  <a:lnTo>
                    <a:pt x="0" y="25400"/>
                  </a:lnTo>
                  <a:close/>
                </a:path>
              </a:pathLst>
            </a:custGeom>
            <a:solidFill>
              <a:srgbClr val="14B8A6"/>
            </a:solidFill>
          </p:spPr>
        </p:sp>
      </p:grpSp>
      <p:grpSp>
        <p:nvGrpSpPr>
          <p:cNvPr name="Group 38" id="38"/>
          <p:cNvGrpSpPr/>
          <p:nvPr/>
        </p:nvGrpSpPr>
        <p:grpSpPr>
          <a:xfrm rot="0">
            <a:off x="11231803" y="4027313"/>
            <a:ext cx="1557309" cy="1557309"/>
            <a:chOff x="0" y="0"/>
            <a:chExt cx="1684020" cy="1684020"/>
          </a:xfrm>
        </p:grpSpPr>
        <p:sp>
          <p:nvSpPr>
            <p:cNvPr name="Freeform 39" id="39"/>
            <p:cNvSpPr/>
            <p:nvPr/>
          </p:nvSpPr>
          <p:spPr>
            <a:xfrm flipH="false" flipV="false" rot="0">
              <a:off x="19050" y="1905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D2847"/>
            </a:solidFill>
          </p:spPr>
        </p:sp>
        <p:sp>
          <p:nvSpPr>
            <p:cNvPr name="Freeform 40" id="40"/>
            <p:cNvSpPr/>
            <p:nvPr/>
          </p:nvSpPr>
          <p:spPr>
            <a:xfrm flipH="false" flipV="false" rot="0">
              <a:off x="0" y="0"/>
              <a:ext cx="1684020" cy="1684020"/>
            </a:xfrm>
            <a:custGeom>
              <a:avLst/>
              <a:gdLst/>
              <a:ahLst/>
              <a:cxnLst/>
              <a:rect r="r" b="b" t="t" l="l"/>
              <a:pathLst>
                <a:path h="1684020" w="1684020">
                  <a:moveTo>
                    <a:pt x="0" y="842010"/>
                  </a:moveTo>
                  <a:cubicBezTo>
                    <a:pt x="0" y="376936"/>
                    <a:pt x="376936" y="0"/>
                    <a:pt x="842010" y="0"/>
                  </a:cubicBezTo>
                  <a:lnTo>
                    <a:pt x="842010" y="19050"/>
                  </a:lnTo>
                  <a:lnTo>
                    <a:pt x="842010" y="0"/>
                  </a:lnTo>
                  <a:cubicBezTo>
                    <a:pt x="1307084" y="0"/>
                    <a:pt x="1684020" y="376936"/>
                    <a:pt x="1684020" y="842010"/>
                  </a:cubicBezTo>
                  <a:cubicBezTo>
                    <a:pt x="1684020" y="1307084"/>
                    <a:pt x="1307084" y="1684020"/>
                    <a:pt x="842010" y="1684020"/>
                  </a:cubicBezTo>
                  <a:lnTo>
                    <a:pt x="842010" y="1664970"/>
                  </a:lnTo>
                  <a:lnTo>
                    <a:pt x="842010" y="1684020"/>
                  </a:lnTo>
                  <a:cubicBezTo>
                    <a:pt x="376936" y="1684020"/>
                    <a:pt x="0" y="1307084"/>
                    <a:pt x="0" y="842010"/>
                  </a:cubicBezTo>
                  <a:lnTo>
                    <a:pt x="19050" y="842010"/>
                  </a:lnTo>
                  <a:lnTo>
                    <a:pt x="35179" y="852170"/>
                  </a:lnTo>
                  <a:cubicBezTo>
                    <a:pt x="30607" y="859282"/>
                    <a:pt x="21971" y="862584"/>
                    <a:pt x="13716" y="860298"/>
                  </a:cubicBezTo>
                  <a:cubicBezTo>
                    <a:pt x="5461" y="858012"/>
                    <a:pt x="0" y="850519"/>
                    <a:pt x="0" y="842010"/>
                  </a:cubicBezTo>
                  <a:moveTo>
                    <a:pt x="38100" y="842010"/>
                  </a:moveTo>
                  <a:lnTo>
                    <a:pt x="19050" y="842010"/>
                  </a:lnTo>
                  <a:lnTo>
                    <a:pt x="2921" y="831850"/>
                  </a:lnTo>
                  <a:cubicBezTo>
                    <a:pt x="7493" y="824738"/>
                    <a:pt x="16129" y="821436"/>
                    <a:pt x="24384" y="823722"/>
                  </a:cubicBezTo>
                  <a:cubicBezTo>
                    <a:pt x="32639" y="826008"/>
                    <a:pt x="38100" y="833501"/>
                    <a:pt x="38100" y="842010"/>
                  </a:cubicBezTo>
                  <a:cubicBezTo>
                    <a:pt x="38100" y="1286002"/>
                    <a:pt x="398018" y="1645920"/>
                    <a:pt x="842010" y="1645920"/>
                  </a:cubicBezTo>
                  <a:cubicBezTo>
                    <a:pt x="1286002" y="1645920"/>
                    <a:pt x="1645920" y="1286002"/>
                    <a:pt x="1645920" y="842010"/>
                  </a:cubicBezTo>
                  <a:lnTo>
                    <a:pt x="1664970" y="842010"/>
                  </a:lnTo>
                  <a:lnTo>
                    <a:pt x="1645920" y="842010"/>
                  </a:lnTo>
                  <a:cubicBezTo>
                    <a:pt x="1645920" y="398018"/>
                    <a:pt x="1286002" y="38100"/>
                    <a:pt x="842010" y="38100"/>
                  </a:cubicBezTo>
                  <a:lnTo>
                    <a:pt x="842010" y="19050"/>
                  </a:lnTo>
                  <a:lnTo>
                    <a:pt x="842010" y="38100"/>
                  </a:lnTo>
                  <a:cubicBezTo>
                    <a:pt x="398018" y="38100"/>
                    <a:pt x="38100" y="398018"/>
                    <a:pt x="38100" y="842010"/>
                  </a:cubicBezTo>
                  <a:close/>
                </a:path>
              </a:pathLst>
            </a:custGeom>
            <a:solidFill>
              <a:srgbClr val="14B8A6"/>
            </a:solidFill>
          </p:spPr>
        </p:sp>
      </p:grpSp>
      <p:grpSp>
        <p:nvGrpSpPr>
          <p:cNvPr name="Group 41" id="41"/>
          <p:cNvGrpSpPr/>
          <p:nvPr/>
        </p:nvGrpSpPr>
        <p:grpSpPr>
          <a:xfrm rot="0">
            <a:off x="11249420" y="4044930"/>
            <a:ext cx="1522076" cy="1522076"/>
            <a:chOff x="0" y="0"/>
            <a:chExt cx="1645920" cy="1645920"/>
          </a:xfrm>
        </p:grpSpPr>
        <p:sp>
          <p:nvSpPr>
            <p:cNvPr name="Freeform 42" id="42"/>
            <p:cNvSpPr/>
            <p:nvPr/>
          </p:nvSpPr>
          <p:spPr>
            <a:xfrm flipH="false" flipV="false" rot="0">
              <a:off x="0" y="0"/>
              <a:ext cx="1645920" cy="1645920"/>
            </a:xfrm>
            <a:custGeom>
              <a:avLst/>
              <a:gdLst/>
              <a:ahLst/>
              <a:cxnLst/>
              <a:rect r="r" b="b" t="t" l="l"/>
              <a:pathLst>
                <a:path h="1645920" w="1645920">
                  <a:moveTo>
                    <a:pt x="0" y="0"/>
                  </a:moveTo>
                  <a:lnTo>
                    <a:pt x="1645920" y="0"/>
                  </a:lnTo>
                  <a:lnTo>
                    <a:pt x="1645920" y="1645920"/>
                  </a:lnTo>
                  <a:lnTo>
                    <a:pt x="0" y="1645920"/>
                  </a:lnTo>
                  <a:close/>
                </a:path>
              </a:pathLst>
            </a:custGeom>
            <a:blipFill>
              <a:blip r:embed="rId3">
                <a:alphaModFix amt="0"/>
              </a:blip>
              <a:stretch>
                <a:fillRect l="-78303" t="0" r="-78303" b="0"/>
              </a:stretch>
            </a:blipFill>
          </p:spPr>
        </p:sp>
        <p:sp>
          <p:nvSpPr>
            <p:cNvPr name="TextBox 43" id="43"/>
            <p:cNvSpPr txBox="true"/>
            <p:nvPr/>
          </p:nvSpPr>
          <p:spPr>
            <a:xfrm>
              <a:off x="0" y="-9525"/>
              <a:ext cx="1645920" cy="1655445"/>
            </a:xfrm>
            <a:prstGeom prst="rect">
              <a:avLst/>
            </a:prstGeom>
          </p:spPr>
          <p:txBody>
            <a:bodyPr anchor="ctr" rtlCol="false" tIns="0" lIns="0" bIns="0" rIns="0"/>
            <a:lstStyle/>
            <a:p>
              <a:pPr algn="ctr">
                <a:lnSpc>
                  <a:spcPts val="2879"/>
                </a:lnSpc>
              </a:pPr>
              <a:r>
                <a:rPr lang="en-US" sz="2400" b="true">
                  <a:solidFill>
                    <a:srgbClr val="14B8A6"/>
                  </a:solidFill>
                  <a:latin typeface="Arial Bold"/>
                  <a:ea typeface="Arial Bold"/>
                  <a:cs typeface="Arial Bold"/>
                  <a:sym typeface="Arial Bold"/>
                </a:rPr>
                <a:t>04</a:t>
              </a:r>
            </a:p>
          </p:txBody>
        </p:sp>
      </p:grpSp>
      <p:grpSp>
        <p:nvGrpSpPr>
          <p:cNvPr name="Group 44" id="44"/>
          <p:cNvGrpSpPr/>
          <p:nvPr/>
        </p:nvGrpSpPr>
        <p:grpSpPr>
          <a:xfrm rot="0">
            <a:off x="10488381" y="5905245"/>
            <a:ext cx="3044152" cy="845598"/>
            <a:chOff x="0" y="0"/>
            <a:chExt cx="3291840" cy="914400"/>
          </a:xfrm>
        </p:grpSpPr>
        <p:sp>
          <p:nvSpPr>
            <p:cNvPr name="Freeform 45" id="45"/>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46" id="46"/>
            <p:cNvSpPr txBox="true"/>
            <p:nvPr/>
          </p:nvSpPr>
          <p:spPr>
            <a:xfrm>
              <a:off x="0" y="-19050"/>
              <a:ext cx="3291840" cy="933450"/>
            </a:xfrm>
            <a:prstGeom prst="rect">
              <a:avLst/>
            </a:prstGeom>
          </p:spPr>
          <p:txBody>
            <a:bodyPr anchor="ctr" rtlCol="false" tIns="0" lIns="0" bIns="0" rIns="0"/>
            <a:lstStyle/>
            <a:p>
              <a:pPr algn="ctr">
                <a:lnSpc>
                  <a:spcPts val="2340"/>
                </a:lnSpc>
              </a:pPr>
              <a:r>
                <a:rPr lang="en-US" sz="1950" b="true">
                  <a:solidFill>
                    <a:srgbClr val="E2E8F0"/>
                  </a:solidFill>
                  <a:latin typeface="Arial Bold"/>
                  <a:ea typeface="Arial Bold"/>
                  <a:cs typeface="Arial Bold"/>
                  <a:sym typeface="Arial Bold"/>
                </a:rPr>
                <a:t>Provider Display</a:t>
              </a:r>
            </a:p>
          </p:txBody>
        </p:sp>
      </p:grpSp>
      <p:grpSp>
        <p:nvGrpSpPr>
          <p:cNvPr name="Group 47" id="47"/>
          <p:cNvGrpSpPr/>
          <p:nvPr/>
        </p:nvGrpSpPr>
        <p:grpSpPr>
          <a:xfrm rot="0">
            <a:off x="12759751" y="4794223"/>
            <a:ext cx="1545565" cy="23489"/>
            <a:chOff x="0" y="0"/>
            <a:chExt cx="1671320" cy="25400"/>
          </a:xfrm>
        </p:grpSpPr>
        <p:sp>
          <p:nvSpPr>
            <p:cNvPr name="Freeform 48" id="48"/>
            <p:cNvSpPr/>
            <p:nvPr/>
          </p:nvSpPr>
          <p:spPr>
            <a:xfrm flipH="false" flipV="false" rot="0">
              <a:off x="12700" y="0"/>
              <a:ext cx="1645920" cy="25400"/>
            </a:xfrm>
            <a:custGeom>
              <a:avLst/>
              <a:gdLst/>
              <a:ahLst/>
              <a:cxnLst/>
              <a:rect r="r" b="b" t="t" l="l"/>
              <a:pathLst>
                <a:path h="25400" w="1645920">
                  <a:moveTo>
                    <a:pt x="177800" y="0"/>
                  </a:moveTo>
                  <a:lnTo>
                    <a:pt x="254000" y="0"/>
                  </a:lnTo>
                  <a:lnTo>
                    <a:pt x="254000" y="25400"/>
                  </a:lnTo>
                  <a:lnTo>
                    <a:pt x="177800" y="25400"/>
                  </a:lnTo>
                  <a:close/>
                  <a:moveTo>
                    <a:pt x="355600" y="0"/>
                  </a:moveTo>
                  <a:lnTo>
                    <a:pt x="431800" y="0"/>
                  </a:lnTo>
                  <a:lnTo>
                    <a:pt x="431800" y="25400"/>
                  </a:lnTo>
                  <a:lnTo>
                    <a:pt x="355600" y="25400"/>
                  </a:lnTo>
                  <a:close/>
                  <a:moveTo>
                    <a:pt x="533400" y="0"/>
                  </a:moveTo>
                  <a:lnTo>
                    <a:pt x="609600" y="0"/>
                  </a:lnTo>
                  <a:lnTo>
                    <a:pt x="609600" y="25400"/>
                  </a:lnTo>
                  <a:lnTo>
                    <a:pt x="533400" y="25400"/>
                  </a:lnTo>
                  <a:close/>
                  <a:moveTo>
                    <a:pt x="711200" y="0"/>
                  </a:moveTo>
                  <a:lnTo>
                    <a:pt x="787400" y="0"/>
                  </a:lnTo>
                  <a:lnTo>
                    <a:pt x="787400" y="25400"/>
                  </a:lnTo>
                  <a:lnTo>
                    <a:pt x="711200" y="25400"/>
                  </a:lnTo>
                  <a:close/>
                  <a:moveTo>
                    <a:pt x="889000" y="0"/>
                  </a:moveTo>
                  <a:lnTo>
                    <a:pt x="965200" y="0"/>
                  </a:lnTo>
                  <a:lnTo>
                    <a:pt x="965200" y="25400"/>
                  </a:lnTo>
                  <a:lnTo>
                    <a:pt x="889000" y="25400"/>
                  </a:lnTo>
                  <a:close/>
                  <a:moveTo>
                    <a:pt x="1066800" y="0"/>
                  </a:moveTo>
                  <a:lnTo>
                    <a:pt x="1143000" y="0"/>
                  </a:lnTo>
                  <a:lnTo>
                    <a:pt x="1143000" y="25400"/>
                  </a:lnTo>
                  <a:lnTo>
                    <a:pt x="1066800" y="25400"/>
                  </a:lnTo>
                  <a:close/>
                  <a:moveTo>
                    <a:pt x="1244600" y="0"/>
                  </a:moveTo>
                  <a:lnTo>
                    <a:pt x="1320800" y="0"/>
                  </a:lnTo>
                  <a:lnTo>
                    <a:pt x="1320800" y="25400"/>
                  </a:lnTo>
                  <a:lnTo>
                    <a:pt x="1244600" y="25400"/>
                  </a:lnTo>
                  <a:close/>
                  <a:moveTo>
                    <a:pt x="1422400" y="25400"/>
                  </a:moveTo>
                  <a:lnTo>
                    <a:pt x="1498600" y="25400"/>
                  </a:lnTo>
                  <a:lnTo>
                    <a:pt x="1422400" y="25400"/>
                  </a:lnTo>
                  <a:close/>
                  <a:moveTo>
                    <a:pt x="1600200" y="25400"/>
                  </a:moveTo>
                  <a:lnTo>
                    <a:pt x="1645920" y="25400"/>
                  </a:lnTo>
                  <a:lnTo>
                    <a:pt x="1600200" y="25400"/>
                  </a:lnTo>
                  <a:close/>
                  <a:moveTo>
                    <a:pt x="0" y="0"/>
                  </a:moveTo>
                  <a:lnTo>
                    <a:pt x="76200" y="0"/>
                  </a:lnTo>
                  <a:lnTo>
                    <a:pt x="76200" y="25400"/>
                  </a:lnTo>
                  <a:lnTo>
                    <a:pt x="0" y="25400"/>
                  </a:lnTo>
                  <a:close/>
                </a:path>
              </a:pathLst>
            </a:custGeom>
            <a:solidFill>
              <a:srgbClr val="14B8A6"/>
            </a:solidFill>
          </p:spPr>
        </p:sp>
      </p:grpSp>
      <p:grpSp>
        <p:nvGrpSpPr>
          <p:cNvPr name="Group 49" id="49"/>
          <p:cNvGrpSpPr/>
          <p:nvPr/>
        </p:nvGrpSpPr>
        <p:grpSpPr>
          <a:xfrm rot="0">
            <a:off x="14275955" y="4027313"/>
            <a:ext cx="1557309" cy="1557309"/>
            <a:chOff x="0" y="0"/>
            <a:chExt cx="1684020" cy="1684020"/>
          </a:xfrm>
        </p:grpSpPr>
        <p:sp>
          <p:nvSpPr>
            <p:cNvPr name="Freeform 50" id="50"/>
            <p:cNvSpPr/>
            <p:nvPr/>
          </p:nvSpPr>
          <p:spPr>
            <a:xfrm flipH="false" flipV="false" rot="0">
              <a:off x="19050" y="1905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0D2847"/>
            </a:solidFill>
          </p:spPr>
        </p:sp>
        <p:sp>
          <p:nvSpPr>
            <p:cNvPr name="Freeform 51" id="51"/>
            <p:cNvSpPr/>
            <p:nvPr/>
          </p:nvSpPr>
          <p:spPr>
            <a:xfrm flipH="false" flipV="false" rot="0">
              <a:off x="0" y="0"/>
              <a:ext cx="1684020" cy="1684020"/>
            </a:xfrm>
            <a:custGeom>
              <a:avLst/>
              <a:gdLst/>
              <a:ahLst/>
              <a:cxnLst/>
              <a:rect r="r" b="b" t="t" l="l"/>
              <a:pathLst>
                <a:path h="1684020" w="1684020">
                  <a:moveTo>
                    <a:pt x="0" y="842010"/>
                  </a:moveTo>
                  <a:cubicBezTo>
                    <a:pt x="0" y="376936"/>
                    <a:pt x="376936" y="0"/>
                    <a:pt x="842010" y="0"/>
                  </a:cubicBezTo>
                  <a:lnTo>
                    <a:pt x="842010" y="19050"/>
                  </a:lnTo>
                  <a:lnTo>
                    <a:pt x="842010" y="0"/>
                  </a:lnTo>
                  <a:cubicBezTo>
                    <a:pt x="1307084" y="0"/>
                    <a:pt x="1684020" y="376936"/>
                    <a:pt x="1684020" y="842010"/>
                  </a:cubicBezTo>
                  <a:cubicBezTo>
                    <a:pt x="1684020" y="1307084"/>
                    <a:pt x="1307084" y="1684020"/>
                    <a:pt x="842010" y="1684020"/>
                  </a:cubicBezTo>
                  <a:lnTo>
                    <a:pt x="842010" y="1664970"/>
                  </a:lnTo>
                  <a:lnTo>
                    <a:pt x="842010" y="1684020"/>
                  </a:lnTo>
                  <a:cubicBezTo>
                    <a:pt x="376936" y="1684020"/>
                    <a:pt x="0" y="1307084"/>
                    <a:pt x="0" y="842010"/>
                  </a:cubicBezTo>
                  <a:lnTo>
                    <a:pt x="19050" y="842010"/>
                  </a:lnTo>
                  <a:lnTo>
                    <a:pt x="35179" y="852170"/>
                  </a:lnTo>
                  <a:cubicBezTo>
                    <a:pt x="30607" y="859282"/>
                    <a:pt x="21971" y="862584"/>
                    <a:pt x="13716" y="860298"/>
                  </a:cubicBezTo>
                  <a:cubicBezTo>
                    <a:pt x="5461" y="858012"/>
                    <a:pt x="0" y="850519"/>
                    <a:pt x="0" y="842010"/>
                  </a:cubicBezTo>
                  <a:moveTo>
                    <a:pt x="38100" y="842010"/>
                  </a:moveTo>
                  <a:lnTo>
                    <a:pt x="19050" y="842010"/>
                  </a:lnTo>
                  <a:lnTo>
                    <a:pt x="2921" y="831850"/>
                  </a:lnTo>
                  <a:cubicBezTo>
                    <a:pt x="7493" y="824738"/>
                    <a:pt x="16129" y="821436"/>
                    <a:pt x="24384" y="823722"/>
                  </a:cubicBezTo>
                  <a:cubicBezTo>
                    <a:pt x="32639" y="826008"/>
                    <a:pt x="38100" y="833501"/>
                    <a:pt x="38100" y="842010"/>
                  </a:cubicBezTo>
                  <a:cubicBezTo>
                    <a:pt x="38100" y="1286002"/>
                    <a:pt x="398018" y="1645920"/>
                    <a:pt x="842010" y="1645920"/>
                  </a:cubicBezTo>
                  <a:cubicBezTo>
                    <a:pt x="1286002" y="1645920"/>
                    <a:pt x="1645920" y="1286002"/>
                    <a:pt x="1645920" y="842010"/>
                  </a:cubicBezTo>
                  <a:lnTo>
                    <a:pt x="1664970" y="842010"/>
                  </a:lnTo>
                  <a:lnTo>
                    <a:pt x="1645920" y="842010"/>
                  </a:lnTo>
                  <a:cubicBezTo>
                    <a:pt x="1645920" y="398018"/>
                    <a:pt x="1286002" y="38100"/>
                    <a:pt x="842010" y="38100"/>
                  </a:cubicBezTo>
                  <a:lnTo>
                    <a:pt x="842010" y="19050"/>
                  </a:lnTo>
                  <a:lnTo>
                    <a:pt x="842010" y="38100"/>
                  </a:lnTo>
                  <a:cubicBezTo>
                    <a:pt x="398018" y="38100"/>
                    <a:pt x="38100" y="398018"/>
                    <a:pt x="38100" y="842010"/>
                  </a:cubicBezTo>
                  <a:close/>
                </a:path>
              </a:pathLst>
            </a:custGeom>
            <a:solidFill>
              <a:srgbClr val="14B8A6"/>
            </a:solidFill>
          </p:spPr>
        </p:sp>
      </p:grpSp>
      <p:grpSp>
        <p:nvGrpSpPr>
          <p:cNvPr name="Group 52" id="52"/>
          <p:cNvGrpSpPr/>
          <p:nvPr/>
        </p:nvGrpSpPr>
        <p:grpSpPr>
          <a:xfrm rot="0">
            <a:off x="14293572" y="4044930"/>
            <a:ext cx="1522076" cy="1522076"/>
            <a:chOff x="0" y="0"/>
            <a:chExt cx="1645920" cy="1645920"/>
          </a:xfrm>
        </p:grpSpPr>
        <p:sp>
          <p:nvSpPr>
            <p:cNvPr name="Freeform 53" id="53"/>
            <p:cNvSpPr/>
            <p:nvPr/>
          </p:nvSpPr>
          <p:spPr>
            <a:xfrm flipH="false" flipV="false" rot="0">
              <a:off x="0" y="0"/>
              <a:ext cx="1645920" cy="1645920"/>
            </a:xfrm>
            <a:custGeom>
              <a:avLst/>
              <a:gdLst/>
              <a:ahLst/>
              <a:cxnLst/>
              <a:rect r="r" b="b" t="t" l="l"/>
              <a:pathLst>
                <a:path h="1645920" w="1645920">
                  <a:moveTo>
                    <a:pt x="0" y="0"/>
                  </a:moveTo>
                  <a:lnTo>
                    <a:pt x="1645920" y="0"/>
                  </a:lnTo>
                  <a:lnTo>
                    <a:pt x="1645920" y="1645920"/>
                  </a:lnTo>
                  <a:lnTo>
                    <a:pt x="0" y="1645920"/>
                  </a:lnTo>
                  <a:close/>
                </a:path>
              </a:pathLst>
            </a:custGeom>
            <a:blipFill>
              <a:blip r:embed="rId3">
                <a:alphaModFix amt="0"/>
              </a:blip>
              <a:stretch>
                <a:fillRect l="-78303" t="0" r="-78303" b="0"/>
              </a:stretch>
            </a:blipFill>
          </p:spPr>
        </p:sp>
        <p:sp>
          <p:nvSpPr>
            <p:cNvPr name="TextBox 54" id="54"/>
            <p:cNvSpPr txBox="true"/>
            <p:nvPr/>
          </p:nvSpPr>
          <p:spPr>
            <a:xfrm>
              <a:off x="0" y="-9525"/>
              <a:ext cx="1645920" cy="1655445"/>
            </a:xfrm>
            <a:prstGeom prst="rect">
              <a:avLst/>
            </a:prstGeom>
          </p:spPr>
          <p:txBody>
            <a:bodyPr anchor="ctr" rtlCol="false" tIns="0" lIns="0" bIns="0" rIns="0"/>
            <a:lstStyle/>
            <a:p>
              <a:pPr algn="ctr">
                <a:lnSpc>
                  <a:spcPts val="2879"/>
                </a:lnSpc>
              </a:pPr>
              <a:r>
                <a:rPr lang="en-US" sz="2400" b="true">
                  <a:solidFill>
                    <a:srgbClr val="14B8A6"/>
                  </a:solidFill>
                  <a:latin typeface="Arial Bold"/>
                  <a:ea typeface="Arial Bold"/>
                  <a:cs typeface="Arial Bold"/>
                  <a:sym typeface="Arial Bold"/>
                </a:rPr>
                <a:t>05</a:t>
              </a:r>
            </a:p>
          </p:txBody>
        </p:sp>
      </p:grpSp>
      <p:grpSp>
        <p:nvGrpSpPr>
          <p:cNvPr name="Group 55" id="55"/>
          <p:cNvGrpSpPr/>
          <p:nvPr/>
        </p:nvGrpSpPr>
        <p:grpSpPr>
          <a:xfrm rot="0">
            <a:off x="13532534" y="5905245"/>
            <a:ext cx="3044152" cy="845598"/>
            <a:chOff x="0" y="0"/>
            <a:chExt cx="3291840" cy="914400"/>
          </a:xfrm>
        </p:grpSpPr>
        <p:sp>
          <p:nvSpPr>
            <p:cNvPr name="Freeform 56" id="56"/>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57" id="57"/>
            <p:cNvSpPr txBox="true"/>
            <p:nvPr/>
          </p:nvSpPr>
          <p:spPr>
            <a:xfrm>
              <a:off x="0" y="-19050"/>
              <a:ext cx="3291840" cy="933450"/>
            </a:xfrm>
            <a:prstGeom prst="rect">
              <a:avLst/>
            </a:prstGeom>
          </p:spPr>
          <p:txBody>
            <a:bodyPr anchor="ctr" rtlCol="false" tIns="0" lIns="0" bIns="0" rIns="0"/>
            <a:lstStyle/>
            <a:p>
              <a:pPr algn="ctr">
                <a:lnSpc>
                  <a:spcPts val="2340"/>
                </a:lnSpc>
              </a:pPr>
              <a:r>
                <a:rPr lang="en-US" sz="1950" b="true">
                  <a:solidFill>
                    <a:srgbClr val="E2E8F0"/>
                  </a:solidFill>
                  <a:latin typeface="Arial Bold"/>
                  <a:ea typeface="Arial Bold"/>
                  <a:cs typeface="Arial Bold"/>
                  <a:sym typeface="Arial Bold"/>
                </a:rPr>
                <a:t>Instant Booking</a:t>
              </a:r>
            </a:p>
          </p:txBody>
        </p:sp>
      </p:grpSp>
      <p:sp>
        <p:nvSpPr>
          <p:cNvPr name="Freeform 58" id="58"/>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398161" y="2077405"/>
            <a:ext cx="10534759" cy="902979"/>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Market Opportunity</a:t>
              </a:r>
            </a:p>
          </p:txBody>
        </p:sp>
      </p:grpSp>
      <p:grpSp>
        <p:nvGrpSpPr>
          <p:cNvPr name="Group 5" id="5"/>
          <p:cNvGrpSpPr/>
          <p:nvPr/>
        </p:nvGrpSpPr>
        <p:grpSpPr>
          <a:xfrm rot="0">
            <a:off x="1411046" y="2980384"/>
            <a:ext cx="11133371" cy="742225"/>
            <a:chOff x="0" y="0"/>
            <a:chExt cx="10972800" cy="731520"/>
          </a:xfrm>
        </p:grpSpPr>
        <p:sp>
          <p:nvSpPr>
            <p:cNvPr name="Freeform 6" id="6"/>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7" id="7"/>
            <p:cNvSpPr txBox="true"/>
            <p:nvPr/>
          </p:nvSpPr>
          <p:spPr>
            <a:xfrm>
              <a:off x="0" y="-9525"/>
              <a:ext cx="10972800" cy="741045"/>
            </a:xfrm>
            <a:prstGeom prst="rect">
              <a:avLst/>
            </a:prstGeom>
          </p:spPr>
          <p:txBody>
            <a:bodyPr anchor="ctr" rtlCol="false" tIns="0" lIns="0" bIns="0" rIns="0"/>
            <a:lstStyle/>
            <a:p>
              <a:pPr algn="l">
                <a:lnSpc>
                  <a:spcPts val="2520"/>
                </a:lnSpc>
              </a:pPr>
              <a:r>
                <a:rPr lang="en-US" sz="2100">
                  <a:solidFill>
                    <a:srgbClr val="94A3B8"/>
                  </a:solidFill>
                  <a:latin typeface="Arial"/>
                  <a:ea typeface="Arial"/>
                  <a:cs typeface="Arial"/>
                  <a:sym typeface="Arial"/>
                </a:rPr>
                <a:t>Egypt's healthcare market presents massive potential</a:t>
              </a:r>
            </a:p>
          </p:txBody>
        </p:sp>
      </p:grpSp>
      <p:grpSp>
        <p:nvGrpSpPr>
          <p:cNvPr name="Group 8" id="8"/>
          <p:cNvGrpSpPr/>
          <p:nvPr/>
        </p:nvGrpSpPr>
        <p:grpSpPr>
          <a:xfrm rot="0">
            <a:off x="1398161" y="4266392"/>
            <a:ext cx="5963569" cy="2438002"/>
            <a:chOff x="0" y="0"/>
            <a:chExt cx="5877560" cy="2402840"/>
          </a:xfrm>
        </p:grpSpPr>
        <p:sp>
          <p:nvSpPr>
            <p:cNvPr name="Freeform 9" id="9"/>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10" id="10"/>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11" id="11"/>
          <p:cNvGrpSpPr/>
          <p:nvPr/>
        </p:nvGrpSpPr>
        <p:grpSpPr>
          <a:xfrm rot="0">
            <a:off x="1967715" y="4557612"/>
            <a:ext cx="4824461" cy="1113337"/>
            <a:chOff x="0" y="0"/>
            <a:chExt cx="4754880" cy="1097280"/>
          </a:xfrm>
        </p:grpSpPr>
        <p:sp>
          <p:nvSpPr>
            <p:cNvPr name="Freeform 12" id="12"/>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3" id="13"/>
            <p:cNvSpPr txBox="true"/>
            <p:nvPr/>
          </p:nvSpPr>
          <p:spPr>
            <a:xfrm>
              <a:off x="0" y="-19050"/>
              <a:ext cx="4754880" cy="1116330"/>
            </a:xfrm>
            <a:prstGeom prst="rect">
              <a:avLst/>
            </a:prstGeom>
          </p:spPr>
          <p:txBody>
            <a:bodyPr anchor="ctr" rtlCol="false" tIns="0" lIns="0" bIns="0" rIns="0"/>
            <a:lstStyle/>
            <a:p>
              <a:pPr algn="l">
                <a:lnSpc>
                  <a:spcPts val="4680"/>
                </a:lnSpc>
              </a:pPr>
              <a:r>
                <a:rPr lang="en-US" sz="3900" b="true">
                  <a:solidFill>
                    <a:srgbClr val="E2E8F0"/>
                  </a:solidFill>
                  <a:latin typeface="Arial Bold"/>
                  <a:ea typeface="Arial Bold"/>
                  <a:cs typeface="Arial Bold"/>
                  <a:sym typeface="Arial Bold"/>
                </a:rPr>
                <a:t>110M+</a:t>
              </a:r>
            </a:p>
          </p:txBody>
        </p:sp>
      </p:grpSp>
      <p:grpSp>
        <p:nvGrpSpPr>
          <p:cNvPr name="Group 14" id="14"/>
          <p:cNvGrpSpPr/>
          <p:nvPr/>
        </p:nvGrpSpPr>
        <p:grpSpPr>
          <a:xfrm rot="0">
            <a:off x="1967715" y="5578171"/>
            <a:ext cx="4824461" cy="742225"/>
            <a:chOff x="0" y="0"/>
            <a:chExt cx="4754880" cy="731520"/>
          </a:xfrm>
        </p:grpSpPr>
        <p:sp>
          <p:nvSpPr>
            <p:cNvPr name="Freeform 15" id="15"/>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16" id="16"/>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Population</a:t>
              </a:r>
            </a:p>
          </p:txBody>
        </p:sp>
      </p:grpSp>
      <p:grpSp>
        <p:nvGrpSpPr>
          <p:cNvPr name="Group 17" id="17"/>
          <p:cNvGrpSpPr/>
          <p:nvPr/>
        </p:nvGrpSpPr>
        <p:grpSpPr>
          <a:xfrm rot="0">
            <a:off x="7892627" y="4266392"/>
            <a:ext cx="5963569" cy="2438002"/>
            <a:chOff x="0" y="0"/>
            <a:chExt cx="5877560" cy="2402840"/>
          </a:xfrm>
        </p:grpSpPr>
        <p:sp>
          <p:nvSpPr>
            <p:cNvPr name="Freeform 18" id="18"/>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19" id="19"/>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20" id="20"/>
          <p:cNvGrpSpPr/>
          <p:nvPr/>
        </p:nvGrpSpPr>
        <p:grpSpPr>
          <a:xfrm rot="0">
            <a:off x="8462181" y="4557612"/>
            <a:ext cx="4824461" cy="1113337"/>
            <a:chOff x="0" y="0"/>
            <a:chExt cx="4754880" cy="1097280"/>
          </a:xfrm>
        </p:grpSpPr>
        <p:sp>
          <p:nvSpPr>
            <p:cNvPr name="Freeform 21" id="21"/>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22" id="22"/>
            <p:cNvSpPr txBox="true"/>
            <p:nvPr/>
          </p:nvSpPr>
          <p:spPr>
            <a:xfrm>
              <a:off x="0" y="-19050"/>
              <a:ext cx="4754880" cy="1116330"/>
            </a:xfrm>
            <a:prstGeom prst="rect">
              <a:avLst/>
            </a:prstGeom>
          </p:spPr>
          <p:txBody>
            <a:bodyPr anchor="ctr" rtlCol="false" tIns="0" lIns="0" bIns="0" rIns="0"/>
            <a:lstStyle/>
            <a:p>
              <a:pPr algn="l">
                <a:lnSpc>
                  <a:spcPts val="4680"/>
                </a:lnSpc>
              </a:pPr>
              <a:r>
                <a:rPr lang="en-US" sz="3900" b="true">
                  <a:solidFill>
                    <a:srgbClr val="E2E8F0"/>
                  </a:solidFill>
                  <a:latin typeface="Arial Bold"/>
                  <a:ea typeface="Arial Bold"/>
                  <a:cs typeface="Arial Bold"/>
                  <a:sym typeface="Arial Bold"/>
                </a:rPr>
                <a:t>1000s</a:t>
              </a:r>
            </a:p>
          </p:txBody>
        </p:sp>
      </p:grpSp>
      <p:grpSp>
        <p:nvGrpSpPr>
          <p:cNvPr name="Group 23" id="23"/>
          <p:cNvGrpSpPr/>
          <p:nvPr/>
        </p:nvGrpSpPr>
        <p:grpSpPr>
          <a:xfrm rot="0">
            <a:off x="8462181" y="5578171"/>
            <a:ext cx="4824461" cy="742225"/>
            <a:chOff x="0" y="0"/>
            <a:chExt cx="4754880" cy="731520"/>
          </a:xfrm>
        </p:grpSpPr>
        <p:sp>
          <p:nvSpPr>
            <p:cNvPr name="Freeform 24" id="24"/>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5" id="25"/>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Private Clinics &amp; Pharmacies</a:t>
              </a:r>
            </a:p>
          </p:txBody>
        </p:sp>
      </p:grpSp>
      <p:grpSp>
        <p:nvGrpSpPr>
          <p:cNvPr name="Group 26" id="26"/>
          <p:cNvGrpSpPr/>
          <p:nvPr/>
        </p:nvGrpSpPr>
        <p:grpSpPr>
          <a:xfrm rot="0">
            <a:off x="1398161" y="7235290"/>
            <a:ext cx="5963569" cy="2438002"/>
            <a:chOff x="0" y="0"/>
            <a:chExt cx="5877560" cy="2402840"/>
          </a:xfrm>
        </p:grpSpPr>
        <p:sp>
          <p:nvSpPr>
            <p:cNvPr name="Freeform 27" id="27"/>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28" id="28"/>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29" id="29"/>
          <p:cNvGrpSpPr/>
          <p:nvPr/>
        </p:nvGrpSpPr>
        <p:grpSpPr>
          <a:xfrm rot="0">
            <a:off x="1967715" y="7526511"/>
            <a:ext cx="4824461" cy="1113337"/>
            <a:chOff x="0" y="0"/>
            <a:chExt cx="4754880" cy="1097280"/>
          </a:xfrm>
        </p:grpSpPr>
        <p:sp>
          <p:nvSpPr>
            <p:cNvPr name="Freeform 30" id="30"/>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31" id="31"/>
            <p:cNvSpPr txBox="true"/>
            <p:nvPr/>
          </p:nvSpPr>
          <p:spPr>
            <a:xfrm>
              <a:off x="0" y="-19050"/>
              <a:ext cx="4754880" cy="1116330"/>
            </a:xfrm>
            <a:prstGeom prst="rect">
              <a:avLst/>
            </a:prstGeom>
          </p:spPr>
          <p:txBody>
            <a:bodyPr anchor="ctr" rtlCol="false" tIns="0" lIns="0" bIns="0" rIns="0"/>
            <a:lstStyle/>
            <a:p>
              <a:pPr algn="l">
                <a:lnSpc>
                  <a:spcPts val="4680"/>
                </a:lnSpc>
              </a:pPr>
              <a:r>
                <a:rPr lang="en-US" sz="3900" b="true">
                  <a:solidFill>
                    <a:srgbClr val="E2E8F0"/>
                  </a:solidFill>
                  <a:latin typeface="Arial Bold"/>
                  <a:ea typeface="Arial Bold"/>
                  <a:cs typeface="Arial Bold"/>
                  <a:sym typeface="Arial Bold"/>
                </a:rPr>
                <a:t>Billions</a:t>
              </a:r>
            </a:p>
          </p:txBody>
        </p:sp>
      </p:grpSp>
      <p:grpSp>
        <p:nvGrpSpPr>
          <p:cNvPr name="Group 32" id="32"/>
          <p:cNvGrpSpPr/>
          <p:nvPr/>
        </p:nvGrpSpPr>
        <p:grpSpPr>
          <a:xfrm rot="0">
            <a:off x="1967715" y="8547070"/>
            <a:ext cx="4824461" cy="742225"/>
            <a:chOff x="0" y="0"/>
            <a:chExt cx="4754880" cy="731520"/>
          </a:xfrm>
        </p:grpSpPr>
        <p:sp>
          <p:nvSpPr>
            <p:cNvPr name="Freeform 33" id="33"/>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34" id="34"/>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Annual Healthcare Market (EGP)</a:t>
              </a:r>
            </a:p>
          </p:txBody>
        </p:sp>
      </p:grpSp>
      <p:grpSp>
        <p:nvGrpSpPr>
          <p:cNvPr name="Group 35" id="35"/>
          <p:cNvGrpSpPr/>
          <p:nvPr/>
        </p:nvGrpSpPr>
        <p:grpSpPr>
          <a:xfrm rot="0">
            <a:off x="7892627" y="7235290"/>
            <a:ext cx="5963569" cy="2438002"/>
            <a:chOff x="0" y="0"/>
            <a:chExt cx="5877560" cy="2402840"/>
          </a:xfrm>
        </p:grpSpPr>
        <p:sp>
          <p:nvSpPr>
            <p:cNvPr name="Freeform 36" id="36"/>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37" id="37"/>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38" id="38"/>
          <p:cNvGrpSpPr/>
          <p:nvPr/>
        </p:nvGrpSpPr>
        <p:grpSpPr>
          <a:xfrm rot="0">
            <a:off x="8462181" y="7526511"/>
            <a:ext cx="4824461" cy="1113337"/>
            <a:chOff x="0" y="0"/>
            <a:chExt cx="4754880" cy="1097280"/>
          </a:xfrm>
        </p:grpSpPr>
        <p:sp>
          <p:nvSpPr>
            <p:cNvPr name="Freeform 39" id="39"/>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40" id="40"/>
            <p:cNvSpPr txBox="true"/>
            <p:nvPr/>
          </p:nvSpPr>
          <p:spPr>
            <a:xfrm>
              <a:off x="0" y="-19050"/>
              <a:ext cx="4754880" cy="1116330"/>
            </a:xfrm>
            <a:prstGeom prst="rect">
              <a:avLst/>
            </a:prstGeom>
          </p:spPr>
          <p:txBody>
            <a:bodyPr anchor="ctr" rtlCol="false" tIns="0" lIns="0" bIns="0" rIns="0"/>
            <a:lstStyle/>
            <a:p>
              <a:pPr algn="l">
                <a:lnSpc>
                  <a:spcPts val="4680"/>
                </a:lnSpc>
              </a:pPr>
              <a:r>
                <a:rPr lang="en-US" sz="3900" b="true">
                  <a:solidFill>
                    <a:srgbClr val="E2E8F0"/>
                  </a:solidFill>
                  <a:latin typeface="Arial Bold"/>
                  <a:ea typeface="Arial Bold"/>
                  <a:cs typeface="Arial Bold"/>
                  <a:sym typeface="Arial Bold"/>
                </a:rPr>
                <a:t>Egypt</a:t>
              </a:r>
            </a:p>
          </p:txBody>
        </p:sp>
      </p:grpSp>
      <p:grpSp>
        <p:nvGrpSpPr>
          <p:cNvPr name="Group 41" id="41"/>
          <p:cNvGrpSpPr/>
          <p:nvPr/>
        </p:nvGrpSpPr>
        <p:grpSpPr>
          <a:xfrm rot="0">
            <a:off x="8462181" y="8547070"/>
            <a:ext cx="4824461" cy="742225"/>
            <a:chOff x="0" y="0"/>
            <a:chExt cx="4754880" cy="731520"/>
          </a:xfrm>
        </p:grpSpPr>
        <p:sp>
          <p:nvSpPr>
            <p:cNvPr name="Freeform 42" id="42"/>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43" id="43"/>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Launch Nationwide</a:t>
              </a:r>
            </a:p>
          </p:txBody>
        </p:sp>
      </p:grpSp>
      <p:sp>
        <p:nvSpPr>
          <p:cNvPr name="Freeform 44" id="44"/>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971429" y="1965256"/>
            <a:ext cx="11431856" cy="979873"/>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TAM / SAM / SOM</a:t>
              </a:r>
            </a:p>
          </p:txBody>
        </p:sp>
      </p:grpSp>
      <p:grpSp>
        <p:nvGrpSpPr>
          <p:cNvPr name="Group 5" id="5"/>
          <p:cNvGrpSpPr/>
          <p:nvPr/>
        </p:nvGrpSpPr>
        <p:grpSpPr>
          <a:xfrm rot="0">
            <a:off x="1605426" y="3703831"/>
            <a:ext cx="10239714" cy="1023971"/>
            <a:chOff x="0" y="0"/>
            <a:chExt cx="9144000" cy="914400"/>
          </a:xfrm>
        </p:grpSpPr>
        <p:sp>
          <p:nvSpPr>
            <p:cNvPr name="Freeform 6" id="6"/>
            <p:cNvSpPr/>
            <p:nvPr/>
          </p:nvSpPr>
          <p:spPr>
            <a:xfrm flipH="false" flipV="false" rot="0">
              <a:off x="0" y="0"/>
              <a:ext cx="9144000" cy="914400"/>
            </a:xfrm>
            <a:custGeom>
              <a:avLst/>
              <a:gdLst/>
              <a:ahLst/>
              <a:cxnLst/>
              <a:rect r="r" b="b" t="t" l="l"/>
              <a:pathLst>
                <a:path h="914400" w="9144000">
                  <a:moveTo>
                    <a:pt x="0" y="0"/>
                  </a:moveTo>
                  <a:lnTo>
                    <a:pt x="9144000" y="0"/>
                  </a:lnTo>
                  <a:lnTo>
                    <a:pt x="9144000" y="914400"/>
                  </a:lnTo>
                  <a:lnTo>
                    <a:pt x="0" y="914400"/>
                  </a:lnTo>
                  <a:close/>
                </a:path>
              </a:pathLst>
            </a:custGeom>
            <a:blipFill>
              <a:blip r:embed="rId3">
                <a:alphaModFix amt="0"/>
              </a:blip>
              <a:stretch>
                <a:fillRect l="0" t="-144850" r="0" b="-144850"/>
              </a:stretch>
            </a:blipFill>
          </p:spPr>
        </p:sp>
        <p:sp>
          <p:nvSpPr>
            <p:cNvPr name="TextBox 7" id="7"/>
            <p:cNvSpPr txBox="true"/>
            <p:nvPr/>
          </p:nvSpPr>
          <p:spPr>
            <a:xfrm>
              <a:off x="0" y="-19050"/>
              <a:ext cx="9144000" cy="933450"/>
            </a:xfrm>
            <a:prstGeom prst="rect">
              <a:avLst/>
            </a:prstGeom>
          </p:spPr>
          <p:txBody>
            <a:bodyPr anchor="ctr" rtlCol="false" tIns="0" lIns="0" bIns="0" rIns="0"/>
            <a:lstStyle/>
            <a:p>
              <a:pPr algn="l">
                <a:lnSpc>
                  <a:spcPts val="2700"/>
                </a:lnSpc>
              </a:pPr>
              <a:r>
                <a:rPr lang="en-US" sz="2250" b="true">
                  <a:solidFill>
                    <a:srgbClr val="E2E8F0"/>
                  </a:solidFill>
                  <a:latin typeface="Arial Bold"/>
                  <a:ea typeface="Arial Bold"/>
                  <a:cs typeface="Arial Bold"/>
                  <a:sym typeface="Arial Bold"/>
                </a:rPr>
                <a:t>TAM  ~110M — All healthcare service seekers</a:t>
              </a:r>
            </a:p>
          </p:txBody>
        </p:sp>
      </p:grpSp>
      <p:grpSp>
        <p:nvGrpSpPr>
          <p:cNvPr name="Group 8" id="8"/>
          <p:cNvGrpSpPr/>
          <p:nvPr/>
        </p:nvGrpSpPr>
        <p:grpSpPr>
          <a:xfrm rot="0">
            <a:off x="1605426" y="5137391"/>
            <a:ext cx="10239714" cy="1023971"/>
            <a:chOff x="0" y="0"/>
            <a:chExt cx="9144000" cy="914400"/>
          </a:xfrm>
        </p:grpSpPr>
        <p:sp>
          <p:nvSpPr>
            <p:cNvPr name="Freeform 9" id="9"/>
            <p:cNvSpPr/>
            <p:nvPr/>
          </p:nvSpPr>
          <p:spPr>
            <a:xfrm flipH="false" flipV="false" rot="0">
              <a:off x="0" y="0"/>
              <a:ext cx="9144000" cy="914400"/>
            </a:xfrm>
            <a:custGeom>
              <a:avLst/>
              <a:gdLst/>
              <a:ahLst/>
              <a:cxnLst/>
              <a:rect r="r" b="b" t="t" l="l"/>
              <a:pathLst>
                <a:path h="914400" w="9144000">
                  <a:moveTo>
                    <a:pt x="0" y="0"/>
                  </a:moveTo>
                  <a:lnTo>
                    <a:pt x="9144000" y="0"/>
                  </a:lnTo>
                  <a:lnTo>
                    <a:pt x="9144000" y="914400"/>
                  </a:lnTo>
                  <a:lnTo>
                    <a:pt x="0" y="914400"/>
                  </a:lnTo>
                  <a:close/>
                </a:path>
              </a:pathLst>
            </a:custGeom>
            <a:blipFill>
              <a:blip r:embed="rId3">
                <a:alphaModFix amt="0"/>
              </a:blip>
              <a:stretch>
                <a:fillRect l="0" t="-144850" r="0" b="-144850"/>
              </a:stretch>
            </a:blipFill>
          </p:spPr>
        </p:sp>
        <p:sp>
          <p:nvSpPr>
            <p:cNvPr name="TextBox 10" id="10"/>
            <p:cNvSpPr txBox="true"/>
            <p:nvPr/>
          </p:nvSpPr>
          <p:spPr>
            <a:xfrm>
              <a:off x="0" y="-19050"/>
              <a:ext cx="9144000" cy="933450"/>
            </a:xfrm>
            <a:prstGeom prst="rect">
              <a:avLst/>
            </a:prstGeom>
          </p:spPr>
          <p:txBody>
            <a:bodyPr anchor="ctr" rtlCol="false" tIns="0" lIns="0" bIns="0" rIns="0"/>
            <a:lstStyle/>
            <a:p>
              <a:pPr algn="l">
                <a:lnSpc>
                  <a:spcPts val="2700"/>
                </a:lnSpc>
              </a:pPr>
              <a:r>
                <a:rPr lang="en-US" sz="2250" b="true">
                  <a:solidFill>
                    <a:srgbClr val="E2E8F0"/>
                  </a:solidFill>
                  <a:latin typeface="Arial Bold"/>
                  <a:ea typeface="Arial Bold"/>
                  <a:cs typeface="Arial Bold"/>
                  <a:sym typeface="Arial Bold"/>
                </a:rPr>
                <a:t>SAM  ~45M — Urban population</a:t>
              </a:r>
            </a:p>
          </p:txBody>
        </p:sp>
      </p:grpSp>
      <p:grpSp>
        <p:nvGrpSpPr>
          <p:cNvPr name="Group 11" id="11"/>
          <p:cNvGrpSpPr/>
          <p:nvPr/>
        </p:nvGrpSpPr>
        <p:grpSpPr>
          <a:xfrm rot="0">
            <a:off x="1605426" y="6570951"/>
            <a:ext cx="10239714" cy="1023971"/>
            <a:chOff x="0" y="0"/>
            <a:chExt cx="9144000" cy="914400"/>
          </a:xfrm>
        </p:grpSpPr>
        <p:sp>
          <p:nvSpPr>
            <p:cNvPr name="Freeform 12" id="12"/>
            <p:cNvSpPr/>
            <p:nvPr/>
          </p:nvSpPr>
          <p:spPr>
            <a:xfrm flipH="false" flipV="false" rot="0">
              <a:off x="0" y="0"/>
              <a:ext cx="9144000" cy="914400"/>
            </a:xfrm>
            <a:custGeom>
              <a:avLst/>
              <a:gdLst/>
              <a:ahLst/>
              <a:cxnLst/>
              <a:rect r="r" b="b" t="t" l="l"/>
              <a:pathLst>
                <a:path h="914400" w="9144000">
                  <a:moveTo>
                    <a:pt x="0" y="0"/>
                  </a:moveTo>
                  <a:lnTo>
                    <a:pt x="9144000" y="0"/>
                  </a:lnTo>
                  <a:lnTo>
                    <a:pt x="9144000" y="914400"/>
                  </a:lnTo>
                  <a:lnTo>
                    <a:pt x="0" y="914400"/>
                  </a:lnTo>
                  <a:close/>
                </a:path>
              </a:pathLst>
            </a:custGeom>
            <a:blipFill>
              <a:blip r:embed="rId3">
                <a:alphaModFix amt="0"/>
              </a:blip>
              <a:stretch>
                <a:fillRect l="0" t="-144850" r="0" b="-144850"/>
              </a:stretch>
            </a:blipFill>
          </p:spPr>
        </p:sp>
        <p:sp>
          <p:nvSpPr>
            <p:cNvPr name="TextBox 13" id="13"/>
            <p:cNvSpPr txBox="true"/>
            <p:nvPr/>
          </p:nvSpPr>
          <p:spPr>
            <a:xfrm>
              <a:off x="0" y="-19050"/>
              <a:ext cx="9144000" cy="933450"/>
            </a:xfrm>
            <a:prstGeom prst="rect">
              <a:avLst/>
            </a:prstGeom>
          </p:spPr>
          <p:txBody>
            <a:bodyPr anchor="ctr" rtlCol="false" tIns="0" lIns="0" bIns="0" rIns="0"/>
            <a:lstStyle/>
            <a:p>
              <a:pPr algn="l">
                <a:lnSpc>
                  <a:spcPts val="2700"/>
                </a:lnSpc>
              </a:pPr>
              <a:r>
                <a:rPr lang="en-US" sz="2250" b="true">
                  <a:solidFill>
                    <a:srgbClr val="E2E8F0"/>
                  </a:solidFill>
                  <a:latin typeface="Arial Bold"/>
                  <a:ea typeface="Arial Bold"/>
                  <a:cs typeface="Arial Bold"/>
                  <a:sym typeface="Arial Bold"/>
                </a:rPr>
                <a:t>SOM  100K — Year 1 Active users</a:t>
              </a:r>
            </a:p>
          </p:txBody>
        </p:sp>
      </p:grpSp>
      <p:grpSp>
        <p:nvGrpSpPr>
          <p:cNvPr name="Group 14" id="14"/>
          <p:cNvGrpSpPr/>
          <p:nvPr/>
        </p:nvGrpSpPr>
        <p:grpSpPr>
          <a:xfrm rot="0">
            <a:off x="11650493" y="1965256"/>
            <a:ext cx="5053467" cy="5053467"/>
            <a:chOff x="0" y="0"/>
            <a:chExt cx="5524500" cy="5524500"/>
          </a:xfrm>
        </p:grpSpPr>
        <p:sp>
          <p:nvSpPr>
            <p:cNvPr name="Freeform 15" id="15"/>
            <p:cNvSpPr/>
            <p:nvPr/>
          </p:nvSpPr>
          <p:spPr>
            <a:xfrm flipH="false" flipV="false" rot="0">
              <a:off x="19050" y="19050"/>
              <a:ext cx="5486400" cy="5486400"/>
            </a:xfrm>
            <a:custGeom>
              <a:avLst/>
              <a:gdLst/>
              <a:ahLst/>
              <a:cxnLst/>
              <a:rect r="r" b="b" t="t" l="l"/>
              <a:pathLst>
                <a:path h="5486400" w="5486400">
                  <a:moveTo>
                    <a:pt x="0" y="2743200"/>
                  </a:moveTo>
                  <a:cubicBezTo>
                    <a:pt x="0" y="1228217"/>
                    <a:pt x="1228217" y="0"/>
                    <a:pt x="2743200" y="0"/>
                  </a:cubicBezTo>
                  <a:cubicBezTo>
                    <a:pt x="4258183" y="0"/>
                    <a:pt x="5486400" y="1228217"/>
                    <a:pt x="5486400" y="2743200"/>
                  </a:cubicBezTo>
                  <a:cubicBezTo>
                    <a:pt x="5486400" y="4258183"/>
                    <a:pt x="4258183" y="5486400"/>
                    <a:pt x="2743200" y="5486400"/>
                  </a:cubicBezTo>
                  <a:cubicBezTo>
                    <a:pt x="1228217" y="5486400"/>
                    <a:pt x="0" y="4258183"/>
                    <a:pt x="0" y="2743200"/>
                  </a:cubicBezTo>
                  <a:close/>
                </a:path>
              </a:pathLst>
            </a:custGeom>
            <a:solidFill>
              <a:srgbClr val="0D3530"/>
            </a:solidFill>
          </p:spPr>
        </p:sp>
        <p:sp>
          <p:nvSpPr>
            <p:cNvPr name="Freeform 16" id="16"/>
            <p:cNvSpPr/>
            <p:nvPr/>
          </p:nvSpPr>
          <p:spPr>
            <a:xfrm flipH="false" flipV="false" rot="0">
              <a:off x="0" y="0"/>
              <a:ext cx="5524500" cy="5524500"/>
            </a:xfrm>
            <a:custGeom>
              <a:avLst/>
              <a:gdLst/>
              <a:ahLst/>
              <a:cxnLst/>
              <a:rect r="r" b="b" t="t" l="l"/>
              <a:pathLst>
                <a:path h="5524500" w="5524500">
                  <a:moveTo>
                    <a:pt x="0" y="2762250"/>
                  </a:moveTo>
                  <a:cubicBezTo>
                    <a:pt x="0" y="1236726"/>
                    <a:pt x="1236726" y="0"/>
                    <a:pt x="2762250" y="0"/>
                  </a:cubicBezTo>
                  <a:lnTo>
                    <a:pt x="2762250" y="19050"/>
                  </a:lnTo>
                  <a:lnTo>
                    <a:pt x="2762250" y="0"/>
                  </a:lnTo>
                  <a:cubicBezTo>
                    <a:pt x="4287774" y="0"/>
                    <a:pt x="5524500" y="1236726"/>
                    <a:pt x="5524500" y="2762250"/>
                  </a:cubicBezTo>
                  <a:lnTo>
                    <a:pt x="5505450" y="2762250"/>
                  </a:lnTo>
                  <a:lnTo>
                    <a:pt x="5524500" y="2762250"/>
                  </a:lnTo>
                  <a:cubicBezTo>
                    <a:pt x="5524500" y="4287774"/>
                    <a:pt x="4287774" y="5524500"/>
                    <a:pt x="2762250" y="5524500"/>
                  </a:cubicBezTo>
                  <a:lnTo>
                    <a:pt x="2762250" y="5505450"/>
                  </a:lnTo>
                  <a:lnTo>
                    <a:pt x="2762250" y="5524500"/>
                  </a:lnTo>
                  <a:cubicBezTo>
                    <a:pt x="1236726" y="5524500"/>
                    <a:pt x="0" y="4287774"/>
                    <a:pt x="0" y="2762250"/>
                  </a:cubicBezTo>
                  <a:lnTo>
                    <a:pt x="19050" y="2762250"/>
                  </a:lnTo>
                  <a:lnTo>
                    <a:pt x="38100" y="2762250"/>
                  </a:lnTo>
                  <a:lnTo>
                    <a:pt x="19050" y="2762250"/>
                  </a:lnTo>
                  <a:lnTo>
                    <a:pt x="0" y="2762250"/>
                  </a:lnTo>
                  <a:moveTo>
                    <a:pt x="38100" y="2762250"/>
                  </a:moveTo>
                  <a:cubicBezTo>
                    <a:pt x="38100" y="2772791"/>
                    <a:pt x="29591" y="2781300"/>
                    <a:pt x="19050" y="2781300"/>
                  </a:cubicBezTo>
                  <a:cubicBezTo>
                    <a:pt x="8509" y="2781300"/>
                    <a:pt x="0" y="2772791"/>
                    <a:pt x="0" y="2762250"/>
                  </a:cubicBezTo>
                  <a:cubicBezTo>
                    <a:pt x="0" y="2751709"/>
                    <a:pt x="8509" y="2743200"/>
                    <a:pt x="19050" y="2743200"/>
                  </a:cubicBezTo>
                  <a:cubicBezTo>
                    <a:pt x="29591" y="2743200"/>
                    <a:pt x="38100" y="2751709"/>
                    <a:pt x="38100" y="2762250"/>
                  </a:cubicBezTo>
                  <a:cubicBezTo>
                    <a:pt x="38100" y="4266819"/>
                    <a:pt x="1257681" y="5486400"/>
                    <a:pt x="2762250" y="5486400"/>
                  </a:cubicBezTo>
                  <a:cubicBezTo>
                    <a:pt x="4266819" y="5486400"/>
                    <a:pt x="5486400" y="4266819"/>
                    <a:pt x="5486400" y="2762250"/>
                  </a:cubicBezTo>
                  <a:cubicBezTo>
                    <a:pt x="5486400" y="1257681"/>
                    <a:pt x="4266819" y="38100"/>
                    <a:pt x="2762250" y="38100"/>
                  </a:cubicBezTo>
                  <a:lnTo>
                    <a:pt x="2762250" y="19050"/>
                  </a:lnTo>
                  <a:lnTo>
                    <a:pt x="2762250" y="38100"/>
                  </a:lnTo>
                  <a:cubicBezTo>
                    <a:pt x="1257681" y="38100"/>
                    <a:pt x="38100" y="1257681"/>
                    <a:pt x="38100" y="2762250"/>
                  </a:cubicBezTo>
                  <a:close/>
                </a:path>
              </a:pathLst>
            </a:custGeom>
            <a:solidFill>
              <a:srgbClr val="14B8A6"/>
            </a:solidFill>
          </p:spPr>
        </p:sp>
      </p:grpSp>
      <p:grpSp>
        <p:nvGrpSpPr>
          <p:cNvPr name="Group 17" id="17"/>
          <p:cNvGrpSpPr/>
          <p:nvPr/>
        </p:nvGrpSpPr>
        <p:grpSpPr>
          <a:xfrm rot="0">
            <a:off x="11685344" y="2455193"/>
            <a:ext cx="5018616" cy="5018616"/>
            <a:chOff x="0" y="0"/>
            <a:chExt cx="5486400" cy="5486400"/>
          </a:xfrm>
        </p:grpSpPr>
        <p:sp>
          <p:nvSpPr>
            <p:cNvPr name="Freeform 18" id="18"/>
            <p:cNvSpPr/>
            <p:nvPr/>
          </p:nvSpPr>
          <p:spPr>
            <a:xfrm flipH="false" flipV="false" rot="0">
              <a:off x="0" y="0"/>
              <a:ext cx="5486400" cy="5486400"/>
            </a:xfrm>
            <a:custGeom>
              <a:avLst/>
              <a:gdLst/>
              <a:ahLst/>
              <a:cxnLst/>
              <a:rect r="r" b="b" t="t" l="l"/>
              <a:pathLst>
                <a:path h="5486400" w="5486400">
                  <a:moveTo>
                    <a:pt x="0" y="0"/>
                  </a:moveTo>
                  <a:lnTo>
                    <a:pt x="5486400" y="0"/>
                  </a:lnTo>
                  <a:lnTo>
                    <a:pt x="5486400" y="5486400"/>
                  </a:lnTo>
                  <a:lnTo>
                    <a:pt x="0" y="5486400"/>
                  </a:lnTo>
                  <a:close/>
                </a:path>
              </a:pathLst>
            </a:custGeom>
            <a:blipFill>
              <a:blip r:embed="rId3">
                <a:alphaModFix amt="0"/>
              </a:blip>
              <a:stretch>
                <a:fillRect l="-78303" t="0" r="-78303" b="0"/>
              </a:stretch>
            </a:blipFill>
          </p:spPr>
        </p:sp>
        <p:sp>
          <p:nvSpPr>
            <p:cNvPr name="TextBox 19" id="19"/>
            <p:cNvSpPr txBox="true"/>
            <p:nvPr/>
          </p:nvSpPr>
          <p:spPr>
            <a:xfrm>
              <a:off x="0" y="-9525"/>
              <a:ext cx="5486400" cy="5495925"/>
            </a:xfrm>
            <a:prstGeom prst="rect">
              <a:avLst/>
            </a:prstGeom>
          </p:spPr>
          <p:txBody>
            <a:bodyPr anchor="ctr" rtlCol="false" tIns="0" lIns="0" bIns="0" rIns="0"/>
            <a:lstStyle/>
            <a:p>
              <a:pPr algn="ctr">
                <a:lnSpc>
                  <a:spcPts val="2879"/>
                </a:lnSpc>
              </a:pPr>
              <a:r>
                <a:rPr lang="en-US" sz="2400" b="true">
                  <a:solidFill>
                    <a:srgbClr val="E2E8F0"/>
                  </a:solidFill>
                  <a:latin typeface="Arial Bold"/>
                  <a:ea typeface="Arial Bold"/>
                  <a:cs typeface="Arial Bold"/>
                  <a:sym typeface="Arial Bold"/>
                </a:rPr>
                <a:t>~110M</a:t>
              </a:r>
            </a:p>
            <a:p>
              <a:pPr algn="ctr">
                <a:lnSpc>
                  <a:spcPts val="2879"/>
                </a:lnSpc>
              </a:pPr>
              <a:r>
                <a:rPr lang="en-US" sz="2400" b="true">
                  <a:solidFill>
                    <a:srgbClr val="E2E8F0"/>
                  </a:solidFill>
                  <a:latin typeface="Arial Bold"/>
                  <a:ea typeface="Arial Bold"/>
                  <a:cs typeface="Arial Bold"/>
                  <a:sym typeface="Arial Bold"/>
                </a:rPr>
                <a:t>💰 Money</a:t>
              </a:r>
            </a:p>
          </p:txBody>
        </p:sp>
      </p:grpSp>
      <p:grpSp>
        <p:nvGrpSpPr>
          <p:cNvPr name="Group 20" id="20"/>
          <p:cNvGrpSpPr/>
          <p:nvPr/>
        </p:nvGrpSpPr>
        <p:grpSpPr>
          <a:xfrm rot="0">
            <a:off x="12403285" y="2718049"/>
            <a:ext cx="3547883" cy="3547883"/>
            <a:chOff x="0" y="0"/>
            <a:chExt cx="3878580" cy="3878580"/>
          </a:xfrm>
        </p:grpSpPr>
        <p:sp>
          <p:nvSpPr>
            <p:cNvPr name="Freeform 21" id="21"/>
            <p:cNvSpPr/>
            <p:nvPr/>
          </p:nvSpPr>
          <p:spPr>
            <a:xfrm flipH="false" flipV="false" rot="0">
              <a:off x="19050" y="19050"/>
              <a:ext cx="3840480" cy="3840480"/>
            </a:xfrm>
            <a:custGeom>
              <a:avLst/>
              <a:gdLst/>
              <a:ahLst/>
              <a:cxnLst/>
              <a:rect r="r" b="b" t="t" l="l"/>
              <a:pathLst>
                <a:path h="3840480" w="3840480">
                  <a:moveTo>
                    <a:pt x="0" y="1920240"/>
                  </a:moveTo>
                  <a:cubicBezTo>
                    <a:pt x="0" y="859663"/>
                    <a:pt x="859663" y="0"/>
                    <a:pt x="1920240" y="0"/>
                  </a:cubicBezTo>
                  <a:cubicBezTo>
                    <a:pt x="2980817" y="0"/>
                    <a:pt x="3840480" y="859663"/>
                    <a:pt x="3840480" y="1920240"/>
                  </a:cubicBezTo>
                  <a:cubicBezTo>
                    <a:pt x="3840480" y="2980817"/>
                    <a:pt x="2980817" y="3840480"/>
                    <a:pt x="1920240" y="3840480"/>
                  </a:cubicBezTo>
                  <a:cubicBezTo>
                    <a:pt x="859663" y="3840480"/>
                    <a:pt x="0" y="2980817"/>
                    <a:pt x="0" y="1920240"/>
                  </a:cubicBezTo>
                  <a:close/>
                </a:path>
              </a:pathLst>
            </a:custGeom>
            <a:solidFill>
              <a:srgbClr val="0D2847"/>
            </a:solidFill>
          </p:spPr>
        </p:sp>
        <p:sp>
          <p:nvSpPr>
            <p:cNvPr name="Freeform 22" id="22"/>
            <p:cNvSpPr/>
            <p:nvPr/>
          </p:nvSpPr>
          <p:spPr>
            <a:xfrm flipH="false" flipV="false" rot="0">
              <a:off x="0" y="0"/>
              <a:ext cx="3878580" cy="3878580"/>
            </a:xfrm>
            <a:custGeom>
              <a:avLst/>
              <a:gdLst/>
              <a:ahLst/>
              <a:cxnLst/>
              <a:rect r="r" b="b" t="t" l="l"/>
              <a:pathLst>
                <a:path h="3878580" w="3878580">
                  <a:moveTo>
                    <a:pt x="0" y="1939290"/>
                  </a:moveTo>
                  <a:cubicBezTo>
                    <a:pt x="0" y="868299"/>
                    <a:pt x="868299" y="0"/>
                    <a:pt x="1939290" y="0"/>
                  </a:cubicBezTo>
                  <a:lnTo>
                    <a:pt x="1939290" y="19050"/>
                  </a:lnTo>
                  <a:lnTo>
                    <a:pt x="1939290" y="0"/>
                  </a:lnTo>
                  <a:cubicBezTo>
                    <a:pt x="3010281" y="0"/>
                    <a:pt x="3878580" y="868299"/>
                    <a:pt x="3878580" y="1939290"/>
                  </a:cubicBezTo>
                  <a:lnTo>
                    <a:pt x="3859530" y="1939290"/>
                  </a:lnTo>
                  <a:lnTo>
                    <a:pt x="3878580" y="1939290"/>
                  </a:lnTo>
                  <a:cubicBezTo>
                    <a:pt x="3878580" y="3010281"/>
                    <a:pt x="3010281" y="3878580"/>
                    <a:pt x="1939290" y="3878580"/>
                  </a:cubicBezTo>
                  <a:lnTo>
                    <a:pt x="1939290" y="3859530"/>
                  </a:lnTo>
                  <a:lnTo>
                    <a:pt x="1939290" y="3878580"/>
                  </a:lnTo>
                  <a:cubicBezTo>
                    <a:pt x="868299" y="3878580"/>
                    <a:pt x="0" y="3010281"/>
                    <a:pt x="0" y="1939290"/>
                  </a:cubicBezTo>
                  <a:lnTo>
                    <a:pt x="19050" y="1939290"/>
                  </a:lnTo>
                  <a:lnTo>
                    <a:pt x="38100" y="1939290"/>
                  </a:lnTo>
                  <a:lnTo>
                    <a:pt x="19050" y="1939290"/>
                  </a:lnTo>
                  <a:lnTo>
                    <a:pt x="0" y="1939290"/>
                  </a:lnTo>
                  <a:moveTo>
                    <a:pt x="38100" y="1939290"/>
                  </a:moveTo>
                  <a:cubicBezTo>
                    <a:pt x="38100" y="1949831"/>
                    <a:pt x="29591" y="1958340"/>
                    <a:pt x="19050" y="1958340"/>
                  </a:cubicBezTo>
                  <a:cubicBezTo>
                    <a:pt x="8509" y="1958340"/>
                    <a:pt x="0" y="1949831"/>
                    <a:pt x="0" y="1939290"/>
                  </a:cubicBezTo>
                  <a:cubicBezTo>
                    <a:pt x="0" y="1928749"/>
                    <a:pt x="8509" y="1920240"/>
                    <a:pt x="19050" y="1920240"/>
                  </a:cubicBezTo>
                  <a:cubicBezTo>
                    <a:pt x="29591" y="1920240"/>
                    <a:pt x="38100" y="1928749"/>
                    <a:pt x="38100" y="1939290"/>
                  </a:cubicBezTo>
                  <a:cubicBezTo>
                    <a:pt x="38100" y="2989326"/>
                    <a:pt x="889254" y="3840480"/>
                    <a:pt x="1939290" y="3840480"/>
                  </a:cubicBezTo>
                  <a:cubicBezTo>
                    <a:pt x="2989326" y="3840480"/>
                    <a:pt x="3840480" y="2989326"/>
                    <a:pt x="3840480" y="1939290"/>
                  </a:cubicBezTo>
                  <a:cubicBezTo>
                    <a:pt x="3840480" y="889254"/>
                    <a:pt x="2989326" y="38100"/>
                    <a:pt x="1939290" y="38100"/>
                  </a:cubicBezTo>
                  <a:lnTo>
                    <a:pt x="1939290" y="19050"/>
                  </a:lnTo>
                  <a:lnTo>
                    <a:pt x="1939290" y="38100"/>
                  </a:lnTo>
                  <a:cubicBezTo>
                    <a:pt x="889254" y="38100"/>
                    <a:pt x="38100" y="889254"/>
                    <a:pt x="38100" y="1939290"/>
                  </a:cubicBezTo>
                  <a:close/>
                </a:path>
              </a:pathLst>
            </a:custGeom>
            <a:solidFill>
              <a:srgbClr val="06B6D4"/>
            </a:solidFill>
          </p:spPr>
        </p:sp>
      </p:grpSp>
      <p:grpSp>
        <p:nvGrpSpPr>
          <p:cNvPr name="Group 23" id="23"/>
          <p:cNvGrpSpPr/>
          <p:nvPr/>
        </p:nvGrpSpPr>
        <p:grpSpPr>
          <a:xfrm rot="0">
            <a:off x="12420711" y="2735474"/>
            <a:ext cx="3513031" cy="3513031"/>
            <a:chOff x="0" y="0"/>
            <a:chExt cx="3840480" cy="3840480"/>
          </a:xfrm>
        </p:grpSpPr>
        <p:sp>
          <p:nvSpPr>
            <p:cNvPr name="Freeform 24" id="24"/>
            <p:cNvSpPr/>
            <p:nvPr/>
          </p:nvSpPr>
          <p:spPr>
            <a:xfrm flipH="false" flipV="false" rot="0">
              <a:off x="0" y="0"/>
              <a:ext cx="3840480" cy="3840480"/>
            </a:xfrm>
            <a:custGeom>
              <a:avLst/>
              <a:gdLst/>
              <a:ahLst/>
              <a:cxnLst/>
              <a:rect r="r" b="b" t="t" l="l"/>
              <a:pathLst>
                <a:path h="3840480" w="3840480">
                  <a:moveTo>
                    <a:pt x="0" y="0"/>
                  </a:moveTo>
                  <a:lnTo>
                    <a:pt x="3840480" y="0"/>
                  </a:lnTo>
                  <a:lnTo>
                    <a:pt x="3840480" y="3840480"/>
                  </a:lnTo>
                  <a:lnTo>
                    <a:pt x="0" y="3840480"/>
                  </a:lnTo>
                  <a:close/>
                </a:path>
              </a:pathLst>
            </a:custGeom>
            <a:blipFill>
              <a:blip r:embed="rId3">
                <a:alphaModFix amt="0"/>
              </a:blip>
              <a:stretch>
                <a:fillRect l="-78303" t="0" r="-78303" b="0"/>
              </a:stretch>
            </a:blipFill>
          </p:spPr>
        </p:sp>
        <p:sp>
          <p:nvSpPr>
            <p:cNvPr name="TextBox 25" id="25"/>
            <p:cNvSpPr txBox="true"/>
            <p:nvPr/>
          </p:nvSpPr>
          <p:spPr>
            <a:xfrm>
              <a:off x="0" y="-9525"/>
              <a:ext cx="3840480" cy="3850005"/>
            </a:xfrm>
            <a:prstGeom prst="rect">
              <a:avLst/>
            </a:prstGeom>
          </p:spPr>
          <p:txBody>
            <a:bodyPr anchor="ctr" rtlCol="false" tIns="0" lIns="0" bIns="0" rIns="0"/>
            <a:lstStyle/>
            <a:p>
              <a:pPr algn="ctr">
                <a:lnSpc>
                  <a:spcPts val="2520"/>
                </a:lnSpc>
              </a:pPr>
              <a:r>
                <a:rPr lang="en-US" sz="2100" b="true">
                  <a:solidFill>
                    <a:srgbClr val="E2E8F0"/>
                  </a:solidFill>
                  <a:latin typeface="Arial Bold"/>
                  <a:ea typeface="Arial Bold"/>
                  <a:cs typeface="Arial Bold"/>
                  <a:sym typeface="Arial Bold"/>
                </a:rPr>
                <a:t>~45M</a:t>
              </a:r>
            </a:p>
          </p:txBody>
        </p:sp>
      </p:grpSp>
      <p:grpSp>
        <p:nvGrpSpPr>
          <p:cNvPr name="Group 26" id="26"/>
          <p:cNvGrpSpPr/>
          <p:nvPr/>
        </p:nvGrpSpPr>
        <p:grpSpPr>
          <a:xfrm rot="0">
            <a:off x="13156077" y="3470841"/>
            <a:ext cx="2042298" cy="2042298"/>
            <a:chOff x="0" y="0"/>
            <a:chExt cx="2232660" cy="2232660"/>
          </a:xfrm>
        </p:grpSpPr>
        <p:sp>
          <p:nvSpPr>
            <p:cNvPr name="Freeform 27" id="27"/>
            <p:cNvSpPr/>
            <p:nvPr/>
          </p:nvSpPr>
          <p:spPr>
            <a:xfrm flipH="false" flipV="false" rot="0">
              <a:off x="19050" y="19050"/>
              <a:ext cx="2194560" cy="2194560"/>
            </a:xfrm>
            <a:custGeom>
              <a:avLst/>
              <a:gdLst/>
              <a:ahLst/>
              <a:cxnLst/>
              <a:rect r="r" b="b" t="t" l="l"/>
              <a:pathLst>
                <a:path h="2194560" w="2194560">
                  <a:moveTo>
                    <a:pt x="0" y="1097280"/>
                  </a:moveTo>
                  <a:cubicBezTo>
                    <a:pt x="0" y="491236"/>
                    <a:pt x="491236" y="0"/>
                    <a:pt x="1097280" y="0"/>
                  </a:cubicBezTo>
                  <a:cubicBezTo>
                    <a:pt x="1703324" y="0"/>
                    <a:pt x="2194560" y="491236"/>
                    <a:pt x="2194560" y="1097280"/>
                  </a:cubicBezTo>
                  <a:cubicBezTo>
                    <a:pt x="2194560" y="1703324"/>
                    <a:pt x="1703324" y="2194560"/>
                    <a:pt x="1097280" y="2194560"/>
                  </a:cubicBezTo>
                  <a:cubicBezTo>
                    <a:pt x="491236" y="2194560"/>
                    <a:pt x="0" y="1703324"/>
                    <a:pt x="0" y="1097280"/>
                  </a:cubicBezTo>
                  <a:close/>
                </a:path>
              </a:pathLst>
            </a:custGeom>
            <a:solidFill>
              <a:srgbClr val="2D1F0A"/>
            </a:solidFill>
          </p:spPr>
        </p:sp>
        <p:sp>
          <p:nvSpPr>
            <p:cNvPr name="Freeform 28" id="28"/>
            <p:cNvSpPr/>
            <p:nvPr/>
          </p:nvSpPr>
          <p:spPr>
            <a:xfrm flipH="false" flipV="false" rot="0">
              <a:off x="0" y="0"/>
              <a:ext cx="2232660" cy="2232660"/>
            </a:xfrm>
            <a:custGeom>
              <a:avLst/>
              <a:gdLst/>
              <a:ahLst/>
              <a:cxnLst/>
              <a:rect r="r" b="b" t="t" l="l"/>
              <a:pathLst>
                <a:path h="2232660" w="2232660">
                  <a:moveTo>
                    <a:pt x="0" y="1116330"/>
                  </a:moveTo>
                  <a:cubicBezTo>
                    <a:pt x="0" y="499745"/>
                    <a:pt x="499745" y="0"/>
                    <a:pt x="1116330" y="0"/>
                  </a:cubicBezTo>
                  <a:lnTo>
                    <a:pt x="1116330" y="19050"/>
                  </a:lnTo>
                  <a:lnTo>
                    <a:pt x="1116330" y="0"/>
                  </a:lnTo>
                  <a:cubicBezTo>
                    <a:pt x="1732915" y="0"/>
                    <a:pt x="2232660" y="499745"/>
                    <a:pt x="2232660" y="1116330"/>
                  </a:cubicBezTo>
                  <a:lnTo>
                    <a:pt x="2213610" y="1116330"/>
                  </a:lnTo>
                  <a:lnTo>
                    <a:pt x="2232660" y="1116330"/>
                  </a:lnTo>
                  <a:cubicBezTo>
                    <a:pt x="2232660" y="1732915"/>
                    <a:pt x="1732915" y="2232660"/>
                    <a:pt x="1116330" y="2232660"/>
                  </a:cubicBezTo>
                  <a:lnTo>
                    <a:pt x="1116330" y="2213610"/>
                  </a:lnTo>
                  <a:lnTo>
                    <a:pt x="1116330" y="2232660"/>
                  </a:lnTo>
                  <a:cubicBezTo>
                    <a:pt x="499745" y="2232660"/>
                    <a:pt x="0" y="1732915"/>
                    <a:pt x="0" y="1116330"/>
                  </a:cubicBezTo>
                  <a:lnTo>
                    <a:pt x="19050" y="1116330"/>
                  </a:lnTo>
                  <a:lnTo>
                    <a:pt x="38100" y="1116330"/>
                  </a:lnTo>
                  <a:lnTo>
                    <a:pt x="19050" y="1116330"/>
                  </a:lnTo>
                  <a:lnTo>
                    <a:pt x="0" y="1116330"/>
                  </a:lnTo>
                  <a:moveTo>
                    <a:pt x="38100" y="1116330"/>
                  </a:moveTo>
                  <a:cubicBezTo>
                    <a:pt x="38100" y="1126871"/>
                    <a:pt x="29591" y="1135380"/>
                    <a:pt x="19050" y="1135380"/>
                  </a:cubicBezTo>
                  <a:cubicBezTo>
                    <a:pt x="8509" y="1135380"/>
                    <a:pt x="0" y="1126871"/>
                    <a:pt x="0" y="1116330"/>
                  </a:cubicBezTo>
                  <a:cubicBezTo>
                    <a:pt x="0" y="1105789"/>
                    <a:pt x="8509" y="1097280"/>
                    <a:pt x="19050" y="1097280"/>
                  </a:cubicBezTo>
                  <a:cubicBezTo>
                    <a:pt x="29591" y="1097280"/>
                    <a:pt x="38100" y="1105789"/>
                    <a:pt x="38100" y="1116330"/>
                  </a:cubicBezTo>
                  <a:cubicBezTo>
                    <a:pt x="38100" y="1711833"/>
                    <a:pt x="520827" y="2194560"/>
                    <a:pt x="1116330" y="2194560"/>
                  </a:cubicBezTo>
                  <a:cubicBezTo>
                    <a:pt x="1711833" y="2194560"/>
                    <a:pt x="2194560" y="1711833"/>
                    <a:pt x="2194560" y="1116330"/>
                  </a:cubicBezTo>
                  <a:cubicBezTo>
                    <a:pt x="2194560" y="520827"/>
                    <a:pt x="1711833" y="38100"/>
                    <a:pt x="1116330" y="38100"/>
                  </a:cubicBezTo>
                  <a:lnTo>
                    <a:pt x="1116330" y="19050"/>
                  </a:lnTo>
                  <a:lnTo>
                    <a:pt x="1116330" y="38100"/>
                  </a:lnTo>
                  <a:cubicBezTo>
                    <a:pt x="520827" y="38100"/>
                    <a:pt x="38100" y="520827"/>
                    <a:pt x="38100" y="1116330"/>
                  </a:cubicBezTo>
                  <a:close/>
                </a:path>
              </a:pathLst>
            </a:custGeom>
            <a:solidFill>
              <a:srgbClr val="F59E0B"/>
            </a:solidFill>
          </p:spPr>
        </p:sp>
      </p:grpSp>
      <p:grpSp>
        <p:nvGrpSpPr>
          <p:cNvPr name="Group 29" id="29"/>
          <p:cNvGrpSpPr/>
          <p:nvPr/>
        </p:nvGrpSpPr>
        <p:grpSpPr>
          <a:xfrm rot="0">
            <a:off x="13173503" y="3488267"/>
            <a:ext cx="2007446" cy="2007446"/>
            <a:chOff x="0" y="0"/>
            <a:chExt cx="2194560" cy="2194560"/>
          </a:xfrm>
        </p:grpSpPr>
        <p:sp>
          <p:nvSpPr>
            <p:cNvPr name="Freeform 30" id="30"/>
            <p:cNvSpPr/>
            <p:nvPr/>
          </p:nvSpPr>
          <p:spPr>
            <a:xfrm flipH="false" flipV="false" rot="0">
              <a:off x="0" y="0"/>
              <a:ext cx="2194560" cy="2194560"/>
            </a:xfrm>
            <a:custGeom>
              <a:avLst/>
              <a:gdLst/>
              <a:ahLst/>
              <a:cxnLst/>
              <a:rect r="r" b="b" t="t" l="l"/>
              <a:pathLst>
                <a:path h="2194560" w="2194560">
                  <a:moveTo>
                    <a:pt x="0" y="0"/>
                  </a:moveTo>
                  <a:lnTo>
                    <a:pt x="2194560" y="0"/>
                  </a:lnTo>
                  <a:lnTo>
                    <a:pt x="2194560" y="2194560"/>
                  </a:lnTo>
                  <a:lnTo>
                    <a:pt x="0" y="2194560"/>
                  </a:lnTo>
                  <a:close/>
                </a:path>
              </a:pathLst>
            </a:custGeom>
            <a:blipFill>
              <a:blip r:embed="rId3">
                <a:alphaModFix amt="0"/>
              </a:blip>
              <a:stretch>
                <a:fillRect l="-78303" t="0" r="-78303" b="0"/>
              </a:stretch>
            </a:blipFill>
          </p:spPr>
        </p:sp>
        <p:sp>
          <p:nvSpPr>
            <p:cNvPr name="TextBox 31" id="31"/>
            <p:cNvSpPr txBox="true"/>
            <p:nvPr/>
          </p:nvSpPr>
          <p:spPr>
            <a:xfrm>
              <a:off x="0" y="-9525"/>
              <a:ext cx="2194560" cy="2204085"/>
            </a:xfrm>
            <a:prstGeom prst="rect">
              <a:avLst/>
            </a:prstGeom>
          </p:spPr>
          <p:txBody>
            <a:bodyPr anchor="ctr" rtlCol="false" tIns="0" lIns="0" bIns="0" rIns="0"/>
            <a:lstStyle/>
            <a:p>
              <a:pPr algn="ctr">
                <a:lnSpc>
                  <a:spcPts val="2520"/>
                </a:lnSpc>
              </a:pPr>
              <a:r>
                <a:rPr lang="en-US" sz="2100" b="true">
                  <a:solidFill>
                    <a:srgbClr val="E2E8F0"/>
                  </a:solidFill>
                  <a:latin typeface="Arial Bold"/>
                  <a:ea typeface="Arial Bold"/>
                  <a:cs typeface="Arial Bold"/>
                  <a:sym typeface="Arial Bold"/>
                </a:rPr>
                <a:t>100K</a:t>
              </a:r>
            </a:p>
          </p:txBody>
        </p:sp>
      </p:grpSp>
      <p:sp>
        <p:nvSpPr>
          <p:cNvPr name="Freeform 32" id="32"/>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6211172" y="1376024"/>
            <a:ext cx="11666423" cy="999979"/>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Business Model</a:t>
              </a:r>
            </a:p>
          </p:txBody>
        </p:sp>
      </p:grpSp>
      <p:grpSp>
        <p:nvGrpSpPr>
          <p:cNvPr name="Group 5" id="5"/>
          <p:cNvGrpSpPr/>
          <p:nvPr/>
        </p:nvGrpSpPr>
        <p:grpSpPr>
          <a:xfrm rot="0">
            <a:off x="1028700" y="2537928"/>
            <a:ext cx="2856422" cy="5856359"/>
            <a:chOff x="0" y="0"/>
            <a:chExt cx="3134360" cy="6426200"/>
          </a:xfrm>
        </p:grpSpPr>
        <p:sp>
          <p:nvSpPr>
            <p:cNvPr name="Freeform 6" id="6"/>
            <p:cNvSpPr/>
            <p:nvPr/>
          </p:nvSpPr>
          <p:spPr>
            <a:xfrm flipH="false" flipV="false" rot="0">
              <a:off x="12700" y="12700"/>
              <a:ext cx="3108960" cy="6400800"/>
            </a:xfrm>
            <a:custGeom>
              <a:avLst/>
              <a:gdLst/>
              <a:ahLst/>
              <a:cxnLst/>
              <a:rect r="r" b="b" t="t" l="l"/>
              <a:pathLst>
                <a:path h="6400800" w="3108960">
                  <a:moveTo>
                    <a:pt x="0" y="275463"/>
                  </a:moveTo>
                  <a:cubicBezTo>
                    <a:pt x="0" y="123317"/>
                    <a:pt x="122809" y="0"/>
                    <a:pt x="274320" y="0"/>
                  </a:cubicBezTo>
                  <a:lnTo>
                    <a:pt x="2834640" y="0"/>
                  </a:lnTo>
                  <a:cubicBezTo>
                    <a:pt x="2986151" y="0"/>
                    <a:pt x="3108960" y="123317"/>
                    <a:pt x="3108960" y="275463"/>
                  </a:cubicBezTo>
                  <a:lnTo>
                    <a:pt x="3108960" y="6125337"/>
                  </a:lnTo>
                  <a:cubicBezTo>
                    <a:pt x="3108960" y="6277483"/>
                    <a:pt x="2986151" y="6400800"/>
                    <a:pt x="2834640" y="6400800"/>
                  </a:cubicBezTo>
                  <a:lnTo>
                    <a:pt x="274320" y="6400800"/>
                  </a:lnTo>
                  <a:cubicBezTo>
                    <a:pt x="122809" y="6400800"/>
                    <a:pt x="0" y="6277483"/>
                    <a:pt x="0" y="6125337"/>
                  </a:cubicBezTo>
                  <a:close/>
                </a:path>
              </a:pathLst>
            </a:custGeom>
            <a:solidFill>
              <a:srgbClr val="111D32"/>
            </a:solidFill>
          </p:spPr>
        </p:sp>
        <p:sp>
          <p:nvSpPr>
            <p:cNvPr name="Freeform 7" id="7"/>
            <p:cNvSpPr/>
            <p:nvPr/>
          </p:nvSpPr>
          <p:spPr>
            <a:xfrm flipH="false" flipV="false" rot="0">
              <a:off x="0" y="0"/>
              <a:ext cx="3134360" cy="6426200"/>
            </a:xfrm>
            <a:custGeom>
              <a:avLst/>
              <a:gdLst/>
              <a:ahLst/>
              <a:cxnLst/>
              <a:rect r="r" b="b" t="t" l="l"/>
              <a:pathLst>
                <a:path h="6426200" w="3134360">
                  <a:moveTo>
                    <a:pt x="0" y="288163"/>
                  </a:moveTo>
                  <a:cubicBezTo>
                    <a:pt x="0" y="129032"/>
                    <a:pt x="128397" y="0"/>
                    <a:pt x="287020" y="0"/>
                  </a:cubicBezTo>
                  <a:lnTo>
                    <a:pt x="2847340" y="0"/>
                  </a:lnTo>
                  <a:lnTo>
                    <a:pt x="2847340" y="12700"/>
                  </a:lnTo>
                  <a:lnTo>
                    <a:pt x="2847340" y="0"/>
                  </a:lnTo>
                  <a:cubicBezTo>
                    <a:pt x="3005963" y="0"/>
                    <a:pt x="3134360" y="129032"/>
                    <a:pt x="3134360" y="288163"/>
                  </a:cubicBezTo>
                  <a:lnTo>
                    <a:pt x="3134360" y="6138037"/>
                  </a:lnTo>
                  <a:lnTo>
                    <a:pt x="3121660" y="6138037"/>
                  </a:lnTo>
                  <a:lnTo>
                    <a:pt x="3134360" y="6138037"/>
                  </a:lnTo>
                  <a:cubicBezTo>
                    <a:pt x="3134360" y="6297168"/>
                    <a:pt x="3005963" y="6426200"/>
                    <a:pt x="2847340" y="6426200"/>
                  </a:cubicBezTo>
                  <a:lnTo>
                    <a:pt x="2847340" y="6413500"/>
                  </a:lnTo>
                  <a:lnTo>
                    <a:pt x="2847340" y="6426200"/>
                  </a:lnTo>
                  <a:lnTo>
                    <a:pt x="287020" y="6426200"/>
                  </a:lnTo>
                  <a:lnTo>
                    <a:pt x="287020" y="6413500"/>
                  </a:lnTo>
                  <a:lnTo>
                    <a:pt x="287020" y="6426200"/>
                  </a:lnTo>
                  <a:cubicBezTo>
                    <a:pt x="128397" y="6426200"/>
                    <a:pt x="0" y="6297168"/>
                    <a:pt x="0" y="6138037"/>
                  </a:cubicBezTo>
                  <a:lnTo>
                    <a:pt x="0" y="288163"/>
                  </a:lnTo>
                  <a:lnTo>
                    <a:pt x="12700" y="288163"/>
                  </a:lnTo>
                  <a:lnTo>
                    <a:pt x="0" y="288163"/>
                  </a:lnTo>
                  <a:moveTo>
                    <a:pt x="25400" y="288163"/>
                  </a:moveTo>
                  <a:lnTo>
                    <a:pt x="25400" y="6138037"/>
                  </a:lnTo>
                  <a:lnTo>
                    <a:pt x="12700" y="6138037"/>
                  </a:lnTo>
                  <a:lnTo>
                    <a:pt x="25400" y="6138037"/>
                  </a:lnTo>
                  <a:cubicBezTo>
                    <a:pt x="25400" y="6283198"/>
                    <a:pt x="142621" y="6400800"/>
                    <a:pt x="287020" y="6400800"/>
                  </a:cubicBezTo>
                  <a:lnTo>
                    <a:pt x="2847340" y="6400800"/>
                  </a:lnTo>
                  <a:cubicBezTo>
                    <a:pt x="2991739" y="6400800"/>
                    <a:pt x="3108960" y="6283198"/>
                    <a:pt x="3108960" y="6138037"/>
                  </a:cubicBezTo>
                  <a:lnTo>
                    <a:pt x="3108960" y="288163"/>
                  </a:lnTo>
                  <a:lnTo>
                    <a:pt x="3121660" y="288163"/>
                  </a:lnTo>
                  <a:lnTo>
                    <a:pt x="3108960" y="288163"/>
                  </a:lnTo>
                  <a:cubicBezTo>
                    <a:pt x="3108960" y="143002"/>
                    <a:pt x="2991739" y="25400"/>
                    <a:pt x="2847340" y="25400"/>
                  </a:cubicBezTo>
                  <a:lnTo>
                    <a:pt x="287020" y="25400"/>
                  </a:lnTo>
                  <a:lnTo>
                    <a:pt x="287020" y="12700"/>
                  </a:lnTo>
                  <a:lnTo>
                    <a:pt x="287020" y="25400"/>
                  </a:lnTo>
                  <a:cubicBezTo>
                    <a:pt x="142621" y="25400"/>
                    <a:pt x="25400" y="143002"/>
                    <a:pt x="25400" y="288163"/>
                  </a:cubicBezTo>
                  <a:close/>
                </a:path>
              </a:pathLst>
            </a:custGeom>
            <a:solidFill>
              <a:srgbClr val="1E3048"/>
            </a:solidFill>
          </p:spPr>
        </p:sp>
      </p:grpSp>
      <p:grpSp>
        <p:nvGrpSpPr>
          <p:cNvPr name="Group 8" id="8"/>
          <p:cNvGrpSpPr/>
          <p:nvPr/>
        </p:nvGrpSpPr>
        <p:grpSpPr>
          <a:xfrm rot="0">
            <a:off x="1040274" y="3382818"/>
            <a:ext cx="2833274" cy="833316"/>
            <a:chOff x="0" y="0"/>
            <a:chExt cx="3108960" cy="914400"/>
          </a:xfrm>
        </p:grpSpPr>
        <p:sp>
          <p:nvSpPr>
            <p:cNvPr name="Freeform 9" id="9"/>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10" id="10"/>
            <p:cNvSpPr txBox="true"/>
            <p:nvPr/>
          </p:nvSpPr>
          <p:spPr>
            <a:xfrm>
              <a:off x="0" y="-19050"/>
              <a:ext cx="3108960" cy="93345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Doctors</a:t>
              </a:r>
            </a:p>
          </p:txBody>
        </p:sp>
      </p:grpSp>
      <p:grpSp>
        <p:nvGrpSpPr>
          <p:cNvPr name="Group 11" id="11"/>
          <p:cNvGrpSpPr/>
          <p:nvPr/>
        </p:nvGrpSpPr>
        <p:grpSpPr>
          <a:xfrm rot="0">
            <a:off x="1040274" y="4549460"/>
            <a:ext cx="2833274" cy="999979"/>
            <a:chOff x="0" y="0"/>
            <a:chExt cx="3108960" cy="1097280"/>
          </a:xfrm>
        </p:grpSpPr>
        <p:sp>
          <p:nvSpPr>
            <p:cNvPr name="Freeform 12" id="12"/>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3">
                <a:alphaModFix amt="0"/>
              </a:blip>
              <a:stretch>
                <a:fillRect l="0" t="-5207" r="0" b="-5207"/>
              </a:stretch>
            </a:blipFill>
          </p:spPr>
        </p:sp>
        <p:sp>
          <p:nvSpPr>
            <p:cNvPr name="TextBox 13" id="13"/>
            <p:cNvSpPr txBox="true"/>
            <p:nvPr/>
          </p:nvSpPr>
          <p:spPr>
            <a:xfrm>
              <a:off x="0" y="-19050"/>
              <a:ext cx="3108960" cy="1116330"/>
            </a:xfrm>
            <a:prstGeom prst="rect">
              <a:avLst/>
            </a:prstGeom>
          </p:spPr>
          <p:txBody>
            <a:bodyPr anchor="ctr" rtlCol="false" tIns="0" lIns="0" bIns="0" rIns="0"/>
            <a:lstStyle/>
            <a:p>
              <a:pPr algn="ctr">
                <a:lnSpc>
                  <a:spcPts val="2160"/>
                </a:lnSpc>
              </a:pPr>
              <a:r>
                <a:rPr lang="en-US" sz="1800" b="true">
                  <a:solidFill>
                    <a:srgbClr val="06B6D4"/>
                  </a:solidFill>
                  <a:latin typeface="Arial Bold"/>
                  <a:ea typeface="Arial Bold"/>
                  <a:cs typeface="Arial Bold"/>
                  <a:sym typeface="Arial Bold"/>
                </a:rPr>
                <a:t>1,000 – 5,000 EGP/month</a:t>
              </a:r>
            </a:p>
          </p:txBody>
        </p:sp>
      </p:grpSp>
      <p:grpSp>
        <p:nvGrpSpPr>
          <p:cNvPr name="Group 14" id="14"/>
          <p:cNvGrpSpPr/>
          <p:nvPr/>
        </p:nvGrpSpPr>
        <p:grpSpPr>
          <a:xfrm rot="0">
            <a:off x="1040274" y="5716102"/>
            <a:ext cx="2833274" cy="833316"/>
            <a:chOff x="0" y="0"/>
            <a:chExt cx="3108960" cy="914400"/>
          </a:xfrm>
        </p:grpSpPr>
        <p:sp>
          <p:nvSpPr>
            <p:cNvPr name="Freeform 15" id="15"/>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16" id="16"/>
            <p:cNvSpPr txBox="true"/>
            <p:nvPr/>
          </p:nvSpPr>
          <p:spPr>
            <a:xfrm>
              <a:off x="0" y="-19050"/>
              <a:ext cx="3108960" cy="933450"/>
            </a:xfrm>
            <a:prstGeom prst="rect">
              <a:avLst/>
            </a:prstGeom>
          </p:spPr>
          <p:txBody>
            <a:bodyPr anchor="ctr" rtlCol="false" tIns="0" lIns="0" bIns="0" rIns="0"/>
            <a:lstStyle/>
            <a:p>
              <a:pPr algn="ctr">
                <a:lnSpc>
                  <a:spcPts val="1980"/>
                </a:lnSpc>
              </a:pPr>
              <a:r>
                <a:rPr lang="en-US" sz="1650">
                  <a:solidFill>
                    <a:srgbClr val="94A3B8"/>
                  </a:solidFill>
                  <a:latin typeface="Arial"/>
                  <a:ea typeface="Arial"/>
                  <a:cs typeface="Arial"/>
                  <a:sym typeface="Arial"/>
                </a:rPr>
                <a:t>5% commission</a:t>
              </a:r>
            </a:p>
          </p:txBody>
        </p:sp>
      </p:grpSp>
      <p:grpSp>
        <p:nvGrpSpPr>
          <p:cNvPr name="Group 17" id="17"/>
          <p:cNvGrpSpPr/>
          <p:nvPr/>
        </p:nvGrpSpPr>
        <p:grpSpPr>
          <a:xfrm rot="0">
            <a:off x="4111969" y="2537928"/>
            <a:ext cx="2856422" cy="5856359"/>
            <a:chOff x="0" y="0"/>
            <a:chExt cx="3134360" cy="6426200"/>
          </a:xfrm>
        </p:grpSpPr>
        <p:sp>
          <p:nvSpPr>
            <p:cNvPr name="Freeform 18" id="18"/>
            <p:cNvSpPr/>
            <p:nvPr/>
          </p:nvSpPr>
          <p:spPr>
            <a:xfrm flipH="false" flipV="false" rot="0">
              <a:off x="12700" y="12700"/>
              <a:ext cx="3108960" cy="6400800"/>
            </a:xfrm>
            <a:custGeom>
              <a:avLst/>
              <a:gdLst/>
              <a:ahLst/>
              <a:cxnLst/>
              <a:rect r="r" b="b" t="t" l="l"/>
              <a:pathLst>
                <a:path h="6400800" w="3108960">
                  <a:moveTo>
                    <a:pt x="0" y="275463"/>
                  </a:moveTo>
                  <a:cubicBezTo>
                    <a:pt x="0" y="123317"/>
                    <a:pt x="122809" y="0"/>
                    <a:pt x="274320" y="0"/>
                  </a:cubicBezTo>
                  <a:lnTo>
                    <a:pt x="2834640" y="0"/>
                  </a:lnTo>
                  <a:cubicBezTo>
                    <a:pt x="2986151" y="0"/>
                    <a:pt x="3108960" y="123317"/>
                    <a:pt x="3108960" y="275463"/>
                  </a:cubicBezTo>
                  <a:lnTo>
                    <a:pt x="3108960" y="6125337"/>
                  </a:lnTo>
                  <a:cubicBezTo>
                    <a:pt x="3108960" y="6277483"/>
                    <a:pt x="2986151" y="6400800"/>
                    <a:pt x="2834640" y="6400800"/>
                  </a:cubicBezTo>
                  <a:lnTo>
                    <a:pt x="274320" y="6400800"/>
                  </a:lnTo>
                  <a:cubicBezTo>
                    <a:pt x="122809" y="6400800"/>
                    <a:pt x="0" y="6277483"/>
                    <a:pt x="0" y="6125337"/>
                  </a:cubicBezTo>
                  <a:close/>
                </a:path>
              </a:pathLst>
            </a:custGeom>
            <a:solidFill>
              <a:srgbClr val="111D32"/>
            </a:solidFill>
          </p:spPr>
        </p:sp>
        <p:sp>
          <p:nvSpPr>
            <p:cNvPr name="Freeform 19" id="19"/>
            <p:cNvSpPr/>
            <p:nvPr/>
          </p:nvSpPr>
          <p:spPr>
            <a:xfrm flipH="false" flipV="false" rot="0">
              <a:off x="0" y="0"/>
              <a:ext cx="3134360" cy="6426200"/>
            </a:xfrm>
            <a:custGeom>
              <a:avLst/>
              <a:gdLst/>
              <a:ahLst/>
              <a:cxnLst/>
              <a:rect r="r" b="b" t="t" l="l"/>
              <a:pathLst>
                <a:path h="6426200" w="3134360">
                  <a:moveTo>
                    <a:pt x="0" y="288163"/>
                  </a:moveTo>
                  <a:cubicBezTo>
                    <a:pt x="0" y="129032"/>
                    <a:pt x="128397" y="0"/>
                    <a:pt x="287020" y="0"/>
                  </a:cubicBezTo>
                  <a:lnTo>
                    <a:pt x="2847340" y="0"/>
                  </a:lnTo>
                  <a:lnTo>
                    <a:pt x="2847340" y="12700"/>
                  </a:lnTo>
                  <a:lnTo>
                    <a:pt x="2847340" y="0"/>
                  </a:lnTo>
                  <a:cubicBezTo>
                    <a:pt x="3005963" y="0"/>
                    <a:pt x="3134360" y="129032"/>
                    <a:pt x="3134360" y="288163"/>
                  </a:cubicBezTo>
                  <a:lnTo>
                    <a:pt x="3134360" y="6138037"/>
                  </a:lnTo>
                  <a:lnTo>
                    <a:pt x="3121660" y="6138037"/>
                  </a:lnTo>
                  <a:lnTo>
                    <a:pt x="3134360" y="6138037"/>
                  </a:lnTo>
                  <a:cubicBezTo>
                    <a:pt x="3134360" y="6297168"/>
                    <a:pt x="3005963" y="6426200"/>
                    <a:pt x="2847340" y="6426200"/>
                  </a:cubicBezTo>
                  <a:lnTo>
                    <a:pt x="2847340" y="6413500"/>
                  </a:lnTo>
                  <a:lnTo>
                    <a:pt x="2847340" y="6426200"/>
                  </a:lnTo>
                  <a:lnTo>
                    <a:pt x="287020" y="6426200"/>
                  </a:lnTo>
                  <a:lnTo>
                    <a:pt x="287020" y="6413500"/>
                  </a:lnTo>
                  <a:lnTo>
                    <a:pt x="287020" y="6426200"/>
                  </a:lnTo>
                  <a:cubicBezTo>
                    <a:pt x="128397" y="6426200"/>
                    <a:pt x="0" y="6297168"/>
                    <a:pt x="0" y="6138037"/>
                  </a:cubicBezTo>
                  <a:lnTo>
                    <a:pt x="0" y="288163"/>
                  </a:lnTo>
                  <a:lnTo>
                    <a:pt x="12700" y="288163"/>
                  </a:lnTo>
                  <a:lnTo>
                    <a:pt x="0" y="288163"/>
                  </a:lnTo>
                  <a:moveTo>
                    <a:pt x="25400" y="288163"/>
                  </a:moveTo>
                  <a:lnTo>
                    <a:pt x="25400" y="6138037"/>
                  </a:lnTo>
                  <a:lnTo>
                    <a:pt x="12700" y="6138037"/>
                  </a:lnTo>
                  <a:lnTo>
                    <a:pt x="25400" y="6138037"/>
                  </a:lnTo>
                  <a:cubicBezTo>
                    <a:pt x="25400" y="6283198"/>
                    <a:pt x="142621" y="6400800"/>
                    <a:pt x="287020" y="6400800"/>
                  </a:cubicBezTo>
                  <a:lnTo>
                    <a:pt x="2847340" y="6400800"/>
                  </a:lnTo>
                  <a:cubicBezTo>
                    <a:pt x="2991739" y="6400800"/>
                    <a:pt x="3108960" y="6283198"/>
                    <a:pt x="3108960" y="6138037"/>
                  </a:cubicBezTo>
                  <a:lnTo>
                    <a:pt x="3108960" y="288163"/>
                  </a:lnTo>
                  <a:lnTo>
                    <a:pt x="3121660" y="288163"/>
                  </a:lnTo>
                  <a:lnTo>
                    <a:pt x="3108960" y="288163"/>
                  </a:lnTo>
                  <a:cubicBezTo>
                    <a:pt x="3108960" y="143002"/>
                    <a:pt x="2991739" y="25400"/>
                    <a:pt x="2847340" y="25400"/>
                  </a:cubicBezTo>
                  <a:lnTo>
                    <a:pt x="287020" y="25400"/>
                  </a:lnTo>
                  <a:lnTo>
                    <a:pt x="287020" y="12700"/>
                  </a:lnTo>
                  <a:lnTo>
                    <a:pt x="287020" y="25400"/>
                  </a:lnTo>
                  <a:cubicBezTo>
                    <a:pt x="142621" y="25400"/>
                    <a:pt x="25400" y="143002"/>
                    <a:pt x="25400" y="288163"/>
                  </a:cubicBezTo>
                  <a:close/>
                </a:path>
              </a:pathLst>
            </a:custGeom>
            <a:solidFill>
              <a:srgbClr val="1E3048"/>
            </a:solidFill>
          </p:spPr>
        </p:sp>
      </p:grpSp>
      <p:grpSp>
        <p:nvGrpSpPr>
          <p:cNvPr name="Group 20" id="20"/>
          <p:cNvGrpSpPr/>
          <p:nvPr/>
        </p:nvGrpSpPr>
        <p:grpSpPr>
          <a:xfrm rot="0">
            <a:off x="4123543" y="3382818"/>
            <a:ext cx="2833274" cy="833316"/>
            <a:chOff x="0" y="0"/>
            <a:chExt cx="3108960" cy="914400"/>
          </a:xfrm>
        </p:grpSpPr>
        <p:sp>
          <p:nvSpPr>
            <p:cNvPr name="Freeform 21" id="21"/>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22" id="22"/>
            <p:cNvSpPr txBox="true"/>
            <p:nvPr/>
          </p:nvSpPr>
          <p:spPr>
            <a:xfrm>
              <a:off x="0" y="-19050"/>
              <a:ext cx="3108960" cy="93345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Pharmacies</a:t>
              </a:r>
            </a:p>
          </p:txBody>
        </p:sp>
      </p:grpSp>
      <p:grpSp>
        <p:nvGrpSpPr>
          <p:cNvPr name="Group 23" id="23"/>
          <p:cNvGrpSpPr/>
          <p:nvPr/>
        </p:nvGrpSpPr>
        <p:grpSpPr>
          <a:xfrm rot="0">
            <a:off x="4123543" y="4549460"/>
            <a:ext cx="2833274" cy="999979"/>
            <a:chOff x="0" y="0"/>
            <a:chExt cx="3108960" cy="1097280"/>
          </a:xfrm>
        </p:grpSpPr>
        <p:sp>
          <p:nvSpPr>
            <p:cNvPr name="Freeform 24" id="24"/>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3">
                <a:alphaModFix amt="0"/>
              </a:blip>
              <a:stretch>
                <a:fillRect l="0" t="-5207" r="0" b="-5207"/>
              </a:stretch>
            </a:blipFill>
          </p:spPr>
        </p:sp>
        <p:sp>
          <p:nvSpPr>
            <p:cNvPr name="TextBox 25" id="25"/>
            <p:cNvSpPr txBox="true"/>
            <p:nvPr/>
          </p:nvSpPr>
          <p:spPr>
            <a:xfrm>
              <a:off x="0" y="-19050"/>
              <a:ext cx="3108960" cy="1116330"/>
            </a:xfrm>
            <a:prstGeom prst="rect">
              <a:avLst/>
            </a:prstGeom>
          </p:spPr>
          <p:txBody>
            <a:bodyPr anchor="ctr" rtlCol="false" tIns="0" lIns="0" bIns="0" rIns="0"/>
            <a:lstStyle/>
            <a:p>
              <a:pPr algn="ctr">
                <a:lnSpc>
                  <a:spcPts val="2160"/>
                </a:lnSpc>
              </a:pPr>
              <a:r>
                <a:rPr lang="en-US" sz="1800" b="true">
                  <a:solidFill>
                    <a:srgbClr val="06B6D4"/>
                  </a:solidFill>
                  <a:latin typeface="Arial Bold"/>
                  <a:ea typeface="Arial Bold"/>
                  <a:cs typeface="Arial Bold"/>
                  <a:sym typeface="Arial Bold"/>
                </a:rPr>
                <a:t>800 – 2,000 EGP/month</a:t>
              </a:r>
            </a:p>
          </p:txBody>
        </p:sp>
      </p:grpSp>
      <p:grpSp>
        <p:nvGrpSpPr>
          <p:cNvPr name="Group 26" id="26"/>
          <p:cNvGrpSpPr/>
          <p:nvPr/>
        </p:nvGrpSpPr>
        <p:grpSpPr>
          <a:xfrm rot="0">
            <a:off x="4123543" y="5716102"/>
            <a:ext cx="2833274" cy="833316"/>
            <a:chOff x="0" y="0"/>
            <a:chExt cx="3108960" cy="914400"/>
          </a:xfrm>
        </p:grpSpPr>
        <p:sp>
          <p:nvSpPr>
            <p:cNvPr name="Freeform 27" id="27"/>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28" id="28"/>
            <p:cNvSpPr txBox="true"/>
            <p:nvPr/>
          </p:nvSpPr>
          <p:spPr>
            <a:xfrm>
              <a:off x="0" y="-19050"/>
              <a:ext cx="3108960" cy="933450"/>
            </a:xfrm>
            <a:prstGeom prst="rect">
              <a:avLst/>
            </a:prstGeom>
          </p:spPr>
          <p:txBody>
            <a:bodyPr anchor="ctr" rtlCol="false" tIns="0" lIns="0" bIns="0" rIns="0"/>
            <a:lstStyle/>
            <a:p>
              <a:pPr algn="ctr">
                <a:lnSpc>
                  <a:spcPts val="1980"/>
                </a:lnSpc>
              </a:pPr>
              <a:r>
                <a:rPr lang="en-US" sz="1650">
                  <a:solidFill>
                    <a:srgbClr val="94A3B8"/>
                  </a:solidFill>
                  <a:latin typeface="Arial"/>
                  <a:ea typeface="Arial"/>
                  <a:cs typeface="Arial"/>
                  <a:sym typeface="Arial"/>
                </a:rPr>
                <a:t>3% commission</a:t>
              </a:r>
            </a:p>
          </p:txBody>
        </p:sp>
      </p:grpSp>
      <p:grpSp>
        <p:nvGrpSpPr>
          <p:cNvPr name="Group 29" id="29"/>
          <p:cNvGrpSpPr/>
          <p:nvPr/>
        </p:nvGrpSpPr>
        <p:grpSpPr>
          <a:xfrm rot="0">
            <a:off x="7195238" y="2537928"/>
            <a:ext cx="2856422" cy="5856359"/>
            <a:chOff x="0" y="0"/>
            <a:chExt cx="3134360" cy="6426200"/>
          </a:xfrm>
        </p:grpSpPr>
        <p:sp>
          <p:nvSpPr>
            <p:cNvPr name="Freeform 30" id="30"/>
            <p:cNvSpPr/>
            <p:nvPr/>
          </p:nvSpPr>
          <p:spPr>
            <a:xfrm flipH="false" flipV="false" rot="0">
              <a:off x="12700" y="12700"/>
              <a:ext cx="3108960" cy="6400800"/>
            </a:xfrm>
            <a:custGeom>
              <a:avLst/>
              <a:gdLst/>
              <a:ahLst/>
              <a:cxnLst/>
              <a:rect r="r" b="b" t="t" l="l"/>
              <a:pathLst>
                <a:path h="6400800" w="3108960">
                  <a:moveTo>
                    <a:pt x="0" y="275463"/>
                  </a:moveTo>
                  <a:cubicBezTo>
                    <a:pt x="0" y="123317"/>
                    <a:pt x="122809" y="0"/>
                    <a:pt x="274320" y="0"/>
                  </a:cubicBezTo>
                  <a:lnTo>
                    <a:pt x="2834640" y="0"/>
                  </a:lnTo>
                  <a:cubicBezTo>
                    <a:pt x="2986151" y="0"/>
                    <a:pt x="3108960" y="123317"/>
                    <a:pt x="3108960" y="275463"/>
                  </a:cubicBezTo>
                  <a:lnTo>
                    <a:pt x="3108960" y="6125337"/>
                  </a:lnTo>
                  <a:cubicBezTo>
                    <a:pt x="3108960" y="6277483"/>
                    <a:pt x="2986151" y="6400800"/>
                    <a:pt x="2834640" y="6400800"/>
                  </a:cubicBezTo>
                  <a:lnTo>
                    <a:pt x="274320" y="6400800"/>
                  </a:lnTo>
                  <a:cubicBezTo>
                    <a:pt x="122809" y="6400800"/>
                    <a:pt x="0" y="6277483"/>
                    <a:pt x="0" y="6125337"/>
                  </a:cubicBezTo>
                  <a:close/>
                </a:path>
              </a:pathLst>
            </a:custGeom>
            <a:solidFill>
              <a:srgbClr val="111D32"/>
            </a:solidFill>
          </p:spPr>
        </p:sp>
        <p:sp>
          <p:nvSpPr>
            <p:cNvPr name="Freeform 31" id="31"/>
            <p:cNvSpPr/>
            <p:nvPr/>
          </p:nvSpPr>
          <p:spPr>
            <a:xfrm flipH="false" flipV="false" rot="0">
              <a:off x="0" y="0"/>
              <a:ext cx="3134360" cy="6426200"/>
            </a:xfrm>
            <a:custGeom>
              <a:avLst/>
              <a:gdLst/>
              <a:ahLst/>
              <a:cxnLst/>
              <a:rect r="r" b="b" t="t" l="l"/>
              <a:pathLst>
                <a:path h="6426200" w="3134360">
                  <a:moveTo>
                    <a:pt x="0" y="288163"/>
                  </a:moveTo>
                  <a:cubicBezTo>
                    <a:pt x="0" y="129032"/>
                    <a:pt x="128397" y="0"/>
                    <a:pt x="287020" y="0"/>
                  </a:cubicBezTo>
                  <a:lnTo>
                    <a:pt x="2847340" y="0"/>
                  </a:lnTo>
                  <a:lnTo>
                    <a:pt x="2847340" y="12700"/>
                  </a:lnTo>
                  <a:lnTo>
                    <a:pt x="2847340" y="0"/>
                  </a:lnTo>
                  <a:cubicBezTo>
                    <a:pt x="3005963" y="0"/>
                    <a:pt x="3134360" y="129032"/>
                    <a:pt x="3134360" y="288163"/>
                  </a:cubicBezTo>
                  <a:lnTo>
                    <a:pt x="3134360" y="6138037"/>
                  </a:lnTo>
                  <a:lnTo>
                    <a:pt x="3121660" y="6138037"/>
                  </a:lnTo>
                  <a:lnTo>
                    <a:pt x="3134360" y="6138037"/>
                  </a:lnTo>
                  <a:cubicBezTo>
                    <a:pt x="3134360" y="6297168"/>
                    <a:pt x="3005963" y="6426200"/>
                    <a:pt x="2847340" y="6426200"/>
                  </a:cubicBezTo>
                  <a:lnTo>
                    <a:pt x="2847340" y="6413500"/>
                  </a:lnTo>
                  <a:lnTo>
                    <a:pt x="2847340" y="6426200"/>
                  </a:lnTo>
                  <a:lnTo>
                    <a:pt x="287020" y="6426200"/>
                  </a:lnTo>
                  <a:lnTo>
                    <a:pt x="287020" y="6413500"/>
                  </a:lnTo>
                  <a:lnTo>
                    <a:pt x="287020" y="6426200"/>
                  </a:lnTo>
                  <a:cubicBezTo>
                    <a:pt x="128397" y="6426200"/>
                    <a:pt x="0" y="6297168"/>
                    <a:pt x="0" y="6138037"/>
                  </a:cubicBezTo>
                  <a:lnTo>
                    <a:pt x="0" y="288163"/>
                  </a:lnTo>
                  <a:lnTo>
                    <a:pt x="12700" y="288163"/>
                  </a:lnTo>
                  <a:lnTo>
                    <a:pt x="0" y="288163"/>
                  </a:lnTo>
                  <a:moveTo>
                    <a:pt x="25400" y="288163"/>
                  </a:moveTo>
                  <a:lnTo>
                    <a:pt x="25400" y="6138037"/>
                  </a:lnTo>
                  <a:lnTo>
                    <a:pt x="12700" y="6138037"/>
                  </a:lnTo>
                  <a:lnTo>
                    <a:pt x="25400" y="6138037"/>
                  </a:lnTo>
                  <a:cubicBezTo>
                    <a:pt x="25400" y="6283198"/>
                    <a:pt x="142621" y="6400800"/>
                    <a:pt x="287020" y="6400800"/>
                  </a:cubicBezTo>
                  <a:lnTo>
                    <a:pt x="2847340" y="6400800"/>
                  </a:lnTo>
                  <a:cubicBezTo>
                    <a:pt x="2991739" y="6400800"/>
                    <a:pt x="3108960" y="6283198"/>
                    <a:pt x="3108960" y="6138037"/>
                  </a:cubicBezTo>
                  <a:lnTo>
                    <a:pt x="3108960" y="288163"/>
                  </a:lnTo>
                  <a:lnTo>
                    <a:pt x="3121660" y="288163"/>
                  </a:lnTo>
                  <a:lnTo>
                    <a:pt x="3108960" y="288163"/>
                  </a:lnTo>
                  <a:cubicBezTo>
                    <a:pt x="3108960" y="143002"/>
                    <a:pt x="2991739" y="25400"/>
                    <a:pt x="2847340" y="25400"/>
                  </a:cubicBezTo>
                  <a:lnTo>
                    <a:pt x="287020" y="25400"/>
                  </a:lnTo>
                  <a:lnTo>
                    <a:pt x="287020" y="12700"/>
                  </a:lnTo>
                  <a:lnTo>
                    <a:pt x="287020" y="25400"/>
                  </a:lnTo>
                  <a:cubicBezTo>
                    <a:pt x="142621" y="25400"/>
                    <a:pt x="25400" y="143002"/>
                    <a:pt x="25400" y="288163"/>
                  </a:cubicBezTo>
                  <a:close/>
                </a:path>
              </a:pathLst>
            </a:custGeom>
            <a:solidFill>
              <a:srgbClr val="1E3048"/>
            </a:solidFill>
          </p:spPr>
        </p:sp>
      </p:grpSp>
      <p:grpSp>
        <p:nvGrpSpPr>
          <p:cNvPr name="Group 32" id="32"/>
          <p:cNvGrpSpPr/>
          <p:nvPr/>
        </p:nvGrpSpPr>
        <p:grpSpPr>
          <a:xfrm rot="0">
            <a:off x="7206812" y="3382818"/>
            <a:ext cx="2833274" cy="833316"/>
            <a:chOff x="0" y="0"/>
            <a:chExt cx="3108960" cy="914400"/>
          </a:xfrm>
        </p:grpSpPr>
        <p:sp>
          <p:nvSpPr>
            <p:cNvPr name="Freeform 33" id="33"/>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34" id="34"/>
            <p:cNvSpPr txBox="true"/>
            <p:nvPr/>
          </p:nvSpPr>
          <p:spPr>
            <a:xfrm>
              <a:off x="0" y="-19050"/>
              <a:ext cx="3108960" cy="93345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Laboratories</a:t>
              </a:r>
            </a:p>
          </p:txBody>
        </p:sp>
      </p:grpSp>
      <p:grpSp>
        <p:nvGrpSpPr>
          <p:cNvPr name="Group 35" id="35"/>
          <p:cNvGrpSpPr/>
          <p:nvPr/>
        </p:nvGrpSpPr>
        <p:grpSpPr>
          <a:xfrm rot="0">
            <a:off x="7206812" y="4549460"/>
            <a:ext cx="2833274" cy="999979"/>
            <a:chOff x="0" y="0"/>
            <a:chExt cx="3108960" cy="1097280"/>
          </a:xfrm>
        </p:grpSpPr>
        <p:sp>
          <p:nvSpPr>
            <p:cNvPr name="Freeform 36" id="36"/>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3">
                <a:alphaModFix amt="0"/>
              </a:blip>
              <a:stretch>
                <a:fillRect l="0" t="-5207" r="0" b="-5207"/>
              </a:stretch>
            </a:blipFill>
          </p:spPr>
        </p:sp>
        <p:sp>
          <p:nvSpPr>
            <p:cNvPr name="TextBox 37" id="37"/>
            <p:cNvSpPr txBox="true"/>
            <p:nvPr/>
          </p:nvSpPr>
          <p:spPr>
            <a:xfrm>
              <a:off x="0" y="-19050"/>
              <a:ext cx="3108960" cy="1116330"/>
            </a:xfrm>
            <a:prstGeom prst="rect">
              <a:avLst/>
            </a:prstGeom>
          </p:spPr>
          <p:txBody>
            <a:bodyPr anchor="ctr" rtlCol="false" tIns="0" lIns="0" bIns="0" rIns="0"/>
            <a:lstStyle/>
            <a:p>
              <a:pPr algn="ctr">
                <a:lnSpc>
                  <a:spcPts val="2160"/>
                </a:lnSpc>
              </a:pPr>
              <a:r>
                <a:rPr lang="en-US" sz="1800" b="true">
                  <a:solidFill>
                    <a:srgbClr val="06B6D4"/>
                  </a:solidFill>
                  <a:latin typeface="Arial Bold"/>
                  <a:ea typeface="Arial Bold"/>
                  <a:cs typeface="Arial Bold"/>
                  <a:sym typeface="Arial Bold"/>
                </a:rPr>
                <a:t>Subscription</a:t>
              </a:r>
            </a:p>
          </p:txBody>
        </p:sp>
      </p:grpSp>
      <p:grpSp>
        <p:nvGrpSpPr>
          <p:cNvPr name="Group 38" id="38"/>
          <p:cNvGrpSpPr/>
          <p:nvPr/>
        </p:nvGrpSpPr>
        <p:grpSpPr>
          <a:xfrm rot="0">
            <a:off x="7206812" y="5716102"/>
            <a:ext cx="2833274" cy="833316"/>
            <a:chOff x="0" y="0"/>
            <a:chExt cx="3108960" cy="914400"/>
          </a:xfrm>
        </p:grpSpPr>
        <p:sp>
          <p:nvSpPr>
            <p:cNvPr name="Freeform 39" id="39"/>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40" id="40"/>
            <p:cNvSpPr txBox="true"/>
            <p:nvPr/>
          </p:nvSpPr>
          <p:spPr>
            <a:xfrm>
              <a:off x="0" y="-19050"/>
              <a:ext cx="3108960" cy="933450"/>
            </a:xfrm>
            <a:prstGeom prst="rect">
              <a:avLst/>
            </a:prstGeom>
          </p:spPr>
          <p:txBody>
            <a:bodyPr anchor="ctr" rtlCol="false" tIns="0" lIns="0" bIns="0" rIns="0"/>
            <a:lstStyle/>
            <a:p>
              <a:pPr algn="ctr">
                <a:lnSpc>
                  <a:spcPts val="1980"/>
                </a:lnSpc>
              </a:pPr>
              <a:r>
                <a:rPr lang="en-US" sz="1650">
                  <a:solidFill>
                    <a:srgbClr val="94A3B8"/>
                  </a:solidFill>
                  <a:latin typeface="Arial"/>
                  <a:ea typeface="Arial"/>
                  <a:cs typeface="Arial"/>
                  <a:sym typeface="Arial"/>
                </a:rPr>
                <a:t>7% booking commission</a:t>
              </a:r>
            </a:p>
          </p:txBody>
        </p:sp>
      </p:grpSp>
      <p:grpSp>
        <p:nvGrpSpPr>
          <p:cNvPr name="Group 41" id="41"/>
          <p:cNvGrpSpPr/>
          <p:nvPr/>
        </p:nvGrpSpPr>
        <p:grpSpPr>
          <a:xfrm rot="0">
            <a:off x="10278507" y="2537928"/>
            <a:ext cx="2856422" cy="5856359"/>
            <a:chOff x="0" y="0"/>
            <a:chExt cx="3134360" cy="6426200"/>
          </a:xfrm>
        </p:grpSpPr>
        <p:sp>
          <p:nvSpPr>
            <p:cNvPr name="Freeform 42" id="42"/>
            <p:cNvSpPr/>
            <p:nvPr/>
          </p:nvSpPr>
          <p:spPr>
            <a:xfrm flipH="false" flipV="false" rot="0">
              <a:off x="12700" y="12700"/>
              <a:ext cx="3108960" cy="6400800"/>
            </a:xfrm>
            <a:custGeom>
              <a:avLst/>
              <a:gdLst/>
              <a:ahLst/>
              <a:cxnLst/>
              <a:rect r="r" b="b" t="t" l="l"/>
              <a:pathLst>
                <a:path h="6400800" w="3108960">
                  <a:moveTo>
                    <a:pt x="0" y="275463"/>
                  </a:moveTo>
                  <a:cubicBezTo>
                    <a:pt x="0" y="123317"/>
                    <a:pt x="122809" y="0"/>
                    <a:pt x="274320" y="0"/>
                  </a:cubicBezTo>
                  <a:lnTo>
                    <a:pt x="2834640" y="0"/>
                  </a:lnTo>
                  <a:cubicBezTo>
                    <a:pt x="2986151" y="0"/>
                    <a:pt x="3108960" y="123317"/>
                    <a:pt x="3108960" y="275463"/>
                  </a:cubicBezTo>
                  <a:lnTo>
                    <a:pt x="3108960" y="6125337"/>
                  </a:lnTo>
                  <a:cubicBezTo>
                    <a:pt x="3108960" y="6277483"/>
                    <a:pt x="2986151" y="6400800"/>
                    <a:pt x="2834640" y="6400800"/>
                  </a:cubicBezTo>
                  <a:lnTo>
                    <a:pt x="274320" y="6400800"/>
                  </a:lnTo>
                  <a:cubicBezTo>
                    <a:pt x="122809" y="6400800"/>
                    <a:pt x="0" y="6277483"/>
                    <a:pt x="0" y="6125337"/>
                  </a:cubicBezTo>
                  <a:close/>
                </a:path>
              </a:pathLst>
            </a:custGeom>
            <a:solidFill>
              <a:srgbClr val="111D32"/>
            </a:solidFill>
          </p:spPr>
        </p:sp>
        <p:sp>
          <p:nvSpPr>
            <p:cNvPr name="Freeform 43" id="43"/>
            <p:cNvSpPr/>
            <p:nvPr/>
          </p:nvSpPr>
          <p:spPr>
            <a:xfrm flipH="false" flipV="false" rot="0">
              <a:off x="0" y="0"/>
              <a:ext cx="3134360" cy="6426200"/>
            </a:xfrm>
            <a:custGeom>
              <a:avLst/>
              <a:gdLst/>
              <a:ahLst/>
              <a:cxnLst/>
              <a:rect r="r" b="b" t="t" l="l"/>
              <a:pathLst>
                <a:path h="6426200" w="3134360">
                  <a:moveTo>
                    <a:pt x="0" y="288163"/>
                  </a:moveTo>
                  <a:cubicBezTo>
                    <a:pt x="0" y="129032"/>
                    <a:pt x="128397" y="0"/>
                    <a:pt x="287020" y="0"/>
                  </a:cubicBezTo>
                  <a:lnTo>
                    <a:pt x="2847340" y="0"/>
                  </a:lnTo>
                  <a:lnTo>
                    <a:pt x="2847340" y="12700"/>
                  </a:lnTo>
                  <a:lnTo>
                    <a:pt x="2847340" y="0"/>
                  </a:lnTo>
                  <a:cubicBezTo>
                    <a:pt x="3005963" y="0"/>
                    <a:pt x="3134360" y="129032"/>
                    <a:pt x="3134360" y="288163"/>
                  </a:cubicBezTo>
                  <a:lnTo>
                    <a:pt x="3134360" y="6138037"/>
                  </a:lnTo>
                  <a:lnTo>
                    <a:pt x="3121660" y="6138037"/>
                  </a:lnTo>
                  <a:lnTo>
                    <a:pt x="3134360" y="6138037"/>
                  </a:lnTo>
                  <a:cubicBezTo>
                    <a:pt x="3134360" y="6297168"/>
                    <a:pt x="3005963" y="6426200"/>
                    <a:pt x="2847340" y="6426200"/>
                  </a:cubicBezTo>
                  <a:lnTo>
                    <a:pt x="2847340" y="6413500"/>
                  </a:lnTo>
                  <a:lnTo>
                    <a:pt x="2847340" y="6426200"/>
                  </a:lnTo>
                  <a:lnTo>
                    <a:pt x="287020" y="6426200"/>
                  </a:lnTo>
                  <a:lnTo>
                    <a:pt x="287020" y="6413500"/>
                  </a:lnTo>
                  <a:lnTo>
                    <a:pt x="287020" y="6426200"/>
                  </a:lnTo>
                  <a:cubicBezTo>
                    <a:pt x="128397" y="6426200"/>
                    <a:pt x="0" y="6297168"/>
                    <a:pt x="0" y="6138037"/>
                  </a:cubicBezTo>
                  <a:lnTo>
                    <a:pt x="0" y="288163"/>
                  </a:lnTo>
                  <a:lnTo>
                    <a:pt x="12700" y="288163"/>
                  </a:lnTo>
                  <a:lnTo>
                    <a:pt x="0" y="288163"/>
                  </a:lnTo>
                  <a:moveTo>
                    <a:pt x="25400" y="288163"/>
                  </a:moveTo>
                  <a:lnTo>
                    <a:pt x="25400" y="6138037"/>
                  </a:lnTo>
                  <a:lnTo>
                    <a:pt x="12700" y="6138037"/>
                  </a:lnTo>
                  <a:lnTo>
                    <a:pt x="25400" y="6138037"/>
                  </a:lnTo>
                  <a:cubicBezTo>
                    <a:pt x="25400" y="6283198"/>
                    <a:pt x="142621" y="6400800"/>
                    <a:pt x="287020" y="6400800"/>
                  </a:cubicBezTo>
                  <a:lnTo>
                    <a:pt x="2847340" y="6400800"/>
                  </a:lnTo>
                  <a:cubicBezTo>
                    <a:pt x="2991739" y="6400800"/>
                    <a:pt x="3108960" y="6283198"/>
                    <a:pt x="3108960" y="6138037"/>
                  </a:cubicBezTo>
                  <a:lnTo>
                    <a:pt x="3108960" y="288163"/>
                  </a:lnTo>
                  <a:lnTo>
                    <a:pt x="3121660" y="288163"/>
                  </a:lnTo>
                  <a:lnTo>
                    <a:pt x="3108960" y="288163"/>
                  </a:lnTo>
                  <a:cubicBezTo>
                    <a:pt x="3108960" y="143002"/>
                    <a:pt x="2991739" y="25400"/>
                    <a:pt x="2847340" y="25400"/>
                  </a:cubicBezTo>
                  <a:lnTo>
                    <a:pt x="287020" y="25400"/>
                  </a:lnTo>
                  <a:lnTo>
                    <a:pt x="287020" y="12700"/>
                  </a:lnTo>
                  <a:lnTo>
                    <a:pt x="287020" y="25400"/>
                  </a:lnTo>
                  <a:cubicBezTo>
                    <a:pt x="142621" y="25400"/>
                    <a:pt x="25400" y="143002"/>
                    <a:pt x="25400" y="288163"/>
                  </a:cubicBezTo>
                  <a:close/>
                </a:path>
              </a:pathLst>
            </a:custGeom>
            <a:solidFill>
              <a:srgbClr val="1E3048"/>
            </a:solidFill>
          </p:spPr>
        </p:sp>
      </p:grpSp>
      <p:grpSp>
        <p:nvGrpSpPr>
          <p:cNvPr name="Group 44" id="44"/>
          <p:cNvGrpSpPr/>
          <p:nvPr/>
        </p:nvGrpSpPr>
        <p:grpSpPr>
          <a:xfrm rot="0">
            <a:off x="10290080" y="3382818"/>
            <a:ext cx="2833274" cy="833316"/>
            <a:chOff x="0" y="0"/>
            <a:chExt cx="3108960" cy="914400"/>
          </a:xfrm>
        </p:grpSpPr>
        <p:sp>
          <p:nvSpPr>
            <p:cNvPr name="Freeform 45" id="45"/>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46" id="46"/>
            <p:cNvSpPr txBox="true"/>
            <p:nvPr/>
          </p:nvSpPr>
          <p:spPr>
            <a:xfrm>
              <a:off x="0" y="-19050"/>
              <a:ext cx="3108960" cy="93345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Corporate</a:t>
              </a:r>
            </a:p>
          </p:txBody>
        </p:sp>
      </p:grpSp>
      <p:grpSp>
        <p:nvGrpSpPr>
          <p:cNvPr name="Group 47" id="47"/>
          <p:cNvGrpSpPr/>
          <p:nvPr/>
        </p:nvGrpSpPr>
        <p:grpSpPr>
          <a:xfrm rot="0">
            <a:off x="10290080" y="4549460"/>
            <a:ext cx="2833274" cy="999979"/>
            <a:chOff x="0" y="0"/>
            <a:chExt cx="3108960" cy="1097280"/>
          </a:xfrm>
        </p:grpSpPr>
        <p:sp>
          <p:nvSpPr>
            <p:cNvPr name="Freeform 48" id="48"/>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3">
                <a:alphaModFix amt="0"/>
              </a:blip>
              <a:stretch>
                <a:fillRect l="0" t="-5207" r="0" b="-5207"/>
              </a:stretch>
            </a:blipFill>
          </p:spPr>
        </p:sp>
        <p:sp>
          <p:nvSpPr>
            <p:cNvPr name="TextBox 49" id="49"/>
            <p:cNvSpPr txBox="true"/>
            <p:nvPr/>
          </p:nvSpPr>
          <p:spPr>
            <a:xfrm>
              <a:off x="0" y="-19050"/>
              <a:ext cx="3108960" cy="1116330"/>
            </a:xfrm>
            <a:prstGeom prst="rect">
              <a:avLst/>
            </a:prstGeom>
          </p:spPr>
          <p:txBody>
            <a:bodyPr anchor="ctr" rtlCol="false" tIns="0" lIns="0" bIns="0" rIns="0"/>
            <a:lstStyle/>
            <a:p>
              <a:pPr algn="ctr">
                <a:lnSpc>
                  <a:spcPts val="2160"/>
                </a:lnSpc>
              </a:pPr>
              <a:r>
                <a:rPr lang="en-US" sz="1800" b="true">
                  <a:solidFill>
                    <a:srgbClr val="06B6D4"/>
                  </a:solidFill>
                  <a:latin typeface="Arial Bold"/>
                  <a:ea typeface="Arial Bold"/>
                  <a:cs typeface="Arial Bold"/>
                  <a:sym typeface="Arial Bold"/>
                </a:rPr>
                <a:t>50 EGP/employee/month</a:t>
              </a:r>
            </a:p>
          </p:txBody>
        </p:sp>
      </p:grpSp>
      <p:grpSp>
        <p:nvGrpSpPr>
          <p:cNvPr name="Group 50" id="50"/>
          <p:cNvGrpSpPr/>
          <p:nvPr/>
        </p:nvGrpSpPr>
        <p:grpSpPr>
          <a:xfrm rot="0">
            <a:off x="10290080" y="5716102"/>
            <a:ext cx="2833274" cy="833316"/>
            <a:chOff x="0" y="0"/>
            <a:chExt cx="3108960" cy="914400"/>
          </a:xfrm>
        </p:grpSpPr>
        <p:sp>
          <p:nvSpPr>
            <p:cNvPr name="Freeform 51" id="51"/>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52" id="52"/>
            <p:cNvSpPr txBox="true"/>
            <p:nvPr/>
          </p:nvSpPr>
          <p:spPr>
            <a:xfrm>
              <a:off x="0" y="-19050"/>
              <a:ext cx="3108960" cy="933450"/>
            </a:xfrm>
            <a:prstGeom prst="rect">
              <a:avLst/>
            </a:prstGeom>
          </p:spPr>
          <p:txBody>
            <a:bodyPr anchor="ctr" rtlCol="false" tIns="0" lIns="0" bIns="0" rIns="0"/>
            <a:lstStyle/>
            <a:p>
              <a:pPr algn="ctr">
                <a:lnSpc>
                  <a:spcPts val="1980"/>
                </a:lnSpc>
              </a:pPr>
              <a:r>
                <a:rPr lang="en-US" sz="1650">
                  <a:solidFill>
                    <a:srgbClr val="94A3B8"/>
                  </a:solidFill>
                  <a:latin typeface="Arial"/>
                  <a:ea typeface="Arial"/>
                  <a:cs typeface="Arial"/>
                  <a:sym typeface="Arial"/>
                </a:rPr>
                <a:t>Package deals</a:t>
              </a:r>
            </a:p>
          </p:txBody>
        </p:sp>
      </p:grpSp>
      <p:grpSp>
        <p:nvGrpSpPr>
          <p:cNvPr name="Group 53" id="53"/>
          <p:cNvGrpSpPr/>
          <p:nvPr/>
        </p:nvGrpSpPr>
        <p:grpSpPr>
          <a:xfrm rot="0">
            <a:off x="13361775" y="2537928"/>
            <a:ext cx="2856422" cy="5856359"/>
            <a:chOff x="0" y="0"/>
            <a:chExt cx="3134360" cy="6426200"/>
          </a:xfrm>
        </p:grpSpPr>
        <p:sp>
          <p:nvSpPr>
            <p:cNvPr name="Freeform 54" id="54"/>
            <p:cNvSpPr/>
            <p:nvPr/>
          </p:nvSpPr>
          <p:spPr>
            <a:xfrm flipH="false" flipV="false" rot="0">
              <a:off x="12700" y="12700"/>
              <a:ext cx="3108960" cy="6400800"/>
            </a:xfrm>
            <a:custGeom>
              <a:avLst/>
              <a:gdLst/>
              <a:ahLst/>
              <a:cxnLst/>
              <a:rect r="r" b="b" t="t" l="l"/>
              <a:pathLst>
                <a:path h="6400800" w="3108960">
                  <a:moveTo>
                    <a:pt x="0" y="275463"/>
                  </a:moveTo>
                  <a:cubicBezTo>
                    <a:pt x="0" y="123317"/>
                    <a:pt x="122809" y="0"/>
                    <a:pt x="274320" y="0"/>
                  </a:cubicBezTo>
                  <a:lnTo>
                    <a:pt x="2834640" y="0"/>
                  </a:lnTo>
                  <a:cubicBezTo>
                    <a:pt x="2986151" y="0"/>
                    <a:pt x="3108960" y="123317"/>
                    <a:pt x="3108960" y="275463"/>
                  </a:cubicBezTo>
                  <a:lnTo>
                    <a:pt x="3108960" y="6125337"/>
                  </a:lnTo>
                  <a:cubicBezTo>
                    <a:pt x="3108960" y="6277483"/>
                    <a:pt x="2986151" y="6400800"/>
                    <a:pt x="2834640" y="6400800"/>
                  </a:cubicBezTo>
                  <a:lnTo>
                    <a:pt x="274320" y="6400800"/>
                  </a:lnTo>
                  <a:cubicBezTo>
                    <a:pt x="122809" y="6400800"/>
                    <a:pt x="0" y="6277483"/>
                    <a:pt x="0" y="6125337"/>
                  </a:cubicBezTo>
                  <a:close/>
                </a:path>
              </a:pathLst>
            </a:custGeom>
            <a:solidFill>
              <a:srgbClr val="111D32"/>
            </a:solidFill>
          </p:spPr>
        </p:sp>
        <p:sp>
          <p:nvSpPr>
            <p:cNvPr name="Freeform 55" id="55"/>
            <p:cNvSpPr/>
            <p:nvPr/>
          </p:nvSpPr>
          <p:spPr>
            <a:xfrm flipH="false" flipV="false" rot="0">
              <a:off x="0" y="0"/>
              <a:ext cx="3134360" cy="6426200"/>
            </a:xfrm>
            <a:custGeom>
              <a:avLst/>
              <a:gdLst/>
              <a:ahLst/>
              <a:cxnLst/>
              <a:rect r="r" b="b" t="t" l="l"/>
              <a:pathLst>
                <a:path h="6426200" w="3134360">
                  <a:moveTo>
                    <a:pt x="0" y="288163"/>
                  </a:moveTo>
                  <a:cubicBezTo>
                    <a:pt x="0" y="129032"/>
                    <a:pt x="128397" y="0"/>
                    <a:pt x="287020" y="0"/>
                  </a:cubicBezTo>
                  <a:lnTo>
                    <a:pt x="2847340" y="0"/>
                  </a:lnTo>
                  <a:lnTo>
                    <a:pt x="2847340" y="12700"/>
                  </a:lnTo>
                  <a:lnTo>
                    <a:pt x="2847340" y="0"/>
                  </a:lnTo>
                  <a:cubicBezTo>
                    <a:pt x="3005963" y="0"/>
                    <a:pt x="3134360" y="129032"/>
                    <a:pt x="3134360" y="288163"/>
                  </a:cubicBezTo>
                  <a:lnTo>
                    <a:pt x="3134360" y="6138037"/>
                  </a:lnTo>
                  <a:lnTo>
                    <a:pt x="3121660" y="6138037"/>
                  </a:lnTo>
                  <a:lnTo>
                    <a:pt x="3134360" y="6138037"/>
                  </a:lnTo>
                  <a:cubicBezTo>
                    <a:pt x="3134360" y="6297168"/>
                    <a:pt x="3005963" y="6426200"/>
                    <a:pt x="2847340" y="6426200"/>
                  </a:cubicBezTo>
                  <a:lnTo>
                    <a:pt x="2847340" y="6413500"/>
                  </a:lnTo>
                  <a:lnTo>
                    <a:pt x="2847340" y="6426200"/>
                  </a:lnTo>
                  <a:lnTo>
                    <a:pt x="287020" y="6426200"/>
                  </a:lnTo>
                  <a:lnTo>
                    <a:pt x="287020" y="6413500"/>
                  </a:lnTo>
                  <a:lnTo>
                    <a:pt x="287020" y="6426200"/>
                  </a:lnTo>
                  <a:cubicBezTo>
                    <a:pt x="128397" y="6426200"/>
                    <a:pt x="0" y="6297168"/>
                    <a:pt x="0" y="6138037"/>
                  </a:cubicBezTo>
                  <a:lnTo>
                    <a:pt x="0" y="288163"/>
                  </a:lnTo>
                  <a:lnTo>
                    <a:pt x="12700" y="288163"/>
                  </a:lnTo>
                  <a:lnTo>
                    <a:pt x="0" y="288163"/>
                  </a:lnTo>
                  <a:moveTo>
                    <a:pt x="25400" y="288163"/>
                  </a:moveTo>
                  <a:lnTo>
                    <a:pt x="25400" y="6138037"/>
                  </a:lnTo>
                  <a:lnTo>
                    <a:pt x="12700" y="6138037"/>
                  </a:lnTo>
                  <a:lnTo>
                    <a:pt x="25400" y="6138037"/>
                  </a:lnTo>
                  <a:cubicBezTo>
                    <a:pt x="25400" y="6283198"/>
                    <a:pt x="142621" y="6400800"/>
                    <a:pt x="287020" y="6400800"/>
                  </a:cubicBezTo>
                  <a:lnTo>
                    <a:pt x="2847340" y="6400800"/>
                  </a:lnTo>
                  <a:cubicBezTo>
                    <a:pt x="2991739" y="6400800"/>
                    <a:pt x="3108960" y="6283198"/>
                    <a:pt x="3108960" y="6138037"/>
                  </a:cubicBezTo>
                  <a:lnTo>
                    <a:pt x="3108960" y="288163"/>
                  </a:lnTo>
                  <a:lnTo>
                    <a:pt x="3121660" y="288163"/>
                  </a:lnTo>
                  <a:lnTo>
                    <a:pt x="3108960" y="288163"/>
                  </a:lnTo>
                  <a:cubicBezTo>
                    <a:pt x="3108960" y="143002"/>
                    <a:pt x="2991739" y="25400"/>
                    <a:pt x="2847340" y="25400"/>
                  </a:cubicBezTo>
                  <a:lnTo>
                    <a:pt x="287020" y="25400"/>
                  </a:lnTo>
                  <a:lnTo>
                    <a:pt x="287020" y="12700"/>
                  </a:lnTo>
                  <a:lnTo>
                    <a:pt x="287020" y="25400"/>
                  </a:lnTo>
                  <a:cubicBezTo>
                    <a:pt x="142621" y="25400"/>
                    <a:pt x="25400" y="143002"/>
                    <a:pt x="25400" y="288163"/>
                  </a:cubicBezTo>
                  <a:close/>
                </a:path>
              </a:pathLst>
            </a:custGeom>
            <a:solidFill>
              <a:srgbClr val="1E3048"/>
            </a:solidFill>
          </p:spPr>
        </p:sp>
      </p:grpSp>
      <p:grpSp>
        <p:nvGrpSpPr>
          <p:cNvPr name="Group 56" id="56"/>
          <p:cNvGrpSpPr/>
          <p:nvPr/>
        </p:nvGrpSpPr>
        <p:grpSpPr>
          <a:xfrm rot="0">
            <a:off x="13373349" y="3382818"/>
            <a:ext cx="2833274" cy="833316"/>
            <a:chOff x="0" y="0"/>
            <a:chExt cx="3108960" cy="914400"/>
          </a:xfrm>
        </p:grpSpPr>
        <p:sp>
          <p:nvSpPr>
            <p:cNvPr name="Freeform 57" id="57"/>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58" id="58"/>
            <p:cNvSpPr txBox="true"/>
            <p:nvPr/>
          </p:nvSpPr>
          <p:spPr>
            <a:xfrm>
              <a:off x="0" y="-19050"/>
              <a:ext cx="3108960" cy="933450"/>
            </a:xfrm>
            <a:prstGeom prst="rect">
              <a:avLst/>
            </a:prstGeom>
          </p:spPr>
          <p:txBody>
            <a:bodyPr anchor="ctr" rtlCol="false" tIns="0" lIns="0" bIns="0" rIns="0"/>
            <a:lstStyle/>
            <a:p>
              <a:pPr algn="ctr">
                <a:lnSpc>
                  <a:spcPts val="2700"/>
                </a:lnSpc>
              </a:pPr>
              <a:r>
                <a:rPr lang="en-US" sz="2250" b="true">
                  <a:solidFill>
                    <a:srgbClr val="E2E8F0"/>
                  </a:solidFill>
                  <a:latin typeface="Arial Bold"/>
                  <a:ea typeface="Arial Bold"/>
                  <a:cs typeface="Arial Bold"/>
                  <a:sym typeface="Arial Bold"/>
                </a:rPr>
                <a:t>Emergency</a:t>
              </a:r>
            </a:p>
          </p:txBody>
        </p:sp>
      </p:grpSp>
      <p:grpSp>
        <p:nvGrpSpPr>
          <p:cNvPr name="Group 59" id="59"/>
          <p:cNvGrpSpPr/>
          <p:nvPr/>
        </p:nvGrpSpPr>
        <p:grpSpPr>
          <a:xfrm rot="0">
            <a:off x="13373349" y="4549460"/>
            <a:ext cx="2833274" cy="999979"/>
            <a:chOff x="0" y="0"/>
            <a:chExt cx="3108960" cy="1097280"/>
          </a:xfrm>
        </p:grpSpPr>
        <p:sp>
          <p:nvSpPr>
            <p:cNvPr name="Freeform 60" id="60"/>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3">
                <a:alphaModFix amt="0"/>
              </a:blip>
              <a:stretch>
                <a:fillRect l="0" t="-5207" r="0" b="-5207"/>
              </a:stretch>
            </a:blipFill>
          </p:spPr>
        </p:sp>
        <p:sp>
          <p:nvSpPr>
            <p:cNvPr name="TextBox 61" id="61"/>
            <p:cNvSpPr txBox="true"/>
            <p:nvPr/>
          </p:nvSpPr>
          <p:spPr>
            <a:xfrm>
              <a:off x="0" y="-19050"/>
              <a:ext cx="3108960" cy="1116330"/>
            </a:xfrm>
            <a:prstGeom prst="rect">
              <a:avLst/>
            </a:prstGeom>
          </p:spPr>
          <p:txBody>
            <a:bodyPr anchor="ctr" rtlCol="false" tIns="0" lIns="0" bIns="0" rIns="0"/>
            <a:lstStyle/>
            <a:p>
              <a:pPr algn="ctr">
                <a:lnSpc>
                  <a:spcPts val="2160"/>
                </a:lnSpc>
              </a:pPr>
              <a:r>
                <a:rPr lang="en-US" sz="1800" b="true">
                  <a:solidFill>
                    <a:srgbClr val="06B6D4"/>
                  </a:solidFill>
                  <a:latin typeface="Arial Bold"/>
                  <a:ea typeface="Arial Bold"/>
                  <a:cs typeface="Arial Bold"/>
                  <a:sym typeface="Arial Bold"/>
                </a:rPr>
                <a:t>Per-use</a:t>
              </a:r>
            </a:p>
          </p:txBody>
        </p:sp>
      </p:grpSp>
      <p:grpSp>
        <p:nvGrpSpPr>
          <p:cNvPr name="Group 62" id="62"/>
          <p:cNvGrpSpPr/>
          <p:nvPr/>
        </p:nvGrpSpPr>
        <p:grpSpPr>
          <a:xfrm rot="0">
            <a:off x="13373349" y="5716102"/>
            <a:ext cx="2833274" cy="833316"/>
            <a:chOff x="0" y="0"/>
            <a:chExt cx="3108960" cy="914400"/>
          </a:xfrm>
        </p:grpSpPr>
        <p:sp>
          <p:nvSpPr>
            <p:cNvPr name="Freeform 63" id="63"/>
            <p:cNvSpPr/>
            <p:nvPr/>
          </p:nvSpPr>
          <p:spPr>
            <a:xfrm flipH="false" flipV="false" rot="0">
              <a:off x="0" y="0"/>
              <a:ext cx="3108960" cy="914400"/>
            </a:xfrm>
            <a:custGeom>
              <a:avLst/>
              <a:gdLst/>
              <a:ahLst/>
              <a:cxnLst/>
              <a:rect r="r" b="b" t="t" l="l"/>
              <a:pathLst>
                <a:path h="914400" w="3108960">
                  <a:moveTo>
                    <a:pt x="0" y="0"/>
                  </a:moveTo>
                  <a:lnTo>
                    <a:pt x="3108960" y="0"/>
                  </a:lnTo>
                  <a:lnTo>
                    <a:pt x="3108960" y="914400"/>
                  </a:lnTo>
                  <a:lnTo>
                    <a:pt x="0" y="914400"/>
                  </a:lnTo>
                  <a:close/>
                </a:path>
              </a:pathLst>
            </a:custGeom>
            <a:blipFill>
              <a:blip r:embed="rId3">
                <a:alphaModFix amt="0"/>
              </a:blip>
              <a:stretch>
                <a:fillRect l="0" t="-16249" r="0" b="-16249"/>
              </a:stretch>
            </a:blipFill>
          </p:spPr>
        </p:sp>
        <p:sp>
          <p:nvSpPr>
            <p:cNvPr name="TextBox 64" id="64"/>
            <p:cNvSpPr txBox="true"/>
            <p:nvPr/>
          </p:nvSpPr>
          <p:spPr>
            <a:xfrm>
              <a:off x="0" y="-19050"/>
              <a:ext cx="3108960" cy="933450"/>
            </a:xfrm>
            <a:prstGeom prst="rect">
              <a:avLst/>
            </a:prstGeom>
          </p:spPr>
          <p:txBody>
            <a:bodyPr anchor="ctr" rtlCol="false" tIns="0" lIns="0" bIns="0" rIns="0"/>
            <a:lstStyle/>
            <a:p>
              <a:pPr algn="ctr">
                <a:lnSpc>
                  <a:spcPts val="1980"/>
                </a:lnSpc>
              </a:pPr>
              <a:r>
                <a:rPr lang="en-US" sz="1650">
                  <a:solidFill>
                    <a:srgbClr val="94A3B8"/>
                  </a:solidFill>
                  <a:latin typeface="Arial"/>
                  <a:ea typeface="Arial"/>
                  <a:cs typeface="Arial"/>
                  <a:sym typeface="Arial"/>
                </a:rPr>
                <a:t>Service commission</a:t>
              </a:r>
            </a:p>
          </p:txBody>
        </p:sp>
      </p:grpSp>
      <p:sp>
        <p:nvSpPr>
          <p:cNvPr name="Freeform 65" id="65"/>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885539" y="1891052"/>
            <a:ext cx="9601200" cy="822960"/>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Year 1 Financial Projection</a:t>
              </a:r>
            </a:p>
          </p:txBody>
        </p:sp>
      </p:grpSp>
      <p:grpSp>
        <p:nvGrpSpPr>
          <p:cNvPr name="Group 5" id="5"/>
          <p:cNvGrpSpPr/>
          <p:nvPr/>
        </p:nvGrpSpPr>
        <p:grpSpPr>
          <a:xfrm rot="0">
            <a:off x="1345713" y="2895951"/>
            <a:ext cx="2654265" cy="737296"/>
            <a:chOff x="0" y="0"/>
            <a:chExt cx="3291840" cy="914400"/>
          </a:xfrm>
        </p:grpSpPr>
        <p:sp>
          <p:nvSpPr>
            <p:cNvPr name="Freeform 6" id="6"/>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7" id="7"/>
            <p:cNvSpPr txBox="true"/>
            <p:nvPr/>
          </p:nvSpPr>
          <p:spPr>
            <a:xfrm>
              <a:off x="0" y="-19050"/>
              <a:ext cx="3291840" cy="933450"/>
            </a:xfrm>
            <a:prstGeom prst="rect">
              <a:avLst/>
            </a:prstGeom>
          </p:spPr>
          <p:txBody>
            <a:bodyPr anchor="ctr" rtlCol="false" tIns="0" lIns="0" bIns="0" rIns="0"/>
            <a:lstStyle/>
            <a:p>
              <a:pPr algn="l">
                <a:lnSpc>
                  <a:spcPts val="2340"/>
                </a:lnSpc>
              </a:pPr>
              <a:r>
                <a:rPr lang="en-US" sz="1950" b="true">
                  <a:solidFill>
                    <a:srgbClr val="E2E8F0"/>
                  </a:solidFill>
                  <a:latin typeface="Arial Bold"/>
                  <a:ea typeface="Arial Bold"/>
                  <a:cs typeface="Arial Bold"/>
                  <a:sym typeface="Arial Bold"/>
                </a:rPr>
                <a:t>150 </a:t>
              </a:r>
              <a:r>
                <a:rPr lang="en-US" sz="1950" b="true">
                  <a:solidFill>
                    <a:srgbClr val="E2E8F0"/>
                  </a:solidFill>
                  <a:latin typeface="Arial Bold"/>
                  <a:ea typeface="Arial Bold"/>
                  <a:cs typeface="Arial Bold"/>
                  <a:sym typeface="Arial Bold"/>
                </a:rPr>
                <a:t>Doctors</a:t>
              </a:r>
            </a:p>
          </p:txBody>
        </p:sp>
      </p:grpSp>
      <p:grpSp>
        <p:nvGrpSpPr>
          <p:cNvPr name="Group 8" id="8"/>
          <p:cNvGrpSpPr/>
          <p:nvPr/>
        </p:nvGrpSpPr>
        <p:grpSpPr>
          <a:xfrm rot="0">
            <a:off x="3999978" y="2895951"/>
            <a:ext cx="2211888" cy="737296"/>
            <a:chOff x="0" y="0"/>
            <a:chExt cx="2743200" cy="914400"/>
          </a:xfrm>
        </p:grpSpPr>
        <p:sp>
          <p:nvSpPr>
            <p:cNvPr name="Freeform 9" id="9"/>
            <p:cNvSpPr/>
            <p:nvPr/>
          </p:nvSpPr>
          <p:spPr>
            <a:xfrm flipH="false" flipV="false" rot="0">
              <a:off x="0" y="0"/>
              <a:ext cx="2743200" cy="914400"/>
            </a:xfrm>
            <a:custGeom>
              <a:avLst/>
              <a:gdLst/>
              <a:ahLst/>
              <a:cxnLst/>
              <a:rect r="r" b="b" t="t" l="l"/>
              <a:pathLst>
                <a:path h="914400" w="2743200">
                  <a:moveTo>
                    <a:pt x="0" y="0"/>
                  </a:moveTo>
                  <a:lnTo>
                    <a:pt x="2743200" y="0"/>
                  </a:lnTo>
                  <a:lnTo>
                    <a:pt x="2743200" y="914400"/>
                  </a:lnTo>
                  <a:lnTo>
                    <a:pt x="0" y="914400"/>
                  </a:lnTo>
                  <a:close/>
                </a:path>
              </a:pathLst>
            </a:custGeom>
            <a:blipFill>
              <a:blip r:embed="rId3">
                <a:alphaModFix amt="0"/>
              </a:blip>
              <a:stretch>
                <a:fillRect l="0" t="-8455" r="0" b="-8455"/>
              </a:stretch>
            </a:blipFill>
          </p:spPr>
        </p:sp>
        <p:sp>
          <p:nvSpPr>
            <p:cNvPr name="TextBox 10" id="10"/>
            <p:cNvSpPr txBox="true"/>
            <p:nvPr/>
          </p:nvSpPr>
          <p:spPr>
            <a:xfrm>
              <a:off x="0" y="-19050"/>
              <a:ext cx="2743200" cy="93345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avg 1,500 EGP</a:t>
              </a:r>
            </a:p>
          </p:txBody>
        </p:sp>
      </p:grpSp>
      <p:grpSp>
        <p:nvGrpSpPr>
          <p:cNvPr name="Group 11" id="11"/>
          <p:cNvGrpSpPr/>
          <p:nvPr/>
        </p:nvGrpSpPr>
        <p:grpSpPr>
          <a:xfrm rot="0">
            <a:off x="6506784" y="2969681"/>
            <a:ext cx="5898367" cy="589837"/>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182880"/>
                  </a:moveTo>
                  <a:cubicBezTo>
                    <a:pt x="0" y="81915"/>
                    <a:pt x="81915" y="0"/>
                    <a:pt x="182880" y="0"/>
                  </a:cubicBezTo>
                  <a:lnTo>
                    <a:pt x="7132320" y="0"/>
                  </a:lnTo>
                  <a:cubicBezTo>
                    <a:pt x="7233285" y="0"/>
                    <a:pt x="7315200" y="81915"/>
                    <a:pt x="7315200" y="182880"/>
                  </a:cubicBezTo>
                  <a:lnTo>
                    <a:pt x="7315200" y="548640"/>
                  </a:lnTo>
                  <a:cubicBezTo>
                    <a:pt x="7315200" y="649605"/>
                    <a:pt x="7233285" y="731520"/>
                    <a:pt x="7132320" y="731520"/>
                  </a:cubicBezTo>
                  <a:lnTo>
                    <a:pt x="182880" y="731520"/>
                  </a:lnTo>
                  <a:cubicBezTo>
                    <a:pt x="81915" y="731520"/>
                    <a:pt x="0" y="649605"/>
                    <a:pt x="0" y="548640"/>
                  </a:cubicBezTo>
                  <a:close/>
                </a:path>
              </a:pathLst>
            </a:custGeom>
            <a:solidFill>
              <a:srgbClr val="1A2744"/>
            </a:solidFill>
          </p:spPr>
        </p:sp>
      </p:grpSp>
      <p:grpSp>
        <p:nvGrpSpPr>
          <p:cNvPr name="Group 13" id="13"/>
          <p:cNvGrpSpPr/>
          <p:nvPr/>
        </p:nvGrpSpPr>
        <p:grpSpPr>
          <a:xfrm rot="0">
            <a:off x="6506784" y="2969681"/>
            <a:ext cx="3303085" cy="589837"/>
            <a:chOff x="0" y="0"/>
            <a:chExt cx="4096512" cy="731520"/>
          </a:xfrm>
        </p:grpSpPr>
        <p:sp>
          <p:nvSpPr>
            <p:cNvPr name="Freeform 14" id="14"/>
            <p:cNvSpPr/>
            <p:nvPr/>
          </p:nvSpPr>
          <p:spPr>
            <a:xfrm flipH="false" flipV="false" rot="0">
              <a:off x="0" y="0"/>
              <a:ext cx="4096512" cy="731520"/>
            </a:xfrm>
            <a:custGeom>
              <a:avLst/>
              <a:gdLst/>
              <a:ahLst/>
              <a:cxnLst/>
              <a:rect r="r" b="b" t="t" l="l"/>
              <a:pathLst>
                <a:path h="731520" w="4096512">
                  <a:moveTo>
                    <a:pt x="0" y="182880"/>
                  </a:moveTo>
                  <a:cubicBezTo>
                    <a:pt x="0" y="81915"/>
                    <a:pt x="81915" y="0"/>
                    <a:pt x="182880" y="0"/>
                  </a:cubicBezTo>
                  <a:lnTo>
                    <a:pt x="3913632" y="0"/>
                  </a:lnTo>
                  <a:cubicBezTo>
                    <a:pt x="4014597" y="0"/>
                    <a:pt x="4096512" y="81915"/>
                    <a:pt x="4096512" y="182880"/>
                  </a:cubicBezTo>
                  <a:lnTo>
                    <a:pt x="4096512" y="548640"/>
                  </a:lnTo>
                  <a:cubicBezTo>
                    <a:pt x="4096512" y="649605"/>
                    <a:pt x="4014597" y="731520"/>
                    <a:pt x="3913632" y="731520"/>
                  </a:cubicBezTo>
                  <a:lnTo>
                    <a:pt x="182880" y="731520"/>
                  </a:lnTo>
                  <a:cubicBezTo>
                    <a:pt x="81915" y="731520"/>
                    <a:pt x="0" y="649605"/>
                    <a:pt x="0" y="548640"/>
                  </a:cubicBezTo>
                  <a:close/>
                </a:path>
              </a:pathLst>
            </a:custGeom>
            <a:solidFill>
              <a:srgbClr val="14B8A6"/>
            </a:solidFill>
          </p:spPr>
        </p:sp>
      </p:grpSp>
      <p:grpSp>
        <p:nvGrpSpPr>
          <p:cNvPr name="Group 15" id="15"/>
          <p:cNvGrpSpPr/>
          <p:nvPr/>
        </p:nvGrpSpPr>
        <p:grpSpPr>
          <a:xfrm rot="0">
            <a:off x="6506784" y="2969681"/>
            <a:ext cx="5898367" cy="589837"/>
            <a:chOff x="0" y="0"/>
            <a:chExt cx="7315200" cy="731520"/>
          </a:xfrm>
        </p:grpSpPr>
        <p:sp>
          <p:nvSpPr>
            <p:cNvPr name="Freeform 16" id="16"/>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7" id="17"/>
            <p:cNvSpPr txBox="true"/>
            <p:nvPr/>
          </p:nvSpPr>
          <p:spPr>
            <a:xfrm>
              <a:off x="0" y="-19050"/>
              <a:ext cx="7315200" cy="750570"/>
            </a:xfrm>
            <a:prstGeom prst="rect">
              <a:avLst/>
            </a:prstGeom>
          </p:spPr>
          <p:txBody>
            <a:bodyPr anchor="ctr" rtlCol="false" tIns="0" lIns="0" bIns="0" rIns="0"/>
            <a:lstStyle/>
            <a:p>
              <a:pPr algn="r">
                <a:lnSpc>
                  <a:spcPts val="2160"/>
                </a:lnSpc>
              </a:pPr>
              <a:r>
                <a:rPr lang="en-US" sz="1800" b="true">
                  <a:solidFill>
                    <a:srgbClr val="E2E8F0"/>
                  </a:solidFill>
                  <a:latin typeface="Arial Bold"/>
                  <a:ea typeface="Arial Bold"/>
                  <a:cs typeface="Arial Bold"/>
                  <a:sym typeface="Arial Bold"/>
                </a:rPr>
                <a:t>300,000 EGP/mo</a:t>
              </a:r>
            </a:p>
          </p:txBody>
        </p:sp>
      </p:grpSp>
      <p:grpSp>
        <p:nvGrpSpPr>
          <p:cNvPr name="Group 18" id="18"/>
          <p:cNvGrpSpPr/>
          <p:nvPr/>
        </p:nvGrpSpPr>
        <p:grpSpPr>
          <a:xfrm rot="0">
            <a:off x="1345713" y="4075625"/>
            <a:ext cx="2654265" cy="737296"/>
            <a:chOff x="0" y="0"/>
            <a:chExt cx="3291840" cy="914400"/>
          </a:xfrm>
        </p:grpSpPr>
        <p:sp>
          <p:nvSpPr>
            <p:cNvPr name="Freeform 19" id="19"/>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20" id="20"/>
            <p:cNvSpPr txBox="true"/>
            <p:nvPr/>
          </p:nvSpPr>
          <p:spPr>
            <a:xfrm>
              <a:off x="0" y="-19050"/>
              <a:ext cx="3291840" cy="933450"/>
            </a:xfrm>
            <a:prstGeom prst="rect">
              <a:avLst/>
            </a:prstGeom>
          </p:spPr>
          <p:txBody>
            <a:bodyPr anchor="ctr" rtlCol="false" tIns="0" lIns="0" bIns="0" rIns="0"/>
            <a:lstStyle/>
            <a:p>
              <a:pPr algn="l">
                <a:lnSpc>
                  <a:spcPts val="2340"/>
                </a:lnSpc>
              </a:pPr>
              <a:r>
                <a:rPr lang="en-US" sz="1950" b="true">
                  <a:solidFill>
                    <a:srgbClr val="E2E8F0"/>
                  </a:solidFill>
                  <a:latin typeface="Arial Bold"/>
                  <a:ea typeface="Arial Bold"/>
                  <a:cs typeface="Arial Bold"/>
                  <a:sym typeface="Arial Bold"/>
                </a:rPr>
                <a:t>100 </a:t>
              </a:r>
              <a:r>
                <a:rPr lang="en-US" sz="1950" b="true">
                  <a:solidFill>
                    <a:srgbClr val="E2E8F0"/>
                  </a:solidFill>
                  <a:latin typeface="Arial Bold"/>
                  <a:ea typeface="Arial Bold"/>
                  <a:cs typeface="Arial Bold"/>
                  <a:sym typeface="Arial Bold"/>
                </a:rPr>
                <a:t>Pharmacies</a:t>
              </a:r>
            </a:p>
          </p:txBody>
        </p:sp>
      </p:grpSp>
      <p:grpSp>
        <p:nvGrpSpPr>
          <p:cNvPr name="Group 21" id="21"/>
          <p:cNvGrpSpPr/>
          <p:nvPr/>
        </p:nvGrpSpPr>
        <p:grpSpPr>
          <a:xfrm rot="0">
            <a:off x="3999978" y="4075625"/>
            <a:ext cx="2211888" cy="737296"/>
            <a:chOff x="0" y="0"/>
            <a:chExt cx="2743200" cy="914400"/>
          </a:xfrm>
        </p:grpSpPr>
        <p:sp>
          <p:nvSpPr>
            <p:cNvPr name="Freeform 22" id="22"/>
            <p:cNvSpPr/>
            <p:nvPr/>
          </p:nvSpPr>
          <p:spPr>
            <a:xfrm flipH="false" flipV="false" rot="0">
              <a:off x="0" y="0"/>
              <a:ext cx="2743200" cy="914400"/>
            </a:xfrm>
            <a:custGeom>
              <a:avLst/>
              <a:gdLst/>
              <a:ahLst/>
              <a:cxnLst/>
              <a:rect r="r" b="b" t="t" l="l"/>
              <a:pathLst>
                <a:path h="914400" w="2743200">
                  <a:moveTo>
                    <a:pt x="0" y="0"/>
                  </a:moveTo>
                  <a:lnTo>
                    <a:pt x="2743200" y="0"/>
                  </a:lnTo>
                  <a:lnTo>
                    <a:pt x="2743200" y="914400"/>
                  </a:lnTo>
                  <a:lnTo>
                    <a:pt x="0" y="914400"/>
                  </a:lnTo>
                  <a:close/>
                </a:path>
              </a:pathLst>
            </a:custGeom>
            <a:blipFill>
              <a:blip r:embed="rId3">
                <a:alphaModFix amt="0"/>
              </a:blip>
              <a:stretch>
                <a:fillRect l="0" t="-8455" r="0" b="-8455"/>
              </a:stretch>
            </a:blipFill>
          </p:spPr>
        </p:sp>
        <p:sp>
          <p:nvSpPr>
            <p:cNvPr name="TextBox 23" id="23"/>
            <p:cNvSpPr txBox="true"/>
            <p:nvPr/>
          </p:nvSpPr>
          <p:spPr>
            <a:xfrm>
              <a:off x="0" y="-19050"/>
              <a:ext cx="2743200" cy="93345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avg 1,000 EGP</a:t>
              </a:r>
            </a:p>
          </p:txBody>
        </p:sp>
      </p:grpSp>
      <p:grpSp>
        <p:nvGrpSpPr>
          <p:cNvPr name="Group 24" id="24"/>
          <p:cNvGrpSpPr/>
          <p:nvPr/>
        </p:nvGrpSpPr>
        <p:grpSpPr>
          <a:xfrm rot="0">
            <a:off x="6506784" y="4149354"/>
            <a:ext cx="5898367" cy="589837"/>
            <a:chOff x="0" y="0"/>
            <a:chExt cx="7315200" cy="731520"/>
          </a:xfrm>
        </p:grpSpPr>
        <p:sp>
          <p:nvSpPr>
            <p:cNvPr name="Freeform 25" id="25"/>
            <p:cNvSpPr/>
            <p:nvPr/>
          </p:nvSpPr>
          <p:spPr>
            <a:xfrm flipH="false" flipV="false" rot="0">
              <a:off x="0" y="0"/>
              <a:ext cx="7315200" cy="731520"/>
            </a:xfrm>
            <a:custGeom>
              <a:avLst/>
              <a:gdLst/>
              <a:ahLst/>
              <a:cxnLst/>
              <a:rect r="r" b="b" t="t" l="l"/>
              <a:pathLst>
                <a:path h="731520" w="7315200">
                  <a:moveTo>
                    <a:pt x="0" y="182880"/>
                  </a:moveTo>
                  <a:cubicBezTo>
                    <a:pt x="0" y="81915"/>
                    <a:pt x="81915" y="0"/>
                    <a:pt x="182880" y="0"/>
                  </a:cubicBezTo>
                  <a:lnTo>
                    <a:pt x="7132320" y="0"/>
                  </a:lnTo>
                  <a:cubicBezTo>
                    <a:pt x="7233285" y="0"/>
                    <a:pt x="7315200" y="81915"/>
                    <a:pt x="7315200" y="182880"/>
                  </a:cubicBezTo>
                  <a:lnTo>
                    <a:pt x="7315200" y="548640"/>
                  </a:lnTo>
                  <a:cubicBezTo>
                    <a:pt x="7315200" y="649605"/>
                    <a:pt x="7233285" y="731520"/>
                    <a:pt x="7132320" y="731520"/>
                  </a:cubicBezTo>
                  <a:lnTo>
                    <a:pt x="182880" y="731520"/>
                  </a:lnTo>
                  <a:cubicBezTo>
                    <a:pt x="81915" y="731520"/>
                    <a:pt x="0" y="649605"/>
                    <a:pt x="0" y="548640"/>
                  </a:cubicBezTo>
                  <a:close/>
                </a:path>
              </a:pathLst>
            </a:custGeom>
            <a:solidFill>
              <a:srgbClr val="1A2744"/>
            </a:solidFill>
          </p:spPr>
        </p:sp>
      </p:grpSp>
      <p:grpSp>
        <p:nvGrpSpPr>
          <p:cNvPr name="Group 26" id="26"/>
          <p:cNvGrpSpPr/>
          <p:nvPr/>
        </p:nvGrpSpPr>
        <p:grpSpPr>
          <a:xfrm rot="0">
            <a:off x="6506784" y="4149354"/>
            <a:ext cx="1120690" cy="589837"/>
            <a:chOff x="0" y="0"/>
            <a:chExt cx="1389888" cy="731520"/>
          </a:xfrm>
        </p:grpSpPr>
        <p:sp>
          <p:nvSpPr>
            <p:cNvPr name="Freeform 27" id="27"/>
            <p:cNvSpPr/>
            <p:nvPr/>
          </p:nvSpPr>
          <p:spPr>
            <a:xfrm flipH="false" flipV="false" rot="0">
              <a:off x="0" y="0"/>
              <a:ext cx="1389888" cy="731520"/>
            </a:xfrm>
            <a:custGeom>
              <a:avLst/>
              <a:gdLst/>
              <a:ahLst/>
              <a:cxnLst/>
              <a:rect r="r" b="b" t="t" l="l"/>
              <a:pathLst>
                <a:path h="731520" w="1389888">
                  <a:moveTo>
                    <a:pt x="0" y="182880"/>
                  </a:moveTo>
                  <a:cubicBezTo>
                    <a:pt x="0" y="81915"/>
                    <a:pt x="81915" y="0"/>
                    <a:pt x="182880" y="0"/>
                  </a:cubicBezTo>
                  <a:lnTo>
                    <a:pt x="1207008" y="0"/>
                  </a:lnTo>
                  <a:cubicBezTo>
                    <a:pt x="1307973" y="0"/>
                    <a:pt x="1389888" y="81915"/>
                    <a:pt x="1389888" y="182880"/>
                  </a:cubicBezTo>
                  <a:lnTo>
                    <a:pt x="1389888" y="548640"/>
                  </a:lnTo>
                  <a:cubicBezTo>
                    <a:pt x="1389888" y="649605"/>
                    <a:pt x="1307973" y="731520"/>
                    <a:pt x="1207008" y="731520"/>
                  </a:cubicBezTo>
                  <a:lnTo>
                    <a:pt x="182880" y="731520"/>
                  </a:lnTo>
                  <a:cubicBezTo>
                    <a:pt x="81915" y="731520"/>
                    <a:pt x="0" y="649605"/>
                    <a:pt x="0" y="548640"/>
                  </a:cubicBezTo>
                  <a:close/>
                </a:path>
              </a:pathLst>
            </a:custGeom>
            <a:solidFill>
              <a:srgbClr val="14B8A6"/>
            </a:solidFill>
          </p:spPr>
        </p:sp>
      </p:grpSp>
      <p:grpSp>
        <p:nvGrpSpPr>
          <p:cNvPr name="Group 28" id="28"/>
          <p:cNvGrpSpPr/>
          <p:nvPr/>
        </p:nvGrpSpPr>
        <p:grpSpPr>
          <a:xfrm rot="0">
            <a:off x="6506784" y="4149354"/>
            <a:ext cx="5898367" cy="589837"/>
            <a:chOff x="0" y="0"/>
            <a:chExt cx="7315200" cy="731520"/>
          </a:xfrm>
        </p:grpSpPr>
        <p:sp>
          <p:nvSpPr>
            <p:cNvPr name="Freeform 29" id="29"/>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30" id="30"/>
            <p:cNvSpPr txBox="true"/>
            <p:nvPr/>
          </p:nvSpPr>
          <p:spPr>
            <a:xfrm>
              <a:off x="0" y="-19050"/>
              <a:ext cx="7315200" cy="750570"/>
            </a:xfrm>
            <a:prstGeom prst="rect">
              <a:avLst/>
            </a:prstGeom>
          </p:spPr>
          <p:txBody>
            <a:bodyPr anchor="ctr" rtlCol="false" tIns="0" lIns="0" bIns="0" rIns="0"/>
            <a:lstStyle/>
            <a:p>
              <a:pPr algn="r">
                <a:lnSpc>
                  <a:spcPts val="2160"/>
                </a:lnSpc>
              </a:pPr>
              <a:r>
                <a:rPr lang="en-US" sz="1800" b="true">
                  <a:solidFill>
                    <a:srgbClr val="E2E8F0"/>
                  </a:solidFill>
                  <a:latin typeface="Arial Bold"/>
                  <a:ea typeface="Arial Bold"/>
                  <a:cs typeface="Arial Bold"/>
                  <a:sym typeface="Arial Bold"/>
                </a:rPr>
                <a:t>100,000 EGP/mo</a:t>
              </a:r>
            </a:p>
          </p:txBody>
        </p:sp>
      </p:grpSp>
      <p:grpSp>
        <p:nvGrpSpPr>
          <p:cNvPr name="Group 31" id="31"/>
          <p:cNvGrpSpPr/>
          <p:nvPr/>
        </p:nvGrpSpPr>
        <p:grpSpPr>
          <a:xfrm rot="0">
            <a:off x="1345713" y="5255298"/>
            <a:ext cx="2654265" cy="737296"/>
            <a:chOff x="0" y="0"/>
            <a:chExt cx="3291840" cy="914400"/>
          </a:xfrm>
        </p:grpSpPr>
        <p:sp>
          <p:nvSpPr>
            <p:cNvPr name="Freeform 32" id="32"/>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33" id="33"/>
            <p:cNvSpPr txBox="true"/>
            <p:nvPr/>
          </p:nvSpPr>
          <p:spPr>
            <a:xfrm>
              <a:off x="0" y="-19050"/>
              <a:ext cx="3291840" cy="933450"/>
            </a:xfrm>
            <a:prstGeom prst="rect">
              <a:avLst/>
            </a:prstGeom>
          </p:spPr>
          <p:txBody>
            <a:bodyPr anchor="ctr" rtlCol="false" tIns="0" lIns="0" bIns="0" rIns="0"/>
            <a:lstStyle/>
            <a:p>
              <a:pPr algn="l">
                <a:lnSpc>
                  <a:spcPts val="2340"/>
                </a:lnSpc>
              </a:pPr>
              <a:r>
                <a:rPr lang="en-US" sz="1950" b="true">
                  <a:solidFill>
                    <a:srgbClr val="E2E8F0"/>
                  </a:solidFill>
                  <a:latin typeface="Arial Bold"/>
                  <a:ea typeface="Arial Bold"/>
                  <a:cs typeface="Arial Bold"/>
                  <a:sym typeface="Arial Bold"/>
                </a:rPr>
                <a:t>3</a:t>
              </a:r>
              <a:r>
                <a:rPr lang="en-US" sz="1950" b="true">
                  <a:solidFill>
                    <a:srgbClr val="E2E8F0"/>
                  </a:solidFill>
                  <a:latin typeface="Arial Bold"/>
                  <a:ea typeface="Arial Bold"/>
                  <a:cs typeface="Arial Bold"/>
                  <a:sym typeface="Arial Bold"/>
                </a:rPr>
                <a:t> Labs</a:t>
              </a:r>
            </a:p>
          </p:txBody>
        </p:sp>
      </p:grpSp>
      <p:grpSp>
        <p:nvGrpSpPr>
          <p:cNvPr name="Group 34" id="34"/>
          <p:cNvGrpSpPr/>
          <p:nvPr/>
        </p:nvGrpSpPr>
        <p:grpSpPr>
          <a:xfrm rot="0">
            <a:off x="3999978" y="5255298"/>
            <a:ext cx="2211888" cy="737296"/>
            <a:chOff x="0" y="0"/>
            <a:chExt cx="2743200" cy="914400"/>
          </a:xfrm>
        </p:grpSpPr>
        <p:sp>
          <p:nvSpPr>
            <p:cNvPr name="Freeform 35" id="35"/>
            <p:cNvSpPr/>
            <p:nvPr/>
          </p:nvSpPr>
          <p:spPr>
            <a:xfrm flipH="false" flipV="false" rot="0">
              <a:off x="0" y="0"/>
              <a:ext cx="2743200" cy="914400"/>
            </a:xfrm>
            <a:custGeom>
              <a:avLst/>
              <a:gdLst/>
              <a:ahLst/>
              <a:cxnLst/>
              <a:rect r="r" b="b" t="t" l="l"/>
              <a:pathLst>
                <a:path h="914400" w="2743200">
                  <a:moveTo>
                    <a:pt x="0" y="0"/>
                  </a:moveTo>
                  <a:lnTo>
                    <a:pt x="2743200" y="0"/>
                  </a:lnTo>
                  <a:lnTo>
                    <a:pt x="2743200" y="914400"/>
                  </a:lnTo>
                  <a:lnTo>
                    <a:pt x="0" y="914400"/>
                  </a:lnTo>
                  <a:close/>
                </a:path>
              </a:pathLst>
            </a:custGeom>
            <a:blipFill>
              <a:blip r:embed="rId3">
                <a:alphaModFix amt="0"/>
              </a:blip>
              <a:stretch>
                <a:fillRect l="0" t="-8455" r="0" b="-8455"/>
              </a:stretch>
            </a:blipFill>
          </p:spPr>
        </p:sp>
        <p:sp>
          <p:nvSpPr>
            <p:cNvPr name="TextBox 36" id="36"/>
            <p:cNvSpPr txBox="true"/>
            <p:nvPr/>
          </p:nvSpPr>
          <p:spPr>
            <a:xfrm>
              <a:off x="0" y="-19050"/>
              <a:ext cx="2743200" cy="93345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avg 1,500 EGP</a:t>
              </a:r>
            </a:p>
          </p:txBody>
        </p:sp>
      </p:grpSp>
      <p:grpSp>
        <p:nvGrpSpPr>
          <p:cNvPr name="Group 37" id="37"/>
          <p:cNvGrpSpPr/>
          <p:nvPr/>
        </p:nvGrpSpPr>
        <p:grpSpPr>
          <a:xfrm rot="0">
            <a:off x="6506784" y="5329028"/>
            <a:ext cx="5898367" cy="589837"/>
            <a:chOff x="0" y="0"/>
            <a:chExt cx="7315200" cy="731520"/>
          </a:xfrm>
        </p:grpSpPr>
        <p:sp>
          <p:nvSpPr>
            <p:cNvPr name="Freeform 38" id="38"/>
            <p:cNvSpPr/>
            <p:nvPr/>
          </p:nvSpPr>
          <p:spPr>
            <a:xfrm flipH="false" flipV="false" rot="0">
              <a:off x="0" y="0"/>
              <a:ext cx="7315200" cy="731520"/>
            </a:xfrm>
            <a:custGeom>
              <a:avLst/>
              <a:gdLst/>
              <a:ahLst/>
              <a:cxnLst/>
              <a:rect r="r" b="b" t="t" l="l"/>
              <a:pathLst>
                <a:path h="731520" w="7315200">
                  <a:moveTo>
                    <a:pt x="0" y="182880"/>
                  </a:moveTo>
                  <a:cubicBezTo>
                    <a:pt x="0" y="81915"/>
                    <a:pt x="81915" y="0"/>
                    <a:pt x="182880" y="0"/>
                  </a:cubicBezTo>
                  <a:lnTo>
                    <a:pt x="7132320" y="0"/>
                  </a:lnTo>
                  <a:cubicBezTo>
                    <a:pt x="7233285" y="0"/>
                    <a:pt x="7315200" y="81915"/>
                    <a:pt x="7315200" y="182880"/>
                  </a:cubicBezTo>
                  <a:lnTo>
                    <a:pt x="7315200" y="548640"/>
                  </a:lnTo>
                  <a:cubicBezTo>
                    <a:pt x="7315200" y="649605"/>
                    <a:pt x="7233285" y="731520"/>
                    <a:pt x="7132320" y="731520"/>
                  </a:cubicBezTo>
                  <a:lnTo>
                    <a:pt x="182880" y="731520"/>
                  </a:lnTo>
                  <a:cubicBezTo>
                    <a:pt x="81915" y="731520"/>
                    <a:pt x="0" y="649605"/>
                    <a:pt x="0" y="548640"/>
                  </a:cubicBezTo>
                  <a:close/>
                </a:path>
              </a:pathLst>
            </a:custGeom>
            <a:solidFill>
              <a:srgbClr val="1A2744"/>
            </a:solidFill>
          </p:spPr>
        </p:sp>
      </p:grpSp>
      <p:grpSp>
        <p:nvGrpSpPr>
          <p:cNvPr name="Group 39" id="39"/>
          <p:cNvGrpSpPr/>
          <p:nvPr/>
        </p:nvGrpSpPr>
        <p:grpSpPr>
          <a:xfrm rot="0">
            <a:off x="6506784" y="5329028"/>
            <a:ext cx="648820" cy="589837"/>
            <a:chOff x="0" y="0"/>
            <a:chExt cx="804672" cy="731520"/>
          </a:xfrm>
        </p:grpSpPr>
        <p:sp>
          <p:nvSpPr>
            <p:cNvPr name="Freeform 40" id="40"/>
            <p:cNvSpPr/>
            <p:nvPr/>
          </p:nvSpPr>
          <p:spPr>
            <a:xfrm flipH="false" flipV="false" rot="0">
              <a:off x="0" y="0"/>
              <a:ext cx="804672" cy="731520"/>
            </a:xfrm>
            <a:custGeom>
              <a:avLst/>
              <a:gdLst/>
              <a:ahLst/>
              <a:cxnLst/>
              <a:rect r="r" b="b" t="t" l="l"/>
              <a:pathLst>
                <a:path h="731520" w="804672">
                  <a:moveTo>
                    <a:pt x="0" y="182880"/>
                  </a:moveTo>
                  <a:cubicBezTo>
                    <a:pt x="0" y="81915"/>
                    <a:pt x="81915" y="0"/>
                    <a:pt x="182880" y="0"/>
                  </a:cubicBezTo>
                  <a:lnTo>
                    <a:pt x="621792" y="0"/>
                  </a:lnTo>
                  <a:cubicBezTo>
                    <a:pt x="722757" y="0"/>
                    <a:pt x="804672" y="81915"/>
                    <a:pt x="804672" y="182880"/>
                  </a:cubicBezTo>
                  <a:lnTo>
                    <a:pt x="804672" y="548640"/>
                  </a:lnTo>
                  <a:cubicBezTo>
                    <a:pt x="804672" y="649605"/>
                    <a:pt x="722757" y="731520"/>
                    <a:pt x="621792" y="731520"/>
                  </a:cubicBezTo>
                  <a:lnTo>
                    <a:pt x="182880" y="731520"/>
                  </a:lnTo>
                  <a:cubicBezTo>
                    <a:pt x="81915" y="731520"/>
                    <a:pt x="0" y="649605"/>
                    <a:pt x="0" y="548640"/>
                  </a:cubicBezTo>
                  <a:close/>
                </a:path>
              </a:pathLst>
            </a:custGeom>
            <a:solidFill>
              <a:srgbClr val="14B8A6"/>
            </a:solidFill>
          </p:spPr>
        </p:sp>
      </p:grpSp>
      <p:grpSp>
        <p:nvGrpSpPr>
          <p:cNvPr name="Group 41" id="41"/>
          <p:cNvGrpSpPr/>
          <p:nvPr/>
        </p:nvGrpSpPr>
        <p:grpSpPr>
          <a:xfrm rot="0">
            <a:off x="6506784" y="5329028"/>
            <a:ext cx="5898367" cy="589837"/>
            <a:chOff x="0" y="0"/>
            <a:chExt cx="7315200" cy="731520"/>
          </a:xfrm>
        </p:grpSpPr>
        <p:sp>
          <p:nvSpPr>
            <p:cNvPr name="Freeform 42" id="4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43" id="43"/>
            <p:cNvSpPr txBox="true"/>
            <p:nvPr/>
          </p:nvSpPr>
          <p:spPr>
            <a:xfrm>
              <a:off x="0" y="-19050"/>
              <a:ext cx="7315200" cy="750570"/>
            </a:xfrm>
            <a:prstGeom prst="rect">
              <a:avLst/>
            </a:prstGeom>
          </p:spPr>
          <p:txBody>
            <a:bodyPr anchor="ctr" rtlCol="false" tIns="0" lIns="0" bIns="0" rIns="0"/>
            <a:lstStyle/>
            <a:p>
              <a:pPr algn="r">
                <a:lnSpc>
                  <a:spcPts val="2160"/>
                </a:lnSpc>
              </a:pPr>
              <a:r>
                <a:rPr lang="en-US" sz="1800" b="true">
                  <a:solidFill>
                    <a:srgbClr val="E2E8F0"/>
                  </a:solidFill>
                  <a:latin typeface="Arial Bold"/>
                  <a:ea typeface="Arial Bold"/>
                  <a:cs typeface="Arial Bold"/>
                  <a:sym typeface="Arial Bold"/>
                </a:rPr>
                <a:t>60,000 EGP/mo</a:t>
              </a:r>
            </a:p>
          </p:txBody>
        </p:sp>
      </p:grpSp>
      <p:grpSp>
        <p:nvGrpSpPr>
          <p:cNvPr name="Group 44" id="44"/>
          <p:cNvGrpSpPr/>
          <p:nvPr/>
        </p:nvGrpSpPr>
        <p:grpSpPr>
          <a:xfrm rot="0">
            <a:off x="1345713" y="6434972"/>
            <a:ext cx="2654265" cy="737296"/>
            <a:chOff x="0" y="0"/>
            <a:chExt cx="3291840" cy="914400"/>
          </a:xfrm>
        </p:grpSpPr>
        <p:sp>
          <p:nvSpPr>
            <p:cNvPr name="Freeform 45" id="45"/>
            <p:cNvSpPr/>
            <p:nvPr/>
          </p:nvSpPr>
          <p:spPr>
            <a:xfrm flipH="false" flipV="false" rot="0">
              <a:off x="0" y="0"/>
              <a:ext cx="3291840" cy="914400"/>
            </a:xfrm>
            <a:custGeom>
              <a:avLst/>
              <a:gdLst/>
              <a:ahLst/>
              <a:cxnLst/>
              <a:rect r="r" b="b" t="t" l="l"/>
              <a:pathLst>
                <a:path h="914400" w="3291840">
                  <a:moveTo>
                    <a:pt x="0" y="0"/>
                  </a:moveTo>
                  <a:lnTo>
                    <a:pt x="3291840" y="0"/>
                  </a:lnTo>
                  <a:lnTo>
                    <a:pt x="3291840" y="914400"/>
                  </a:lnTo>
                  <a:lnTo>
                    <a:pt x="0" y="914400"/>
                  </a:lnTo>
                  <a:close/>
                </a:path>
              </a:pathLst>
            </a:custGeom>
            <a:blipFill>
              <a:blip r:embed="rId3">
                <a:alphaModFix amt="0"/>
              </a:blip>
              <a:stretch>
                <a:fillRect l="0" t="-20146" r="0" b="-20146"/>
              </a:stretch>
            </a:blipFill>
          </p:spPr>
        </p:sp>
        <p:sp>
          <p:nvSpPr>
            <p:cNvPr name="TextBox 46" id="46"/>
            <p:cNvSpPr txBox="true"/>
            <p:nvPr/>
          </p:nvSpPr>
          <p:spPr>
            <a:xfrm>
              <a:off x="0" y="-19050"/>
              <a:ext cx="3291840" cy="933450"/>
            </a:xfrm>
            <a:prstGeom prst="rect">
              <a:avLst/>
            </a:prstGeom>
          </p:spPr>
          <p:txBody>
            <a:bodyPr anchor="ctr" rtlCol="false" tIns="0" lIns="0" bIns="0" rIns="0"/>
            <a:lstStyle/>
            <a:p>
              <a:pPr algn="l">
                <a:lnSpc>
                  <a:spcPts val="2340"/>
                </a:lnSpc>
              </a:pPr>
              <a:r>
                <a:rPr lang="en-US" sz="1950" b="true">
                  <a:solidFill>
                    <a:srgbClr val="E2E8F0"/>
                  </a:solidFill>
                  <a:latin typeface="Arial Bold"/>
                  <a:ea typeface="Arial Bold"/>
                  <a:cs typeface="Arial Bold"/>
                  <a:sym typeface="Arial Bold"/>
                </a:rPr>
                <a:t>3 Corporate</a:t>
              </a:r>
            </a:p>
          </p:txBody>
        </p:sp>
      </p:grpSp>
      <p:grpSp>
        <p:nvGrpSpPr>
          <p:cNvPr name="Group 47" id="47"/>
          <p:cNvGrpSpPr/>
          <p:nvPr/>
        </p:nvGrpSpPr>
        <p:grpSpPr>
          <a:xfrm rot="0">
            <a:off x="3999978" y="6434972"/>
            <a:ext cx="2211888" cy="737296"/>
            <a:chOff x="0" y="0"/>
            <a:chExt cx="2743200" cy="914400"/>
          </a:xfrm>
        </p:grpSpPr>
        <p:sp>
          <p:nvSpPr>
            <p:cNvPr name="Freeform 48" id="48"/>
            <p:cNvSpPr/>
            <p:nvPr/>
          </p:nvSpPr>
          <p:spPr>
            <a:xfrm flipH="false" flipV="false" rot="0">
              <a:off x="0" y="0"/>
              <a:ext cx="2743200" cy="914400"/>
            </a:xfrm>
            <a:custGeom>
              <a:avLst/>
              <a:gdLst/>
              <a:ahLst/>
              <a:cxnLst/>
              <a:rect r="r" b="b" t="t" l="l"/>
              <a:pathLst>
                <a:path h="914400" w="2743200">
                  <a:moveTo>
                    <a:pt x="0" y="0"/>
                  </a:moveTo>
                  <a:lnTo>
                    <a:pt x="2743200" y="0"/>
                  </a:lnTo>
                  <a:lnTo>
                    <a:pt x="2743200" y="914400"/>
                  </a:lnTo>
                  <a:lnTo>
                    <a:pt x="0" y="914400"/>
                  </a:lnTo>
                  <a:close/>
                </a:path>
              </a:pathLst>
            </a:custGeom>
            <a:blipFill>
              <a:blip r:embed="rId3">
                <a:alphaModFix amt="0"/>
              </a:blip>
              <a:stretch>
                <a:fillRect l="0" t="-8455" r="0" b="-8455"/>
              </a:stretch>
            </a:blipFill>
          </p:spPr>
        </p:sp>
        <p:sp>
          <p:nvSpPr>
            <p:cNvPr name="TextBox 49" id="49"/>
            <p:cNvSpPr txBox="true"/>
            <p:nvPr/>
          </p:nvSpPr>
          <p:spPr>
            <a:xfrm>
              <a:off x="0" y="-19050"/>
              <a:ext cx="2743200" cy="93345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Package deals</a:t>
              </a:r>
            </a:p>
          </p:txBody>
        </p:sp>
      </p:grpSp>
      <p:grpSp>
        <p:nvGrpSpPr>
          <p:cNvPr name="Group 50" id="50"/>
          <p:cNvGrpSpPr/>
          <p:nvPr/>
        </p:nvGrpSpPr>
        <p:grpSpPr>
          <a:xfrm rot="0">
            <a:off x="6506784" y="6508701"/>
            <a:ext cx="5898367" cy="589837"/>
            <a:chOff x="0" y="0"/>
            <a:chExt cx="7315200" cy="731520"/>
          </a:xfrm>
        </p:grpSpPr>
        <p:sp>
          <p:nvSpPr>
            <p:cNvPr name="Freeform 51" id="51"/>
            <p:cNvSpPr/>
            <p:nvPr/>
          </p:nvSpPr>
          <p:spPr>
            <a:xfrm flipH="false" flipV="false" rot="0">
              <a:off x="0" y="0"/>
              <a:ext cx="7315200" cy="731520"/>
            </a:xfrm>
            <a:custGeom>
              <a:avLst/>
              <a:gdLst/>
              <a:ahLst/>
              <a:cxnLst/>
              <a:rect r="r" b="b" t="t" l="l"/>
              <a:pathLst>
                <a:path h="731520" w="7315200">
                  <a:moveTo>
                    <a:pt x="0" y="182880"/>
                  </a:moveTo>
                  <a:cubicBezTo>
                    <a:pt x="0" y="81915"/>
                    <a:pt x="81915" y="0"/>
                    <a:pt x="182880" y="0"/>
                  </a:cubicBezTo>
                  <a:lnTo>
                    <a:pt x="7132320" y="0"/>
                  </a:lnTo>
                  <a:cubicBezTo>
                    <a:pt x="7233285" y="0"/>
                    <a:pt x="7315200" y="81915"/>
                    <a:pt x="7315200" y="182880"/>
                  </a:cubicBezTo>
                  <a:lnTo>
                    <a:pt x="7315200" y="548640"/>
                  </a:lnTo>
                  <a:cubicBezTo>
                    <a:pt x="7315200" y="649605"/>
                    <a:pt x="7233285" y="731520"/>
                    <a:pt x="7132320" y="731520"/>
                  </a:cubicBezTo>
                  <a:lnTo>
                    <a:pt x="182880" y="731520"/>
                  </a:lnTo>
                  <a:cubicBezTo>
                    <a:pt x="81915" y="731520"/>
                    <a:pt x="0" y="649605"/>
                    <a:pt x="0" y="548640"/>
                  </a:cubicBezTo>
                  <a:close/>
                </a:path>
              </a:pathLst>
            </a:custGeom>
            <a:solidFill>
              <a:srgbClr val="1A2744"/>
            </a:solidFill>
          </p:spPr>
        </p:sp>
      </p:grpSp>
      <p:grpSp>
        <p:nvGrpSpPr>
          <p:cNvPr name="Group 52" id="52"/>
          <p:cNvGrpSpPr/>
          <p:nvPr/>
        </p:nvGrpSpPr>
        <p:grpSpPr>
          <a:xfrm rot="0">
            <a:off x="6506784" y="6508701"/>
            <a:ext cx="825771" cy="589837"/>
            <a:chOff x="0" y="0"/>
            <a:chExt cx="1024128" cy="731520"/>
          </a:xfrm>
        </p:grpSpPr>
        <p:sp>
          <p:nvSpPr>
            <p:cNvPr name="Freeform 53" id="53"/>
            <p:cNvSpPr/>
            <p:nvPr/>
          </p:nvSpPr>
          <p:spPr>
            <a:xfrm flipH="false" flipV="false" rot="0">
              <a:off x="0" y="0"/>
              <a:ext cx="1024128" cy="731520"/>
            </a:xfrm>
            <a:custGeom>
              <a:avLst/>
              <a:gdLst/>
              <a:ahLst/>
              <a:cxnLst/>
              <a:rect r="r" b="b" t="t" l="l"/>
              <a:pathLst>
                <a:path h="731520" w="1024128">
                  <a:moveTo>
                    <a:pt x="0" y="182880"/>
                  </a:moveTo>
                  <a:cubicBezTo>
                    <a:pt x="0" y="81915"/>
                    <a:pt x="81915" y="0"/>
                    <a:pt x="182880" y="0"/>
                  </a:cubicBezTo>
                  <a:lnTo>
                    <a:pt x="841248" y="0"/>
                  </a:lnTo>
                  <a:cubicBezTo>
                    <a:pt x="942213" y="0"/>
                    <a:pt x="1024128" y="81915"/>
                    <a:pt x="1024128" y="182880"/>
                  </a:cubicBezTo>
                  <a:lnTo>
                    <a:pt x="1024128" y="548640"/>
                  </a:lnTo>
                  <a:cubicBezTo>
                    <a:pt x="1024128" y="649605"/>
                    <a:pt x="942213" y="731520"/>
                    <a:pt x="841248" y="731520"/>
                  </a:cubicBezTo>
                  <a:lnTo>
                    <a:pt x="182880" y="731520"/>
                  </a:lnTo>
                  <a:cubicBezTo>
                    <a:pt x="81915" y="731520"/>
                    <a:pt x="0" y="649605"/>
                    <a:pt x="0" y="548640"/>
                  </a:cubicBezTo>
                  <a:close/>
                </a:path>
              </a:pathLst>
            </a:custGeom>
            <a:solidFill>
              <a:srgbClr val="14B8A6"/>
            </a:solidFill>
          </p:spPr>
        </p:sp>
      </p:grpSp>
      <p:grpSp>
        <p:nvGrpSpPr>
          <p:cNvPr name="Group 54" id="54"/>
          <p:cNvGrpSpPr/>
          <p:nvPr/>
        </p:nvGrpSpPr>
        <p:grpSpPr>
          <a:xfrm rot="0">
            <a:off x="6506784" y="6508701"/>
            <a:ext cx="5898367" cy="589837"/>
            <a:chOff x="0" y="0"/>
            <a:chExt cx="7315200" cy="731520"/>
          </a:xfrm>
        </p:grpSpPr>
        <p:sp>
          <p:nvSpPr>
            <p:cNvPr name="Freeform 55" id="55"/>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56" id="56"/>
            <p:cNvSpPr txBox="true"/>
            <p:nvPr/>
          </p:nvSpPr>
          <p:spPr>
            <a:xfrm>
              <a:off x="0" y="-19050"/>
              <a:ext cx="7315200" cy="750570"/>
            </a:xfrm>
            <a:prstGeom prst="rect">
              <a:avLst/>
            </a:prstGeom>
          </p:spPr>
          <p:txBody>
            <a:bodyPr anchor="ctr" rtlCol="false" tIns="0" lIns="0" bIns="0" rIns="0"/>
            <a:lstStyle/>
            <a:p>
              <a:pPr algn="r">
                <a:lnSpc>
                  <a:spcPts val="2160"/>
                </a:lnSpc>
              </a:pPr>
              <a:r>
                <a:rPr lang="en-US" sz="1800" b="true">
                  <a:solidFill>
                    <a:srgbClr val="E2E8F0"/>
                  </a:solidFill>
                  <a:latin typeface="Arial Bold"/>
                  <a:ea typeface="Arial Bold"/>
                  <a:cs typeface="Arial Bold"/>
                  <a:sym typeface="Arial Bold"/>
                </a:rPr>
                <a:t>75,000 EGP/mo</a:t>
              </a:r>
            </a:p>
          </p:txBody>
        </p:sp>
      </p:grpSp>
      <p:grpSp>
        <p:nvGrpSpPr>
          <p:cNvPr name="Group 57" id="57"/>
          <p:cNvGrpSpPr/>
          <p:nvPr/>
        </p:nvGrpSpPr>
        <p:grpSpPr>
          <a:xfrm rot="0">
            <a:off x="1335473" y="7604405"/>
            <a:ext cx="11079918" cy="1200154"/>
            <a:chOff x="0" y="0"/>
            <a:chExt cx="13741400" cy="1488440"/>
          </a:xfrm>
        </p:grpSpPr>
        <p:sp>
          <p:nvSpPr>
            <p:cNvPr name="Freeform 58" id="58"/>
            <p:cNvSpPr/>
            <p:nvPr/>
          </p:nvSpPr>
          <p:spPr>
            <a:xfrm flipH="false" flipV="false" rot="0">
              <a:off x="12700" y="12700"/>
              <a:ext cx="13716000" cy="1463040"/>
            </a:xfrm>
            <a:custGeom>
              <a:avLst/>
              <a:gdLst/>
              <a:ahLst/>
              <a:cxnLst/>
              <a:rect r="r" b="b" t="t" l="l"/>
              <a:pathLst>
                <a:path h="1463040" w="13716000">
                  <a:moveTo>
                    <a:pt x="0" y="274320"/>
                  </a:moveTo>
                  <a:cubicBezTo>
                    <a:pt x="0" y="122809"/>
                    <a:pt x="124714" y="0"/>
                    <a:pt x="278511" y="0"/>
                  </a:cubicBezTo>
                  <a:lnTo>
                    <a:pt x="13437488" y="0"/>
                  </a:lnTo>
                  <a:cubicBezTo>
                    <a:pt x="13591285" y="0"/>
                    <a:pt x="13716000" y="122809"/>
                    <a:pt x="13716000" y="274320"/>
                  </a:cubicBezTo>
                  <a:lnTo>
                    <a:pt x="13716000" y="1188720"/>
                  </a:lnTo>
                  <a:cubicBezTo>
                    <a:pt x="13716000" y="1340231"/>
                    <a:pt x="13591285" y="1463040"/>
                    <a:pt x="13437488" y="1463040"/>
                  </a:cubicBezTo>
                  <a:lnTo>
                    <a:pt x="278511" y="1463040"/>
                  </a:lnTo>
                  <a:cubicBezTo>
                    <a:pt x="124714" y="1463040"/>
                    <a:pt x="0" y="1340231"/>
                    <a:pt x="0" y="1188720"/>
                  </a:cubicBezTo>
                  <a:close/>
                </a:path>
              </a:pathLst>
            </a:custGeom>
            <a:solidFill>
              <a:srgbClr val="111D32"/>
            </a:solidFill>
          </p:spPr>
        </p:sp>
        <p:sp>
          <p:nvSpPr>
            <p:cNvPr name="Freeform 59" id="59"/>
            <p:cNvSpPr/>
            <p:nvPr/>
          </p:nvSpPr>
          <p:spPr>
            <a:xfrm flipH="false" flipV="false" rot="0">
              <a:off x="0" y="0"/>
              <a:ext cx="13741400" cy="1488440"/>
            </a:xfrm>
            <a:custGeom>
              <a:avLst/>
              <a:gdLst/>
              <a:ahLst/>
              <a:cxnLst/>
              <a:rect r="r" b="b" t="t" l="l"/>
              <a:pathLst>
                <a:path h="1488440" w="13741400">
                  <a:moveTo>
                    <a:pt x="0" y="287020"/>
                  </a:moveTo>
                  <a:cubicBezTo>
                    <a:pt x="0" y="128270"/>
                    <a:pt x="130556" y="0"/>
                    <a:pt x="291211" y="0"/>
                  </a:cubicBezTo>
                  <a:lnTo>
                    <a:pt x="13450188" y="0"/>
                  </a:lnTo>
                  <a:lnTo>
                    <a:pt x="13450188" y="12700"/>
                  </a:lnTo>
                  <a:lnTo>
                    <a:pt x="13450188" y="0"/>
                  </a:lnTo>
                  <a:cubicBezTo>
                    <a:pt x="13610844" y="0"/>
                    <a:pt x="13741400" y="128270"/>
                    <a:pt x="13741400" y="287020"/>
                  </a:cubicBezTo>
                  <a:lnTo>
                    <a:pt x="13728700" y="287020"/>
                  </a:lnTo>
                  <a:lnTo>
                    <a:pt x="13741400" y="287020"/>
                  </a:lnTo>
                  <a:lnTo>
                    <a:pt x="13741400" y="1201420"/>
                  </a:lnTo>
                  <a:lnTo>
                    <a:pt x="13728700" y="1201420"/>
                  </a:lnTo>
                  <a:lnTo>
                    <a:pt x="13741400" y="1201420"/>
                  </a:lnTo>
                  <a:cubicBezTo>
                    <a:pt x="13741400" y="1360170"/>
                    <a:pt x="13610844" y="1488440"/>
                    <a:pt x="13450188" y="1488440"/>
                  </a:cubicBezTo>
                  <a:lnTo>
                    <a:pt x="13450188" y="1475740"/>
                  </a:lnTo>
                  <a:lnTo>
                    <a:pt x="13450188" y="1488440"/>
                  </a:lnTo>
                  <a:lnTo>
                    <a:pt x="291211" y="1488440"/>
                  </a:lnTo>
                  <a:lnTo>
                    <a:pt x="291211" y="1475740"/>
                  </a:lnTo>
                  <a:lnTo>
                    <a:pt x="291211" y="1488440"/>
                  </a:lnTo>
                  <a:cubicBezTo>
                    <a:pt x="130556" y="1488440"/>
                    <a:pt x="0" y="1360170"/>
                    <a:pt x="0" y="1201420"/>
                  </a:cubicBezTo>
                  <a:lnTo>
                    <a:pt x="0" y="287020"/>
                  </a:lnTo>
                  <a:lnTo>
                    <a:pt x="12700" y="287020"/>
                  </a:lnTo>
                  <a:lnTo>
                    <a:pt x="0" y="287020"/>
                  </a:lnTo>
                  <a:moveTo>
                    <a:pt x="25400" y="287020"/>
                  </a:moveTo>
                  <a:lnTo>
                    <a:pt x="25400" y="1201420"/>
                  </a:lnTo>
                  <a:lnTo>
                    <a:pt x="12700" y="1201420"/>
                  </a:lnTo>
                  <a:lnTo>
                    <a:pt x="25400" y="1201420"/>
                  </a:lnTo>
                  <a:cubicBezTo>
                    <a:pt x="25400" y="1345692"/>
                    <a:pt x="144272" y="1463040"/>
                    <a:pt x="291211" y="1463040"/>
                  </a:cubicBezTo>
                  <a:lnTo>
                    <a:pt x="13450188" y="1463040"/>
                  </a:lnTo>
                  <a:cubicBezTo>
                    <a:pt x="13597254" y="1463040"/>
                    <a:pt x="13716000" y="1345692"/>
                    <a:pt x="13716000" y="1201420"/>
                  </a:cubicBezTo>
                  <a:lnTo>
                    <a:pt x="13716000" y="287020"/>
                  </a:lnTo>
                  <a:cubicBezTo>
                    <a:pt x="13716000" y="142748"/>
                    <a:pt x="13597127" y="25400"/>
                    <a:pt x="13450188" y="25400"/>
                  </a:cubicBezTo>
                  <a:lnTo>
                    <a:pt x="291211" y="25400"/>
                  </a:lnTo>
                  <a:lnTo>
                    <a:pt x="291211" y="12700"/>
                  </a:lnTo>
                  <a:lnTo>
                    <a:pt x="291211" y="25400"/>
                  </a:lnTo>
                  <a:cubicBezTo>
                    <a:pt x="144272" y="25400"/>
                    <a:pt x="25400" y="142748"/>
                    <a:pt x="25400" y="287020"/>
                  </a:cubicBezTo>
                  <a:close/>
                </a:path>
              </a:pathLst>
            </a:custGeom>
            <a:solidFill>
              <a:srgbClr val="1E3048"/>
            </a:solidFill>
          </p:spPr>
        </p:sp>
      </p:grpSp>
      <p:grpSp>
        <p:nvGrpSpPr>
          <p:cNvPr name="Group 60" id="60"/>
          <p:cNvGrpSpPr/>
          <p:nvPr/>
        </p:nvGrpSpPr>
        <p:grpSpPr>
          <a:xfrm rot="0">
            <a:off x="1640631" y="7614645"/>
            <a:ext cx="5898367" cy="1179673"/>
            <a:chOff x="0" y="0"/>
            <a:chExt cx="7315200" cy="1463040"/>
          </a:xfrm>
        </p:grpSpPr>
        <p:sp>
          <p:nvSpPr>
            <p:cNvPr name="Freeform 61" id="61"/>
            <p:cNvSpPr/>
            <p:nvPr/>
          </p:nvSpPr>
          <p:spPr>
            <a:xfrm flipH="false" flipV="false" rot="0">
              <a:off x="0" y="0"/>
              <a:ext cx="7315200" cy="1463040"/>
            </a:xfrm>
            <a:custGeom>
              <a:avLst/>
              <a:gdLst/>
              <a:ahLst/>
              <a:cxnLst/>
              <a:rect r="r" b="b" t="t" l="l"/>
              <a:pathLst>
                <a:path h="1463040" w="7315200">
                  <a:moveTo>
                    <a:pt x="0" y="0"/>
                  </a:moveTo>
                  <a:lnTo>
                    <a:pt x="7315200" y="0"/>
                  </a:lnTo>
                  <a:lnTo>
                    <a:pt x="7315200" y="1463040"/>
                  </a:lnTo>
                  <a:lnTo>
                    <a:pt x="0" y="1463040"/>
                  </a:lnTo>
                  <a:close/>
                </a:path>
              </a:pathLst>
            </a:custGeom>
            <a:blipFill>
              <a:blip r:embed="rId3">
                <a:alphaModFix amt="0"/>
              </a:blip>
              <a:stretch>
                <a:fillRect l="0" t="-47425" r="0" b="-47425"/>
              </a:stretch>
            </a:blipFill>
          </p:spPr>
        </p:sp>
        <p:sp>
          <p:nvSpPr>
            <p:cNvPr name="TextBox 62" id="62"/>
            <p:cNvSpPr txBox="true"/>
            <p:nvPr/>
          </p:nvSpPr>
          <p:spPr>
            <a:xfrm>
              <a:off x="0" y="-9525"/>
              <a:ext cx="7315200" cy="1472565"/>
            </a:xfrm>
            <a:prstGeom prst="rect">
              <a:avLst/>
            </a:prstGeom>
          </p:spPr>
          <p:txBody>
            <a:bodyPr anchor="ctr" rtlCol="false" tIns="0" lIns="0" bIns="0" rIns="0"/>
            <a:lstStyle/>
            <a:p>
              <a:pPr algn="l">
                <a:lnSpc>
                  <a:spcPts val="2879"/>
                </a:lnSpc>
              </a:pPr>
              <a:r>
                <a:rPr lang="en-US" sz="2400" b="true">
                  <a:solidFill>
                    <a:srgbClr val="E2E8F0"/>
                  </a:solidFill>
                  <a:latin typeface="Arial Bold"/>
                  <a:ea typeface="Arial Bold"/>
                  <a:cs typeface="Arial Bold"/>
                  <a:sym typeface="Arial Bold"/>
                </a:rPr>
                <a:t>Estimated Monthly Revenue</a:t>
              </a:r>
            </a:p>
          </p:txBody>
        </p:sp>
      </p:grpSp>
      <p:grpSp>
        <p:nvGrpSpPr>
          <p:cNvPr name="Group 63" id="63"/>
          <p:cNvGrpSpPr/>
          <p:nvPr/>
        </p:nvGrpSpPr>
        <p:grpSpPr>
          <a:xfrm rot="0">
            <a:off x="6949161" y="7614645"/>
            <a:ext cx="5161071" cy="1179673"/>
            <a:chOff x="0" y="0"/>
            <a:chExt cx="6400800" cy="1463040"/>
          </a:xfrm>
        </p:grpSpPr>
        <p:sp>
          <p:nvSpPr>
            <p:cNvPr name="Freeform 64" id="64"/>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65" id="65"/>
            <p:cNvSpPr txBox="true"/>
            <p:nvPr/>
          </p:nvSpPr>
          <p:spPr>
            <a:xfrm>
              <a:off x="0" y="-28575"/>
              <a:ext cx="6400800" cy="1491615"/>
            </a:xfrm>
            <a:prstGeom prst="rect">
              <a:avLst/>
            </a:prstGeom>
          </p:spPr>
          <p:txBody>
            <a:bodyPr anchor="ctr" rtlCol="false" tIns="0" lIns="0" bIns="0" rIns="0"/>
            <a:lstStyle/>
            <a:p>
              <a:pPr algn="r">
                <a:lnSpc>
                  <a:spcPts val="3960"/>
                </a:lnSpc>
              </a:pPr>
              <a:r>
                <a:rPr lang="en-US" sz="3300" b="true">
                  <a:solidFill>
                    <a:srgbClr val="14B8A6"/>
                  </a:solidFill>
                  <a:latin typeface="Arial Bold"/>
                  <a:ea typeface="Arial Bold"/>
                  <a:cs typeface="Arial Bold"/>
                  <a:sym typeface="Arial Bold"/>
                </a:rPr>
                <a:t>535,000+ EGP</a:t>
              </a:r>
            </a:p>
          </p:txBody>
        </p:sp>
      </p:grpSp>
      <p:sp>
        <p:nvSpPr>
          <p:cNvPr name="Freeform 66" id="66"/>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028700" y="1727439"/>
            <a:ext cx="9601200" cy="822960"/>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Competitive Advantage</a:t>
              </a:r>
            </a:p>
          </p:txBody>
        </p:sp>
      </p:grpSp>
      <p:grpSp>
        <p:nvGrpSpPr>
          <p:cNvPr name="Group 5" id="5"/>
          <p:cNvGrpSpPr/>
          <p:nvPr/>
        </p:nvGrpSpPr>
        <p:grpSpPr>
          <a:xfrm rot="0">
            <a:off x="1513659" y="2715523"/>
            <a:ext cx="10946552" cy="625517"/>
            <a:chOff x="0" y="0"/>
            <a:chExt cx="12801600" cy="731520"/>
          </a:xfrm>
        </p:grpSpPr>
        <p:sp>
          <p:nvSpPr>
            <p:cNvPr name="Freeform 6" id="6"/>
            <p:cNvSpPr/>
            <p:nvPr/>
          </p:nvSpPr>
          <p:spPr>
            <a:xfrm flipH="false" flipV="false" rot="0">
              <a:off x="0" y="0"/>
              <a:ext cx="12801600" cy="731520"/>
            </a:xfrm>
            <a:custGeom>
              <a:avLst/>
              <a:gdLst/>
              <a:ahLst/>
              <a:cxnLst/>
              <a:rect r="r" b="b" t="t" l="l"/>
              <a:pathLst>
                <a:path h="731520" w="12801600">
                  <a:moveTo>
                    <a:pt x="0" y="0"/>
                  </a:moveTo>
                  <a:lnTo>
                    <a:pt x="12801600" y="0"/>
                  </a:lnTo>
                  <a:lnTo>
                    <a:pt x="12801600" y="731520"/>
                  </a:lnTo>
                  <a:lnTo>
                    <a:pt x="0" y="731520"/>
                  </a:lnTo>
                  <a:close/>
                </a:path>
              </a:pathLst>
            </a:custGeom>
            <a:blipFill>
              <a:blip r:embed="rId3">
                <a:alphaModFix amt="0"/>
              </a:blip>
              <a:stretch>
                <a:fillRect l="0" t="-290988" r="0" b="-290988"/>
              </a:stretch>
            </a:blipFill>
          </p:spPr>
        </p:sp>
        <p:sp>
          <p:nvSpPr>
            <p:cNvPr name="TextBox 7" id="7"/>
            <p:cNvSpPr txBox="true"/>
            <p:nvPr/>
          </p:nvSpPr>
          <p:spPr>
            <a:xfrm>
              <a:off x="0" y="-9525"/>
              <a:ext cx="12801600" cy="741045"/>
            </a:xfrm>
            <a:prstGeom prst="rect">
              <a:avLst/>
            </a:prstGeom>
          </p:spPr>
          <p:txBody>
            <a:bodyPr anchor="ctr" rtlCol="false" tIns="0" lIns="0" bIns="0" rIns="0"/>
            <a:lstStyle/>
            <a:p>
              <a:pPr algn="l">
                <a:lnSpc>
                  <a:spcPts val="2520"/>
                </a:lnSpc>
              </a:pPr>
              <a:r>
                <a:rPr lang="en-US" sz="2100">
                  <a:solidFill>
                    <a:srgbClr val="94A3B8"/>
                  </a:solidFill>
                  <a:latin typeface="Arial"/>
                  <a:ea typeface="Arial"/>
                  <a:cs typeface="Arial"/>
                  <a:sym typeface="Arial"/>
                </a:rPr>
                <a:t>SER is not just a booking platform — it's a Healthcare Routing Infrastructure</a:t>
              </a:r>
            </a:p>
          </p:txBody>
        </p:sp>
      </p:grpSp>
      <p:grpSp>
        <p:nvGrpSpPr>
          <p:cNvPr name="Group 8" id="8"/>
          <p:cNvGrpSpPr/>
          <p:nvPr/>
        </p:nvGrpSpPr>
        <p:grpSpPr>
          <a:xfrm rot="0">
            <a:off x="1513659" y="3653799"/>
            <a:ext cx="4691380" cy="703707"/>
            <a:chOff x="0" y="0"/>
            <a:chExt cx="5486400" cy="822960"/>
          </a:xfrm>
        </p:grpSpPr>
        <p:sp>
          <p:nvSpPr>
            <p:cNvPr name="Freeform 9" id="9"/>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10" id="10"/>
            <p:cNvSpPr txBox="true"/>
            <p:nvPr/>
          </p:nvSpPr>
          <p:spPr>
            <a:xfrm>
              <a:off x="0" y="-19050"/>
              <a:ext cx="5486400" cy="842010"/>
            </a:xfrm>
            <a:prstGeom prst="rect">
              <a:avLst/>
            </a:prstGeom>
          </p:spPr>
          <p:txBody>
            <a:bodyPr anchor="ctr" rtlCol="false" tIns="0" lIns="0" bIns="0" rIns="0"/>
            <a:lstStyle/>
            <a:p>
              <a:pPr algn="l">
                <a:lnSpc>
                  <a:spcPts val="2340"/>
                </a:lnSpc>
              </a:pPr>
              <a:r>
                <a:rPr lang="en-US" sz="1950" b="true">
                  <a:solidFill>
                    <a:srgbClr val="94A3B8"/>
                  </a:solidFill>
                  <a:latin typeface="Arial Bold"/>
                  <a:ea typeface="Arial Bold"/>
                  <a:cs typeface="Arial Bold"/>
                  <a:sym typeface="Arial Bold"/>
                </a:rPr>
                <a:t>Feature</a:t>
              </a:r>
            </a:p>
          </p:txBody>
        </p:sp>
      </p:grpSp>
      <p:grpSp>
        <p:nvGrpSpPr>
          <p:cNvPr name="Group 11" id="11"/>
          <p:cNvGrpSpPr/>
          <p:nvPr/>
        </p:nvGrpSpPr>
        <p:grpSpPr>
          <a:xfrm rot="0">
            <a:off x="6674177" y="3653799"/>
            <a:ext cx="2345690" cy="703707"/>
            <a:chOff x="0" y="0"/>
            <a:chExt cx="2743200" cy="822960"/>
          </a:xfrm>
        </p:grpSpPr>
        <p:sp>
          <p:nvSpPr>
            <p:cNvPr name="Freeform 12" id="12"/>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13" id="13"/>
            <p:cNvSpPr txBox="true"/>
            <p:nvPr/>
          </p:nvSpPr>
          <p:spPr>
            <a:xfrm>
              <a:off x="0" y="-19050"/>
              <a:ext cx="2743200" cy="842010"/>
            </a:xfrm>
            <a:prstGeom prst="rect">
              <a:avLst/>
            </a:prstGeom>
          </p:spPr>
          <p:txBody>
            <a:bodyPr anchor="ctr" rtlCol="false" tIns="0" lIns="0" bIns="0" rIns="0"/>
            <a:lstStyle/>
            <a:p>
              <a:pPr algn="ctr">
                <a:lnSpc>
                  <a:spcPts val="2340"/>
                </a:lnSpc>
              </a:pPr>
              <a:r>
                <a:rPr lang="en-US" sz="1950" b="true">
                  <a:solidFill>
                    <a:srgbClr val="14B8A6"/>
                  </a:solidFill>
                  <a:latin typeface="Arial Bold"/>
                  <a:ea typeface="Arial Bold"/>
                  <a:cs typeface="Arial Bold"/>
                  <a:sym typeface="Arial Bold"/>
                </a:rPr>
                <a:t>SER</a:t>
              </a:r>
            </a:p>
          </p:txBody>
        </p:sp>
      </p:grpSp>
      <p:grpSp>
        <p:nvGrpSpPr>
          <p:cNvPr name="Group 14" id="14"/>
          <p:cNvGrpSpPr/>
          <p:nvPr/>
        </p:nvGrpSpPr>
        <p:grpSpPr>
          <a:xfrm rot="0">
            <a:off x="9489005" y="3653799"/>
            <a:ext cx="2814828" cy="703707"/>
            <a:chOff x="0" y="0"/>
            <a:chExt cx="3291840" cy="822960"/>
          </a:xfrm>
        </p:grpSpPr>
        <p:sp>
          <p:nvSpPr>
            <p:cNvPr name="Freeform 15" id="15"/>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16" id="16"/>
            <p:cNvSpPr txBox="true"/>
            <p:nvPr/>
          </p:nvSpPr>
          <p:spPr>
            <a:xfrm>
              <a:off x="0" y="-19050"/>
              <a:ext cx="3291840" cy="842010"/>
            </a:xfrm>
            <a:prstGeom prst="rect">
              <a:avLst/>
            </a:prstGeom>
          </p:spPr>
          <p:txBody>
            <a:bodyPr anchor="ctr" rtlCol="false" tIns="0" lIns="0" bIns="0" rIns="0"/>
            <a:lstStyle/>
            <a:p>
              <a:pPr algn="ctr">
                <a:lnSpc>
                  <a:spcPts val="2340"/>
                </a:lnSpc>
              </a:pPr>
              <a:r>
                <a:rPr lang="en-US" sz="1950" b="true">
                  <a:solidFill>
                    <a:srgbClr val="94A3B8"/>
                  </a:solidFill>
                  <a:latin typeface="Arial Bold"/>
                  <a:ea typeface="Arial Bold"/>
                  <a:cs typeface="Arial Bold"/>
                  <a:sym typeface="Arial Bold"/>
                </a:rPr>
                <a:t>Competitors</a:t>
              </a:r>
            </a:p>
          </p:txBody>
        </p:sp>
      </p:grpSp>
      <p:grpSp>
        <p:nvGrpSpPr>
          <p:cNvPr name="Group 17" id="17"/>
          <p:cNvGrpSpPr/>
          <p:nvPr/>
        </p:nvGrpSpPr>
        <p:grpSpPr>
          <a:xfrm rot="0">
            <a:off x="1513659" y="4435696"/>
            <a:ext cx="4691380" cy="703707"/>
            <a:chOff x="0" y="0"/>
            <a:chExt cx="5486400" cy="822960"/>
          </a:xfrm>
        </p:grpSpPr>
        <p:sp>
          <p:nvSpPr>
            <p:cNvPr name="Freeform 18" id="18"/>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19" id="19"/>
            <p:cNvSpPr txBox="true"/>
            <p:nvPr/>
          </p:nvSpPr>
          <p:spPr>
            <a:xfrm>
              <a:off x="0" y="-19050"/>
              <a:ext cx="5486400" cy="842010"/>
            </a:xfrm>
            <a:prstGeom prst="rect">
              <a:avLst/>
            </a:prstGeom>
          </p:spPr>
          <p:txBody>
            <a:bodyPr anchor="ctr" rtlCol="false" tIns="0" lIns="0" bIns="0" rIns="0"/>
            <a:lstStyle/>
            <a:p>
              <a:pPr algn="l">
                <a:lnSpc>
                  <a:spcPts val="2160"/>
                </a:lnSpc>
              </a:pPr>
              <a:r>
                <a:rPr lang="en-US" sz="1800">
                  <a:solidFill>
                    <a:srgbClr val="E2E8F0"/>
                  </a:solidFill>
                  <a:latin typeface="Arial"/>
                  <a:ea typeface="Arial"/>
                  <a:cs typeface="Arial"/>
                  <a:sym typeface="Arial"/>
                </a:rPr>
                <a:t>AI-Based Symptom Routing</a:t>
              </a:r>
            </a:p>
          </p:txBody>
        </p:sp>
      </p:grpSp>
      <p:grpSp>
        <p:nvGrpSpPr>
          <p:cNvPr name="Group 20" id="20"/>
          <p:cNvGrpSpPr/>
          <p:nvPr/>
        </p:nvGrpSpPr>
        <p:grpSpPr>
          <a:xfrm rot="0">
            <a:off x="6674177" y="4435696"/>
            <a:ext cx="2345690" cy="703707"/>
            <a:chOff x="0" y="0"/>
            <a:chExt cx="2743200" cy="822960"/>
          </a:xfrm>
        </p:grpSpPr>
        <p:sp>
          <p:nvSpPr>
            <p:cNvPr name="Freeform 21" id="21"/>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22" id="22"/>
            <p:cNvSpPr txBox="true"/>
            <p:nvPr/>
          </p:nvSpPr>
          <p:spPr>
            <a:xfrm>
              <a:off x="0" y="-9525"/>
              <a:ext cx="274320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23" id="23"/>
          <p:cNvGrpSpPr/>
          <p:nvPr/>
        </p:nvGrpSpPr>
        <p:grpSpPr>
          <a:xfrm rot="0">
            <a:off x="9489005" y="4435696"/>
            <a:ext cx="2814828" cy="703707"/>
            <a:chOff x="0" y="0"/>
            <a:chExt cx="3291840" cy="822960"/>
          </a:xfrm>
        </p:grpSpPr>
        <p:sp>
          <p:nvSpPr>
            <p:cNvPr name="Freeform 24" id="24"/>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25" id="25"/>
            <p:cNvSpPr txBox="true"/>
            <p:nvPr/>
          </p:nvSpPr>
          <p:spPr>
            <a:xfrm>
              <a:off x="0" y="-9525"/>
              <a:ext cx="3291840" cy="832485"/>
            </a:xfrm>
            <a:prstGeom prst="rect">
              <a:avLst/>
            </a:prstGeom>
          </p:spPr>
          <p:txBody>
            <a:bodyPr anchor="ctr" rtlCol="false" tIns="0" lIns="0" bIns="0" rIns="0"/>
            <a:lstStyle/>
            <a:p>
              <a:pPr algn="ctr">
                <a:lnSpc>
                  <a:spcPts val="2879"/>
                </a:lnSpc>
              </a:pPr>
              <a:r>
                <a:rPr lang="en-US" sz="2400">
                  <a:solidFill>
                    <a:srgbClr val="EF4444"/>
                  </a:solidFill>
                  <a:latin typeface="Arial"/>
                  <a:ea typeface="Arial"/>
                  <a:cs typeface="Arial"/>
                  <a:sym typeface="Arial"/>
                </a:rPr>
                <a:t>✗</a:t>
              </a:r>
            </a:p>
          </p:txBody>
        </p:sp>
      </p:grpSp>
      <p:grpSp>
        <p:nvGrpSpPr>
          <p:cNvPr name="Group 26" id="26"/>
          <p:cNvGrpSpPr/>
          <p:nvPr/>
        </p:nvGrpSpPr>
        <p:grpSpPr>
          <a:xfrm rot="0">
            <a:off x="1513659" y="5217592"/>
            <a:ext cx="4691380" cy="703707"/>
            <a:chOff x="0" y="0"/>
            <a:chExt cx="5486400" cy="822960"/>
          </a:xfrm>
        </p:grpSpPr>
        <p:sp>
          <p:nvSpPr>
            <p:cNvPr name="Freeform 27" id="27"/>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28" id="28"/>
            <p:cNvSpPr txBox="true"/>
            <p:nvPr/>
          </p:nvSpPr>
          <p:spPr>
            <a:xfrm>
              <a:off x="0" y="-19050"/>
              <a:ext cx="5486400" cy="842010"/>
            </a:xfrm>
            <a:prstGeom prst="rect">
              <a:avLst/>
            </a:prstGeom>
          </p:spPr>
          <p:txBody>
            <a:bodyPr anchor="ctr" rtlCol="false" tIns="0" lIns="0" bIns="0" rIns="0"/>
            <a:lstStyle/>
            <a:p>
              <a:pPr algn="l">
                <a:lnSpc>
                  <a:spcPts val="2160"/>
                </a:lnSpc>
              </a:pPr>
              <a:r>
                <a:rPr lang="en-US" sz="1800">
                  <a:solidFill>
                    <a:srgbClr val="E2E8F0"/>
                  </a:solidFill>
                  <a:latin typeface="Arial"/>
                  <a:ea typeface="Arial"/>
                  <a:cs typeface="Arial"/>
                  <a:sym typeface="Arial"/>
                </a:rPr>
                <a:t>Pharmacy Availability Check</a:t>
              </a:r>
            </a:p>
          </p:txBody>
        </p:sp>
      </p:grpSp>
      <p:grpSp>
        <p:nvGrpSpPr>
          <p:cNvPr name="Group 29" id="29"/>
          <p:cNvGrpSpPr/>
          <p:nvPr/>
        </p:nvGrpSpPr>
        <p:grpSpPr>
          <a:xfrm rot="0">
            <a:off x="6674177" y="5217592"/>
            <a:ext cx="2345690" cy="703707"/>
            <a:chOff x="0" y="0"/>
            <a:chExt cx="2743200" cy="822960"/>
          </a:xfrm>
        </p:grpSpPr>
        <p:sp>
          <p:nvSpPr>
            <p:cNvPr name="Freeform 30" id="30"/>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31" id="31"/>
            <p:cNvSpPr txBox="true"/>
            <p:nvPr/>
          </p:nvSpPr>
          <p:spPr>
            <a:xfrm>
              <a:off x="0" y="-9525"/>
              <a:ext cx="274320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32" id="32"/>
          <p:cNvGrpSpPr/>
          <p:nvPr/>
        </p:nvGrpSpPr>
        <p:grpSpPr>
          <a:xfrm rot="0">
            <a:off x="9489005" y="5217592"/>
            <a:ext cx="2814828" cy="703707"/>
            <a:chOff x="0" y="0"/>
            <a:chExt cx="3291840" cy="822960"/>
          </a:xfrm>
        </p:grpSpPr>
        <p:sp>
          <p:nvSpPr>
            <p:cNvPr name="Freeform 33" id="33"/>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34" id="34"/>
            <p:cNvSpPr txBox="true"/>
            <p:nvPr/>
          </p:nvSpPr>
          <p:spPr>
            <a:xfrm>
              <a:off x="0" y="-9525"/>
              <a:ext cx="3291840" cy="832485"/>
            </a:xfrm>
            <a:prstGeom prst="rect">
              <a:avLst/>
            </a:prstGeom>
          </p:spPr>
          <p:txBody>
            <a:bodyPr anchor="ctr" rtlCol="false" tIns="0" lIns="0" bIns="0" rIns="0"/>
            <a:lstStyle/>
            <a:p>
              <a:pPr algn="ctr">
                <a:lnSpc>
                  <a:spcPts val="2879"/>
                </a:lnSpc>
              </a:pPr>
              <a:r>
                <a:rPr lang="en-US" sz="2400">
                  <a:solidFill>
                    <a:srgbClr val="EF4444"/>
                  </a:solidFill>
                  <a:latin typeface="Arial"/>
                  <a:ea typeface="Arial"/>
                  <a:cs typeface="Arial"/>
                  <a:sym typeface="Arial"/>
                </a:rPr>
                <a:t>✗</a:t>
              </a:r>
            </a:p>
          </p:txBody>
        </p:sp>
      </p:grpSp>
      <p:grpSp>
        <p:nvGrpSpPr>
          <p:cNvPr name="Group 35" id="35"/>
          <p:cNvGrpSpPr/>
          <p:nvPr/>
        </p:nvGrpSpPr>
        <p:grpSpPr>
          <a:xfrm rot="0">
            <a:off x="1513659" y="5999489"/>
            <a:ext cx="4691380" cy="703707"/>
            <a:chOff x="0" y="0"/>
            <a:chExt cx="5486400" cy="822960"/>
          </a:xfrm>
        </p:grpSpPr>
        <p:sp>
          <p:nvSpPr>
            <p:cNvPr name="Freeform 36" id="36"/>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37" id="37"/>
            <p:cNvSpPr txBox="true"/>
            <p:nvPr/>
          </p:nvSpPr>
          <p:spPr>
            <a:xfrm>
              <a:off x="0" y="-19050"/>
              <a:ext cx="5486400" cy="842010"/>
            </a:xfrm>
            <a:prstGeom prst="rect">
              <a:avLst/>
            </a:prstGeom>
          </p:spPr>
          <p:txBody>
            <a:bodyPr anchor="ctr" rtlCol="false" tIns="0" lIns="0" bIns="0" rIns="0"/>
            <a:lstStyle/>
            <a:p>
              <a:pPr algn="l">
                <a:lnSpc>
                  <a:spcPts val="2160"/>
                </a:lnSpc>
              </a:pPr>
              <a:r>
                <a:rPr lang="en-US" sz="1800">
                  <a:solidFill>
                    <a:srgbClr val="E2E8F0"/>
                  </a:solidFill>
                  <a:latin typeface="Arial"/>
                  <a:ea typeface="Arial"/>
                  <a:cs typeface="Arial"/>
                  <a:sym typeface="Arial"/>
                </a:rPr>
                <a:t>Blood Donor Network</a:t>
              </a:r>
            </a:p>
          </p:txBody>
        </p:sp>
      </p:grpSp>
      <p:grpSp>
        <p:nvGrpSpPr>
          <p:cNvPr name="Group 38" id="38"/>
          <p:cNvGrpSpPr/>
          <p:nvPr/>
        </p:nvGrpSpPr>
        <p:grpSpPr>
          <a:xfrm rot="0">
            <a:off x="6674177" y="5999489"/>
            <a:ext cx="2345690" cy="703707"/>
            <a:chOff x="0" y="0"/>
            <a:chExt cx="2743200" cy="822960"/>
          </a:xfrm>
        </p:grpSpPr>
        <p:sp>
          <p:nvSpPr>
            <p:cNvPr name="Freeform 39" id="39"/>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40" id="40"/>
            <p:cNvSpPr txBox="true"/>
            <p:nvPr/>
          </p:nvSpPr>
          <p:spPr>
            <a:xfrm>
              <a:off x="0" y="-9525"/>
              <a:ext cx="274320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41" id="41"/>
          <p:cNvGrpSpPr/>
          <p:nvPr/>
        </p:nvGrpSpPr>
        <p:grpSpPr>
          <a:xfrm rot="0">
            <a:off x="9489005" y="5999489"/>
            <a:ext cx="2814828" cy="703707"/>
            <a:chOff x="0" y="0"/>
            <a:chExt cx="3291840" cy="822960"/>
          </a:xfrm>
        </p:grpSpPr>
        <p:sp>
          <p:nvSpPr>
            <p:cNvPr name="Freeform 42" id="42"/>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43" id="43"/>
            <p:cNvSpPr txBox="true"/>
            <p:nvPr/>
          </p:nvSpPr>
          <p:spPr>
            <a:xfrm>
              <a:off x="0" y="-9525"/>
              <a:ext cx="3291840" cy="832485"/>
            </a:xfrm>
            <a:prstGeom prst="rect">
              <a:avLst/>
            </a:prstGeom>
          </p:spPr>
          <p:txBody>
            <a:bodyPr anchor="ctr" rtlCol="false" tIns="0" lIns="0" bIns="0" rIns="0"/>
            <a:lstStyle/>
            <a:p>
              <a:pPr algn="ctr">
                <a:lnSpc>
                  <a:spcPts val="2879"/>
                </a:lnSpc>
              </a:pPr>
              <a:r>
                <a:rPr lang="en-US" sz="2400">
                  <a:solidFill>
                    <a:srgbClr val="EF4444"/>
                  </a:solidFill>
                  <a:latin typeface="Arial"/>
                  <a:ea typeface="Arial"/>
                  <a:cs typeface="Arial"/>
                  <a:sym typeface="Arial"/>
                </a:rPr>
                <a:t>✗</a:t>
              </a:r>
            </a:p>
          </p:txBody>
        </p:sp>
      </p:grpSp>
      <p:grpSp>
        <p:nvGrpSpPr>
          <p:cNvPr name="Group 44" id="44"/>
          <p:cNvGrpSpPr/>
          <p:nvPr/>
        </p:nvGrpSpPr>
        <p:grpSpPr>
          <a:xfrm rot="0">
            <a:off x="1513659" y="6781385"/>
            <a:ext cx="4691380" cy="703707"/>
            <a:chOff x="0" y="0"/>
            <a:chExt cx="5486400" cy="822960"/>
          </a:xfrm>
        </p:grpSpPr>
        <p:sp>
          <p:nvSpPr>
            <p:cNvPr name="Freeform 45" id="45"/>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46" id="46"/>
            <p:cNvSpPr txBox="true"/>
            <p:nvPr/>
          </p:nvSpPr>
          <p:spPr>
            <a:xfrm>
              <a:off x="0" y="-19050"/>
              <a:ext cx="5486400" cy="842010"/>
            </a:xfrm>
            <a:prstGeom prst="rect">
              <a:avLst/>
            </a:prstGeom>
          </p:spPr>
          <p:txBody>
            <a:bodyPr anchor="ctr" rtlCol="false" tIns="0" lIns="0" bIns="0" rIns="0"/>
            <a:lstStyle/>
            <a:p>
              <a:pPr algn="l">
                <a:lnSpc>
                  <a:spcPts val="2160"/>
                </a:lnSpc>
              </a:pPr>
              <a:r>
                <a:rPr lang="en-US" sz="1800">
                  <a:solidFill>
                    <a:srgbClr val="E2E8F0"/>
                  </a:solidFill>
                  <a:latin typeface="Arial"/>
                  <a:ea typeface="Arial"/>
                  <a:cs typeface="Arial"/>
                  <a:sym typeface="Arial"/>
                </a:rPr>
                <a:t>Emergency Ambulance Integration</a:t>
              </a:r>
            </a:p>
          </p:txBody>
        </p:sp>
      </p:grpSp>
      <p:grpSp>
        <p:nvGrpSpPr>
          <p:cNvPr name="Group 47" id="47"/>
          <p:cNvGrpSpPr/>
          <p:nvPr/>
        </p:nvGrpSpPr>
        <p:grpSpPr>
          <a:xfrm rot="0">
            <a:off x="6674177" y="6781385"/>
            <a:ext cx="2345690" cy="703707"/>
            <a:chOff x="0" y="0"/>
            <a:chExt cx="2743200" cy="822960"/>
          </a:xfrm>
        </p:grpSpPr>
        <p:sp>
          <p:nvSpPr>
            <p:cNvPr name="Freeform 48" id="48"/>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49" id="49"/>
            <p:cNvSpPr txBox="true"/>
            <p:nvPr/>
          </p:nvSpPr>
          <p:spPr>
            <a:xfrm>
              <a:off x="0" y="-9525"/>
              <a:ext cx="274320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50" id="50"/>
          <p:cNvGrpSpPr/>
          <p:nvPr/>
        </p:nvGrpSpPr>
        <p:grpSpPr>
          <a:xfrm rot="0">
            <a:off x="9489005" y="6781385"/>
            <a:ext cx="2814828" cy="703707"/>
            <a:chOff x="0" y="0"/>
            <a:chExt cx="3291840" cy="822960"/>
          </a:xfrm>
        </p:grpSpPr>
        <p:sp>
          <p:nvSpPr>
            <p:cNvPr name="Freeform 51" id="51"/>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52" id="52"/>
            <p:cNvSpPr txBox="true"/>
            <p:nvPr/>
          </p:nvSpPr>
          <p:spPr>
            <a:xfrm>
              <a:off x="0" y="-9525"/>
              <a:ext cx="3291840" cy="832485"/>
            </a:xfrm>
            <a:prstGeom prst="rect">
              <a:avLst/>
            </a:prstGeom>
          </p:spPr>
          <p:txBody>
            <a:bodyPr anchor="ctr" rtlCol="false" tIns="0" lIns="0" bIns="0" rIns="0"/>
            <a:lstStyle/>
            <a:p>
              <a:pPr algn="ctr">
                <a:lnSpc>
                  <a:spcPts val="2879"/>
                </a:lnSpc>
              </a:pPr>
              <a:r>
                <a:rPr lang="en-US" sz="2400">
                  <a:solidFill>
                    <a:srgbClr val="EF4444"/>
                  </a:solidFill>
                  <a:latin typeface="Arial"/>
                  <a:ea typeface="Arial"/>
                  <a:cs typeface="Arial"/>
                  <a:sym typeface="Arial"/>
                </a:rPr>
                <a:t>✗</a:t>
              </a:r>
            </a:p>
          </p:txBody>
        </p:sp>
      </p:grpSp>
      <p:grpSp>
        <p:nvGrpSpPr>
          <p:cNvPr name="Group 53" id="53"/>
          <p:cNvGrpSpPr/>
          <p:nvPr/>
        </p:nvGrpSpPr>
        <p:grpSpPr>
          <a:xfrm rot="0">
            <a:off x="1513659" y="7563282"/>
            <a:ext cx="4691380" cy="703707"/>
            <a:chOff x="0" y="0"/>
            <a:chExt cx="5486400" cy="822960"/>
          </a:xfrm>
        </p:grpSpPr>
        <p:sp>
          <p:nvSpPr>
            <p:cNvPr name="Freeform 54" id="54"/>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55" id="55"/>
            <p:cNvSpPr txBox="true"/>
            <p:nvPr/>
          </p:nvSpPr>
          <p:spPr>
            <a:xfrm>
              <a:off x="0" y="-19050"/>
              <a:ext cx="5486400" cy="842010"/>
            </a:xfrm>
            <a:prstGeom prst="rect">
              <a:avLst/>
            </a:prstGeom>
          </p:spPr>
          <p:txBody>
            <a:bodyPr anchor="ctr" rtlCol="false" tIns="0" lIns="0" bIns="0" rIns="0"/>
            <a:lstStyle/>
            <a:p>
              <a:pPr algn="l">
                <a:lnSpc>
                  <a:spcPts val="2160"/>
                </a:lnSpc>
              </a:pPr>
              <a:r>
                <a:rPr lang="en-US" sz="1800">
                  <a:solidFill>
                    <a:srgbClr val="E2E8F0"/>
                  </a:solidFill>
                  <a:latin typeface="Arial"/>
                  <a:ea typeface="Arial"/>
                  <a:cs typeface="Arial"/>
                  <a:sym typeface="Arial"/>
                </a:rPr>
                <a:t>Doctor Booking</a:t>
              </a:r>
            </a:p>
          </p:txBody>
        </p:sp>
      </p:grpSp>
      <p:grpSp>
        <p:nvGrpSpPr>
          <p:cNvPr name="Group 56" id="56"/>
          <p:cNvGrpSpPr/>
          <p:nvPr/>
        </p:nvGrpSpPr>
        <p:grpSpPr>
          <a:xfrm rot="0">
            <a:off x="6674177" y="7563282"/>
            <a:ext cx="2345690" cy="703707"/>
            <a:chOff x="0" y="0"/>
            <a:chExt cx="2743200" cy="822960"/>
          </a:xfrm>
        </p:grpSpPr>
        <p:sp>
          <p:nvSpPr>
            <p:cNvPr name="Freeform 57" id="57"/>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58" id="58"/>
            <p:cNvSpPr txBox="true"/>
            <p:nvPr/>
          </p:nvSpPr>
          <p:spPr>
            <a:xfrm>
              <a:off x="0" y="-9525"/>
              <a:ext cx="274320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59" id="59"/>
          <p:cNvGrpSpPr/>
          <p:nvPr/>
        </p:nvGrpSpPr>
        <p:grpSpPr>
          <a:xfrm rot="0">
            <a:off x="9489005" y="7563282"/>
            <a:ext cx="2814828" cy="703707"/>
            <a:chOff x="0" y="0"/>
            <a:chExt cx="3291840" cy="822960"/>
          </a:xfrm>
        </p:grpSpPr>
        <p:sp>
          <p:nvSpPr>
            <p:cNvPr name="Freeform 60" id="60"/>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61" id="61"/>
            <p:cNvSpPr txBox="true"/>
            <p:nvPr/>
          </p:nvSpPr>
          <p:spPr>
            <a:xfrm>
              <a:off x="0" y="-9525"/>
              <a:ext cx="329184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62" id="62"/>
          <p:cNvGrpSpPr/>
          <p:nvPr/>
        </p:nvGrpSpPr>
        <p:grpSpPr>
          <a:xfrm rot="0">
            <a:off x="1513659" y="8345178"/>
            <a:ext cx="4691380" cy="703707"/>
            <a:chOff x="0" y="0"/>
            <a:chExt cx="5486400" cy="822960"/>
          </a:xfrm>
        </p:grpSpPr>
        <p:sp>
          <p:nvSpPr>
            <p:cNvPr name="Freeform 63" id="63"/>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3">
                <a:alphaModFix amt="0"/>
              </a:blip>
              <a:stretch>
                <a:fillRect l="0" t="-79900" r="0" b="-79900"/>
              </a:stretch>
            </a:blipFill>
          </p:spPr>
        </p:sp>
        <p:sp>
          <p:nvSpPr>
            <p:cNvPr name="TextBox 64" id="64"/>
            <p:cNvSpPr txBox="true"/>
            <p:nvPr/>
          </p:nvSpPr>
          <p:spPr>
            <a:xfrm>
              <a:off x="0" y="-19050"/>
              <a:ext cx="5486400" cy="842010"/>
            </a:xfrm>
            <a:prstGeom prst="rect">
              <a:avLst/>
            </a:prstGeom>
          </p:spPr>
          <p:txBody>
            <a:bodyPr anchor="ctr" rtlCol="false" tIns="0" lIns="0" bIns="0" rIns="0"/>
            <a:lstStyle/>
            <a:p>
              <a:pPr algn="l">
                <a:lnSpc>
                  <a:spcPts val="2160"/>
                </a:lnSpc>
              </a:pPr>
              <a:r>
                <a:rPr lang="en-US" sz="1800">
                  <a:solidFill>
                    <a:srgbClr val="E2E8F0"/>
                  </a:solidFill>
                  <a:latin typeface="Arial"/>
                  <a:ea typeface="Arial"/>
                  <a:cs typeface="Arial"/>
                  <a:sym typeface="Arial"/>
                </a:rPr>
                <a:t>Lab Booking</a:t>
              </a:r>
            </a:p>
          </p:txBody>
        </p:sp>
      </p:grpSp>
      <p:grpSp>
        <p:nvGrpSpPr>
          <p:cNvPr name="Group 65" id="65"/>
          <p:cNvGrpSpPr/>
          <p:nvPr/>
        </p:nvGrpSpPr>
        <p:grpSpPr>
          <a:xfrm rot="0">
            <a:off x="6674177" y="8345178"/>
            <a:ext cx="2345690" cy="703707"/>
            <a:chOff x="0" y="0"/>
            <a:chExt cx="2743200" cy="822960"/>
          </a:xfrm>
        </p:grpSpPr>
        <p:sp>
          <p:nvSpPr>
            <p:cNvPr name="Freeform 66" id="66"/>
            <p:cNvSpPr/>
            <p:nvPr/>
          </p:nvSpPr>
          <p:spPr>
            <a:xfrm flipH="false" flipV="false" rot="0">
              <a:off x="0" y="0"/>
              <a:ext cx="2743200" cy="822960"/>
            </a:xfrm>
            <a:custGeom>
              <a:avLst/>
              <a:gdLst/>
              <a:ahLst/>
              <a:cxnLst/>
              <a:rect r="r" b="b" t="t" l="l"/>
              <a:pathLst>
                <a:path h="822960" w="2743200">
                  <a:moveTo>
                    <a:pt x="0" y="0"/>
                  </a:moveTo>
                  <a:lnTo>
                    <a:pt x="2743200" y="0"/>
                  </a:lnTo>
                  <a:lnTo>
                    <a:pt x="2743200" y="822960"/>
                  </a:lnTo>
                  <a:lnTo>
                    <a:pt x="0" y="822960"/>
                  </a:lnTo>
                  <a:close/>
                </a:path>
              </a:pathLst>
            </a:custGeom>
            <a:blipFill>
              <a:blip r:embed="rId3">
                <a:alphaModFix amt="0"/>
              </a:blip>
              <a:stretch>
                <a:fillRect l="0" t="-14950" r="0" b="-14950"/>
              </a:stretch>
            </a:blipFill>
          </p:spPr>
        </p:sp>
        <p:sp>
          <p:nvSpPr>
            <p:cNvPr name="TextBox 67" id="67"/>
            <p:cNvSpPr txBox="true"/>
            <p:nvPr/>
          </p:nvSpPr>
          <p:spPr>
            <a:xfrm>
              <a:off x="0" y="-9525"/>
              <a:ext cx="274320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grpSp>
        <p:nvGrpSpPr>
          <p:cNvPr name="Group 68" id="68"/>
          <p:cNvGrpSpPr/>
          <p:nvPr/>
        </p:nvGrpSpPr>
        <p:grpSpPr>
          <a:xfrm rot="0">
            <a:off x="9489005" y="8345178"/>
            <a:ext cx="2814828" cy="703707"/>
            <a:chOff x="0" y="0"/>
            <a:chExt cx="3291840" cy="822960"/>
          </a:xfrm>
        </p:grpSpPr>
        <p:sp>
          <p:nvSpPr>
            <p:cNvPr name="Freeform 69" id="69"/>
            <p:cNvSpPr/>
            <p:nvPr/>
          </p:nvSpPr>
          <p:spPr>
            <a:xfrm flipH="false" flipV="false" rot="0">
              <a:off x="0" y="0"/>
              <a:ext cx="3291840" cy="822960"/>
            </a:xfrm>
            <a:custGeom>
              <a:avLst/>
              <a:gdLst/>
              <a:ahLst/>
              <a:cxnLst/>
              <a:rect r="r" b="b" t="t" l="l"/>
              <a:pathLst>
                <a:path h="822960" w="3291840">
                  <a:moveTo>
                    <a:pt x="0" y="0"/>
                  </a:moveTo>
                  <a:lnTo>
                    <a:pt x="3291840" y="0"/>
                  </a:lnTo>
                  <a:lnTo>
                    <a:pt x="3291840" y="822960"/>
                  </a:lnTo>
                  <a:lnTo>
                    <a:pt x="0" y="822960"/>
                  </a:lnTo>
                  <a:close/>
                </a:path>
              </a:pathLst>
            </a:custGeom>
            <a:blipFill>
              <a:blip r:embed="rId3">
                <a:alphaModFix amt="0"/>
              </a:blip>
              <a:stretch>
                <a:fillRect l="0" t="-27940" r="0" b="-27940"/>
              </a:stretch>
            </a:blipFill>
          </p:spPr>
        </p:sp>
        <p:sp>
          <p:nvSpPr>
            <p:cNvPr name="TextBox 70" id="70"/>
            <p:cNvSpPr txBox="true"/>
            <p:nvPr/>
          </p:nvSpPr>
          <p:spPr>
            <a:xfrm>
              <a:off x="0" y="-9525"/>
              <a:ext cx="3291840" cy="832485"/>
            </a:xfrm>
            <a:prstGeom prst="rect">
              <a:avLst/>
            </a:prstGeom>
          </p:spPr>
          <p:txBody>
            <a:bodyPr anchor="ctr" rtlCol="false" tIns="0" lIns="0" bIns="0" rIns="0"/>
            <a:lstStyle/>
            <a:p>
              <a:pPr algn="ctr">
                <a:lnSpc>
                  <a:spcPts val="2879"/>
                </a:lnSpc>
              </a:pPr>
              <a:r>
                <a:rPr lang="en-US" sz="2400">
                  <a:solidFill>
                    <a:srgbClr val="14B8A6"/>
                  </a:solidFill>
                  <a:latin typeface="Arial"/>
                  <a:ea typeface="Arial"/>
                  <a:cs typeface="Arial"/>
                  <a:sym typeface="Arial"/>
                </a:rPr>
                <a:t>✓</a:t>
              </a:r>
            </a:p>
          </p:txBody>
        </p:sp>
      </p:grpSp>
      <p:sp>
        <p:nvSpPr>
          <p:cNvPr name="Freeform 71" id="71"/>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355924" y="2044640"/>
            <a:ext cx="9601200" cy="822960"/>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Roadmap</a:t>
              </a:r>
            </a:p>
          </p:txBody>
        </p:sp>
      </p:grpSp>
      <p:grpSp>
        <p:nvGrpSpPr>
          <p:cNvPr name="Group 5" id="5"/>
          <p:cNvGrpSpPr/>
          <p:nvPr/>
        </p:nvGrpSpPr>
        <p:grpSpPr>
          <a:xfrm rot="0">
            <a:off x="3502943" y="4707022"/>
            <a:ext cx="11298159" cy="66853"/>
            <a:chOff x="0" y="0"/>
            <a:chExt cx="12877800" cy="76200"/>
          </a:xfrm>
        </p:grpSpPr>
        <p:sp>
          <p:nvSpPr>
            <p:cNvPr name="Freeform 6" id="6"/>
            <p:cNvSpPr/>
            <p:nvPr/>
          </p:nvSpPr>
          <p:spPr>
            <a:xfrm flipH="false" flipV="false" rot="0">
              <a:off x="38100" y="0"/>
              <a:ext cx="12801600" cy="76200"/>
            </a:xfrm>
            <a:custGeom>
              <a:avLst/>
              <a:gdLst/>
              <a:ahLst/>
              <a:cxnLst/>
              <a:rect r="r" b="b" t="t" l="l"/>
              <a:pathLst>
                <a:path h="76200" w="12801600">
                  <a:moveTo>
                    <a:pt x="0" y="0"/>
                  </a:moveTo>
                  <a:lnTo>
                    <a:pt x="12801600" y="0"/>
                  </a:lnTo>
                  <a:lnTo>
                    <a:pt x="12801600" y="76200"/>
                  </a:lnTo>
                  <a:lnTo>
                    <a:pt x="0" y="76200"/>
                  </a:lnTo>
                  <a:close/>
                </a:path>
              </a:pathLst>
            </a:custGeom>
            <a:solidFill>
              <a:srgbClr val="1A2744"/>
            </a:solidFill>
          </p:spPr>
        </p:sp>
      </p:grpSp>
      <p:grpSp>
        <p:nvGrpSpPr>
          <p:cNvPr name="Group 7" id="7"/>
          <p:cNvGrpSpPr/>
          <p:nvPr/>
        </p:nvGrpSpPr>
        <p:grpSpPr>
          <a:xfrm rot="0">
            <a:off x="3502943" y="4707022"/>
            <a:ext cx="2874680" cy="66853"/>
            <a:chOff x="0" y="0"/>
            <a:chExt cx="3276600" cy="76200"/>
          </a:xfrm>
        </p:grpSpPr>
        <p:sp>
          <p:nvSpPr>
            <p:cNvPr name="Freeform 8" id="8"/>
            <p:cNvSpPr/>
            <p:nvPr/>
          </p:nvSpPr>
          <p:spPr>
            <a:xfrm flipH="false" flipV="false" rot="0">
              <a:off x="38100" y="0"/>
              <a:ext cx="3200400" cy="76200"/>
            </a:xfrm>
            <a:custGeom>
              <a:avLst/>
              <a:gdLst/>
              <a:ahLst/>
              <a:cxnLst/>
              <a:rect r="r" b="b" t="t" l="l"/>
              <a:pathLst>
                <a:path h="76200" w="3200400">
                  <a:moveTo>
                    <a:pt x="0" y="0"/>
                  </a:moveTo>
                  <a:lnTo>
                    <a:pt x="3200400" y="0"/>
                  </a:lnTo>
                  <a:lnTo>
                    <a:pt x="3200400" y="76200"/>
                  </a:lnTo>
                  <a:lnTo>
                    <a:pt x="0" y="76200"/>
                  </a:lnTo>
                  <a:close/>
                </a:path>
              </a:pathLst>
            </a:custGeom>
            <a:solidFill>
              <a:srgbClr val="14B8A6"/>
            </a:solidFill>
          </p:spPr>
        </p:sp>
      </p:grpSp>
      <p:grpSp>
        <p:nvGrpSpPr>
          <p:cNvPr name="Group 9" id="9"/>
          <p:cNvGrpSpPr/>
          <p:nvPr/>
        </p:nvGrpSpPr>
        <p:grpSpPr>
          <a:xfrm rot="0">
            <a:off x="2958091" y="4162170"/>
            <a:ext cx="1156557" cy="1156557"/>
            <a:chOff x="0" y="0"/>
            <a:chExt cx="1318260" cy="1318260"/>
          </a:xfrm>
        </p:grpSpPr>
        <p:sp>
          <p:nvSpPr>
            <p:cNvPr name="Freeform 10" id="10"/>
            <p:cNvSpPr/>
            <p:nvPr/>
          </p:nvSpPr>
          <p:spPr>
            <a:xfrm flipH="false" flipV="false" rot="0">
              <a:off x="19050" y="1905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14B8A6"/>
            </a:solidFill>
          </p:spPr>
        </p:sp>
        <p:sp>
          <p:nvSpPr>
            <p:cNvPr name="Freeform 11" id="11"/>
            <p:cNvSpPr/>
            <p:nvPr/>
          </p:nvSpPr>
          <p:spPr>
            <a:xfrm flipH="false" flipV="false" rot="0">
              <a:off x="0" y="0"/>
              <a:ext cx="1318260" cy="1318260"/>
            </a:xfrm>
            <a:custGeom>
              <a:avLst/>
              <a:gdLst/>
              <a:ahLst/>
              <a:cxnLst/>
              <a:rect r="r" b="b" t="t" l="l"/>
              <a:pathLst>
                <a:path h="1318260" w="1318260">
                  <a:moveTo>
                    <a:pt x="0" y="659130"/>
                  </a:moveTo>
                  <a:cubicBezTo>
                    <a:pt x="0" y="295148"/>
                    <a:pt x="295148" y="0"/>
                    <a:pt x="659130" y="0"/>
                  </a:cubicBezTo>
                  <a:lnTo>
                    <a:pt x="659130" y="19050"/>
                  </a:lnTo>
                  <a:lnTo>
                    <a:pt x="659130" y="0"/>
                  </a:lnTo>
                  <a:cubicBezTo>
                    <a:pt x="1023112" y="0"/>
                    <a:pt x="1318260" y="295148"/>
                    <a:pt x="1318260" y="659130"/>
                  </a:cubicBezTo>
                  <a:lnTo>
                    <a:pt x="1299210" y="659130"/>
                  </a:lnTo>
                  <a:lnTo>
                    <a:pt x="1318260" y="659130"/>
                  </a:lnTo>
                  <a:cubicBezTo>
                    <a:pt x="1318260" y="1023112"/>
                    <a:pt x="1023112" y="1318260"/>
                    <a:pt x="659130" y="1318260"/>
                  </a:cubicBezTo>
                  <a:lnTo>
                    <a:pt x="659130" y="1299210"/>
                  </a:lnTo>
                  <a:lnTo>
                    <a:pt x="659130" y="1318260"/>
                  </a:lnTo>
                  <a:cubicBezTo>
                    <a:pt x="295148" y="1318260"/>
                    <a:pt x="0" y="1023112"/>
                    <a:pt x="0" y="659130"/>
                  </a:cubicBezTo>
                  <a:lnTo>
                    <a:pt x="19050" y="659130"/>
                  </a:lnTo>
                  <a:lnTo>
                    <a:pt x="38100" y="659130"/>
                  </a:lnTo>
                  <a:lnTo>
                    <a:pt x="19050" y="659130"/>
                  </a:lnTo>
                  <a:lnTo>
                    <a:pt x="0" y="659130"/>
                  </a:lnTo>
                  <a:moveTo>
                    <a:pt x="38100" y="659130"/>
                  </a:moveTo>
                  <a:cubicBezTo>
                    <a:pt x="38100" y="669671"/>
                    <a:pt x="29591" y="678180"/>
                    <a:pt x="19050" y="678180"/>
                  </a:cubicBezTo>
                  <a:cubicBezTo>
                    <a:pt x="8509" y="678180"/>
                    <a:pt x="0" y="669671"/>
                    <a:pt x="0" y="659130"/>
                  </a:cubicBezTo>
                  <a:cubicBezTo>
                    <a:pt x="0" y="648589"/>
                    <a:pt x="8509" y="640080"/>
                    <a:pt x="19050" y="640080"/>
                  </a:cubicBezTo>
                  <a:cubicBezTo>
                    <a:pt x="29591" y="640080"/>
                    <a:pt x="38100" y="648589"/>
                    <a:pt x="38100" y="659130"/>
                  </a:cubicBezTo>
                  <a:cubicBezTo>
                    <a:pt x="38100" y="1002157"/>
                    <a:pt x="316103" y="1280160"/>
                    <a:pt x="659130" y="1280160"/>
                  </a:cubicBezTo>
                  <a:cubicBezTo>
                    <a:pt x="1002157" y="1280160"/>
                    <a:pt x="1280160" y="1002157"/>
                    <a:pt x="1280160" y="659130"/>
                  </a:cubicBezTo>
                  <a:cubicBezTo>
                    <a:pt x="1280160" y="316103"/>
                    <a:pt x="1002157" y="38100"/>
                    <a:pt x="659130" y="38100"/>
                  </a:cubicBezTo>
                  <a:lnTo>
                    <a:pt x="659130" y="19050"/>
                  </a:lnTo>
                  <a:lnTo>
                    <a:pt x="659130" y="38100"/>
                  </a:lnTo>
                  <a:cubicBezTo>
                    <a:pt x="316103" y="38100"/>
                    <a:pt x="38100" y="316103"/>
                    <a:pt x="38100" y="659130"/>
                  </a:cubicBezTo>
                  <a:close/>
                </a:path>
              </a:pathLst>
            </a:custGeom>
            <a:solidFill>
              <a:srgbClr val="14B8A6"/>
            </a:solidFill>
          </p:spPr>
        </p:sp>
      </p:grpSp>
      <p:grpSp>
        <p:nvGrpSpPr>
          <p:cNvPr name="Group 12" id="12"/>
          <p:cNvGrpSpPr/>
          <p:nvPr/>
        </p:nvGrpSpPr>
        <p:grpSpPr>
          <a:xfrm rot="0">
            <a:off x="2252791" y="5703132"/>
            <a:ext cx="2567156" cy="802236"/>
            <a:chOff x="0" y="0"/>
            <a:chExt cx="2926080" cy="914400"/>
          </a:xfrm>
        </p:grpSpPr>
        <p:sp>
          <p:nvSpPr>
            <p:cNvPr name="Freeform 13" id="13"/>
            <p:cNvSpPr/>
            <p:nvPr/>
          </p:nvSpPr>
          <p:spPr>
            <a:xfrm flipH="false" flipV="false" rot="0">
              <a:off x="0" y="0"/>
              <a:ext cx="2926080" cy="914400"/>
            </a:xfrm>
            <a:custGeom>
              <a:avLst/>
              <a:gdLst/>
              <a:ahLst/>
              <a:cxnLst/>
              <a:rect r="r" b="b" t="t" l="l"/>
              <a:pathLst>
                <a:path h="914400" w="2926080">
                  <a:moveTo>
                    <a:pt x="0" y="0"/>
                  </a:moveTo>
                  <a:lnTo>
                    <a:pt x="2926080" y="0"/>
                  </a:lnTo>
                  <a:lnTo>
                    <a:pt x="2926080" y="914400"/>
                  </a:lnTo>
                  <a:lnTo>
                    <a:pt x="0" y="914400"/>
                  </a:lnTo>
                  <a:close/>
                </a:path>
              </a:pathLst>
            </a:custGeom>
            <a:blipFill>
              <a:blip r:embed="rId3">
                <a:alphaModFix amt="0"/>
              </a:blip>
              <a:stretch>
                <a:fillRect l="0" t="-12352" r="0" b="-12352"/>
              </a:stretch>
            </a:blipFill>
          </p:spPr>
        </p:sp>
        <p:sp>
          <p:nvSpPr>
            <p:cNvPr name="TextBox 14" id="14"/>
            <p:cNvSpPr txBox="true"/>
            <p:nvPr/>
          </p:nvSpPr>
          <p:spPr>
            <a:xfrm>
              <a:off x="0" y="-9525"/>
              <a:ext cx="2926080" cy="923925"/>
            </a:xfrm>
            <a:prstGeom prst="rect">
              <a:avLst/>
            </a:prstGeom>
          </p:spPr>
          <p:txBody>
            <a:bodyPr anchor="ctr" rtlCol="false" tIns="0" lIns="0" bIns="0" rIns="0"/>
            <a:lstStyle/>
            <a:p>
              <a:pPr algn="ctr">
                <a:lnSpc>
                  <a:spcPts val="2520"/>
                </a:lnSpc>
              </a:pPr>
              <a:r>
                <a:rPr lang="en-US" sz="2100" b="true">
                  <a:solidFill>
                    <a:srgbClr val="E2E8F0"/>
                  </a:solidFill>
                  <a:latin typeface="Arial Bold"/>
                  <a:ea typeface="Arial Bold"/>
                  <a:cs typeface="Arial Bold"/>
                  <a:sym typeface="Arial Bold"/>
                </a:rPr>
                <a:t>Prototype</a:t>
              </a:r>
            </a:p>
          </p:txBody>
        </p:sp>
      </p:grpSp>
      <p:grpSp>
        <p:nvGrpSpPr>
          <p:cNvPr name="Group 15" id="15"/>
          <p:cNvGrpSpPr/>
          <p:nvPr/>
        </p:nvGrpSpPr>
        <p:grpSpPr>
          <a:xfrm rot="0">
            <a:off x="2252791" y="6344921"/>
            <a:ext cx="2567156" cy="641789"/>
            <a:chOff x="0" y="0"/>
            <a:chExt cx="2926080" cy="731520"/>
          </a:xfrm>
        </p:grpSpPr>
        <p:sp>
          <p:nvSpPr>
            <p:cNvPr name="Freeform 16" id="16"/>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3">
                <a:alphaModFix amt="0"/>
              </a:blip>
              <a:stretch>
                <a:fillRect l="0" t="-27940" r="0" b="-27940"/>
              </a:stretch>
            </a:blipFill>
          </p:spPr>
        </p:sp>
        <p:sp>
          <p:nvSpPr>
            <p:cNvPr name="TextBox 17" id="17"/>
            <p:cNvSpPr txBox="true"/>
            <p:nvPr/>
          </p:nvSpPr>
          <p:spPr>
            <a:xfrm>
              <a:off x="0" y="-19050"/>
              <a:ext cx="2926080" cy="750570"/>
            </a:xfrm>
            <a:prstGeom prst="rect">
              <a:avLst/>
            </a:prstGeom>
          </p:spPr>
          <p:txBody>
            <a:bodyPr anchor="ctr" rtlCol="false" tIns="0" lIns="0" bIns="0" rIns="0"/>
            <a:lstStyle/>
            <a:p>
              <a:pPr algn="ctr">
                <a:lnSpc>
                  <a:spcPts val="2160"/>
                </a:lnSpc>
              </a:pPr>
              <a:r>
                <a:rPr lang="en-US" sz="1800">
                  <a:solidFill>
                    <a:srgbClr val="14B8A6"/>
                  </a:solidFill>
                  <a:latin typeface="Arial"/>
                  <a:ea typeface="Arial"/>
                  <a:cs typeface="Arial"/>
                  <a:sym typeface="Arial"/>
                </a:rPr>
                <a:t>Completed</a:t>
              </a:r>
            </a:p>
          </p:txBody>
        </p:sp>
      </p:grpSp>
      <p:grpSp>
        <p:nvGrpSpPr>
          <p:cNvPr name="Group 18" id="18"/>
          <p:cNvGrpSpPr/>
          <p:nvPr/>
        </p:nvGrpSpPr>
        <p:grpSpPr>
          <a:xfrm rot="0">
            <a:off x="6696511" y="4162170"/>
            <a:ext cx="1156557" cy="1156557"/>
            <a:chOff x="0" y="0"/>
            <a:chExt cx="1318260" cy="1318260"/>
          </a:xfrm>
        </p:grpSpPr>
        <p:sp>
          <p:nvSpPr>
            <p:cNvPr name="Freeform 19" id="19"/>
            <p:cNvSpPr/>
            <p:nvPr/>
          </p:nvSpPr>
          <p:spPr>
            <a:xfrm flipH="false" flipV="false" rot="0">
              <a:off x="19050" y="1905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1A2744"/>
            </a:solidFill>
          </p:spPr>
        </p:sp>
        <p:sp>
          <p:nvSpPr>
            <p:cNvPr name="Freeform 20" id="20"/>
            <p:cNvSpPr/>
            <p:nvPr/>
          </p:nvSpPr>
          <p:spPr>
            <a:xfrm flipH="false" flipV="false" rot="0">
              <a:off x="0" y="0"/>
              <a:ext cx="1318260" cy="1318260"/>
            </a:xfrm>
            <a:custGeom>
              <a:avLst/>
              <a:gdLst/>
              <a:ahLst/>
              <a:cxnLst/>
              <a:rect r="r" b="b" t="t" l="l"/>
              <a:pathLst>
                <a:path h="1318260" w="1318260">
                  <a:moveTo>
                    <a:pt x="0" y="659130"/>
                  </a:moveTo>
                  <a:cubicBezTo>
                    <a:pt x="0" y="295148"/>
                    <a:pt x="295148" y="0"/>
                    <a:pt x="659130" y="0"/>
                  </a:cubicBezTo>
                  <a:lnTo>
                    <a:pt x="659130" y="19050"/>
                  </a:lnTo>
                  <a:lnTo>
                    <a:pt x="659130" y="0"/>
                  </a:lnTo>
                  <a:cubicBezTo>
                    <a:pt x="1023112" y="0"/>
                    <a:pt x="1318260" y="295148"/>
                    <a:pt x="1318260" y="659130"/>
                  </a:cubicBezTo>
                  <a:lnTo>
                    <a:pt x="1299210" y="659130"/>
                  </a:lnTo>
                  <a:lnTo>
                    <a:pt x="1318260" y="659130"/>
                  </a:lnTo>
                  <a:cubicBezTo>
                    <a:pt x="1318260" y="1023112"/>
                    <a:pt x="1023112" y="1318260"/>
                    <a:pt x="659130" y="1318260"/>
                  </a:cubicBezTo>
                  <a:lnTo>
                    <a:pt x="659130" y="1299210"/>
                  </a:lnTo>
                  <a:lnTo>
                    <a:pt x="659130" y="1318260"/>
                  </a:lnTo>
                  <a:cubicBezTo>
                    <a:pt x="295148" y="1318260"/>
                    <a:pt x="0" y="1023112"/>
                    <a:pt x="0" y="659130"/>
                  </a:cubicBezTo>
                  <a:lnTo>
                    <a:pt x="19050" y="659130"/>
                  </a:lnTo>
                  <a:lnTo>
                    <a:pt x="38100" y="659130"/>
                  </a:lnTo>
                  <a:lnTo>
                    <a:pt x="19050" y="659130"/>
                  </a:lnTo>
                  <a:lnTo>
                    <a:pt x="0" y="659130"/>
                  </a:lnTo>
                  <a:moveTo>
                    <a:pt x="38100" y="659130"/>
                  </a:moveTo>
                  <a:cubicBezTo>
                    <a:pt x="38100" y="669671"/>
                    <a:pt x="29591" y="678180"/>
                    <a:pt x="19050" y="678180"/>
                  </a:cubicBezTo>
                  <a:cubicBezTo>
                    <a:pt x="8509" y="678180"/>
                    <a:pt x="0" y="669671"/>
                    <a:pt x="0" y="659130"/>
                  </a:cubicBezTo>
                  <a:cubicBezTo>
                    <a:pt x="0" y="648589"/>
                    <a:pt x="8509" y="640080"/>
                    <a:pt x="19050" y="640080"/>
                  </a:cubicBezTo>
                  <a:cubicBezTo>
                    <a:pt x="29591" y="640080"/>
                    <a:pt x="38100" y="648589"/>
                    <a:pt x="38100" y="659130"/>
                  </a:cubicBezTo>
                  <a:cubicBezTo>
                    <a:pt x="38100" y="1002157"/>
                    <a:pt x="316103" y="1280160"/>
                    <a:pt x="659130" y="1280160"/>
                  </a:cubicBezTo>
                  <a:cubicBezTo>
                    <a:pt x="1002157" y="1280160"/>
                    <a:pt x="1280160" y="1002157"/>
                    <a:pt x="1280160" y="659130"/>
                  </a:cubicBezTo>
                  <a:cubicBezTo>
                    <a:pt x="1280160" y="316103"/>
                    <a:pt x="1002157" y="38100"/>
                    <a:pt x="659130" y="38100"/>
                  </a:cubicBezTo>
                  <a:lnTo>
                    <a:pt x="659130" y="19050"/>
                  </a:lnTo>
                  <a:lnTo>
                    <a:pt x="659130" y="38100"/>
                  </a:lnTo>
                  <a:cubicBezTo>
                    <a:pt x="316103" y="38100"/>
                    <a:pt x="38100" y="316103"/>
                    <a:pt x="38100" y="659130"/>
                  </a:cubicBezTo>
                  <a:close/>
                </a:path>
              </a:pathLst>
            </a:custGeom>
            <a:solidFill>
              <a:srgbClr val="1E3048"/>
            </a:solidFill>
          </p:spPr>
        </p:sp>
      </p:grpSp>
      <p:grpSp>
        <p:nvGrpSpPr>
          <p:cNvPr name="Group 21" id="21"/>
          <p:cNvGrpSpPr/>
          <p:nvPr/>
        </p:nvGrpSpPr>
        <p:grpSpPr>
          <a:xfrm rot="0">
            <a:off x="5991212" y="5703132"/>
            <a:ext cx="2567156" cy="802236"/>
            <a:chOff x="0" y="0"/>
            <a:chExt cx="2926080" cy="914400"/>
          </a:xfrm>
        </p:grpSpPr>
        <p:sp>
          <p:nvSpPr>
            <p:cNvPr name="Freeform 22" id="22"/>
            <p:cNvSpPr/>
            <p:nvPr/>
          </p:nvSpPr>
          <p:spPr>
            <a:xfrm flipH="false" flipV="false" rot="0">
              <a:off x="0" y="0"/>
              <a:ext cx="2926080" cy="914400"/>
            </a:xfrm>
            <a:custGeom>
              <a:avLst/>
              <a:gdLst/>
              <a:ahLst/>
              <a:cxnLst/>
              <a:rect r="r" b="b" t="t" l="l"/>
              <a:pathLst>
                <a:path h="914400" w="2926080">
                  <a:moveTo>
                    <a:pt x="0" y="0"/>
                  </a:moveTo>
                  <a:lnTo>
                    <a:pt x="2926080" y="0"/>
                  </a:lnTo>
                  <a:lnTo>
                    <a:pt x="2926080" y="914400"/>
                  </a:lnTo>
                  <a:lnTo>
                    <a:pt x="0" y="914400"/>
                  </a:lnTo>
                  <a:close/>
                </a:path>
              </a:pathLst>
            </a:custGeom>
            <a:blipFill>
              <a:blip r:embed="rId3">
                <a:alphaModFix amt="0"/>
              </a:blip>
              <a:stretch>
                <a:fillRect l="0" t="-12352" r="0" b="-12352"/>
              </a:stretch>
            </a:blipFill>
          </p:spPr>
        </p:sp>
        <p:sp>
          <p:nvSpPr>
            <p:cNvPr name="TextBox 23" id="23"/>
            <p:cNvSpPr txBox="true"/>
            <p:nvPr/>
          </p:nvSpPr>
          <p:spPr>
            <a:xfrm>
              <a:off x="0" y="-9525"/>
              <a:ext cx="2926080" cy="923925"/>
            </a:xfrm>
            <a:prstGeom prst="rect">
              <a:avLst/>
            </a:prstGeom>
          </p:spPr>
          <p:txBody>
            <a:bodyPr anchor="ctr" rtlCol="false" tIns="0" lIns="0" bIns="0" rIns="0"/>
            <a:lstStyle/>
            <a:p>
              <a:pPr algn="ctr">
                <a:lnSpc>
                  <a:spcPts val="2520"/>
                </a:lnSpc>
              </a:pPr>
              <a:r>
                <a:rPr lang="en-US" sz="2100" b="true">
                  <a:solidFill>
                    <a:srgbClr val="E2E8F0"/>
                  </a:solidFill>
                  <a:latin typeface="Arial Bold"/>
                  <a:ea typeface="Arial Bold"/>
                  <a:cs typeface="Arial Bold"/>
                  <a:sym typeface="Arial Bold"/>
                </a:rPr>
                <a:t>MVP Launch</a:t>
              </a:r>
            </a:p>
          </p:txBody>
        </p:sp>
      </p:grpSp>
      <p:grpSp>
        <p:nvGrpSpPr>
          <p:cNvPr name="Group 24" id="24"/>
          <p:cNvGrpSpPr/>
          <p:nvPr/>
        </p:nvGrpSpPr>
        <p:grpSpPr>
          <a:xfrm rot="0">
            <a:off x="5991212" y="6344921"/>
            <a:ext cx="2567156" cy="641789"/>
            <a:chOff x="0" y="0"/>
            <a:chExt cx="2926080" cy="731520"/>
          </a:xfrm>
        </p:grpSpPr>
        <p:sp>
          <p:nvSpPr>
            <p:cNvPr name="Freeform 25" id="25"/>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3">
                <a:alphaModFix amt="0"/>
              </a:blip>
              <a:stretch>
                <a:fillRect l="0" t="-27940" r="0" b="-27940"/>
              </a:stretch>
            </a:blipFill>
          </p:spPr>
        </p:sp>
        <p:sp>
          <p:nvSpPr>
            <p:cNvPr name="TextBox 26" id="26"/>
            <p:cNvSpPr txBox="true"/>
            <p:nvPr/>
          </p:nvSpPr>
          <p:spPr>
            <a:xfrm>
              <a:off x="0" y="-19050"/>
              <a:ext cx="292608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3 months</a:t>
              </a:r>
            </a:p>
          </p:txBody>
        </p:sp>
      </p:grpSp>
      <p:grpSp>
        <p:nvGrpSpPr>
          <p:cNvPr name="Group 27" id="27"/>
          <p:cNvGrpSpPr/>
          <p:nvPr/>
        </p:nvGrpSpPr>
        <p:grpSpPr>
          <a:xfrm rot="0">
            <a:off x="10434932" y="4162170"/>
            <a:ext cx="1156557" cy="1156557"/>
            <a:chOff x="0" y="0"/>
            <a:chExt cx="1318260" cy="1318260"/>
          </a:xfrm>
        </p:grpSpPr>
        <p:sp>
          <p:nvSpPr>
            <p:cNvPr name="Freeform 28" id="28"/>
            <p:cNvSpPr/>
            <p:nvPr/>
          </p:nvSpPr>
          <p:spPr>
            <a:xfrm flipH="false" flipV="false" rot="0">
              <a:off x="19050" y="1905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1A2744"/>
            </a:solidFill>
          </p:spPr>
        </p:sp>
        <p:sp>
          <p:nvSpPr>
            <p:cNvPr name="Freeform 29" id="29"/>
            <p:cNvSpPr/>
            <p:nvPr/>
          </p:nvSpPr>
          <p:spPr>
            <a:xfrm flipH="false" flipV="false" rot="0">
              <a:off x="0" y="0"/>
              <a:ext cx="1318260" cy="1318260"/>
            </a:xfrm>
            <a:custGeom>
              <a:avLst/>
              <a:gdLst/>
              <a:ahLst/>
              <a:cxnLst/>
              <a:rect r="r" b="b" t="t" l="l"/>
              <a:pathLst>
                <a:path h="1318260" w="1318260">
                  <a:moveTo>
                    <a:pt x="0" y="659130"/>
                  </a:moveTo>
                  <a:cubicBezTo>
                    <a:pt x="0" y="295148"/>
                    <a:pt x="295148" y="0"/>
                    <a:pt x="659130" y="0"/>
                  </a:cubicBezTo>
                  <a:lnTo>
                    <a:pt x="659130" y="19050"/>
                  </a:lnTo>
                  <a:lnTo>
                    <a:pt x="659130" y="0"/>
                  </a:lnTo>
                  <a:cubicBezTo>
                    <a:pt x="1023112" y="0"/>
                    <a:pt x="1318260" y="295148"/>
                    <a:pt x="1318260" y="659130"/>
                  </a:cubicBezTo>
                  <a:lnTo>
                    <a:pt x="1299210" y="659130"/>
                  </a:lnTo>
                  <a:lnTo>
                    <a:pt x="1318260" y="659130"/>
                  </a:lnTo>
                  <a:cubicBezTo>
                    <a:pt x="1318260" y="1023112"/>
                    <a:pt x="1023112" y="1318260"/>
                    <a:pt x="659130" y="1318260"/>
                  </a:cubicBezTo>
                  <a:lnTo>
                    <a:pt x="659130" y="1299210"/>
                  </a:lnTo>
                  <a:lnTo>
                    <a:pt x="659130" y="1318260"/>
                  </a:lnTo>
                  <a:cubicBezTo>
                    <a:pt x="295148" y="1318260"/>
                    <a:pt x="0" y="1023112"/>
                    <a:pt x="0" y="659130"/>
                  </a:cubicBezTo>
                  <a:lnTo>
                    <a:pt x="19050" y="659130"/>
                  </a:lnTo>
                  <a:lnTo>
                    <a:pt x="38100" y="659130"/>
                  </a:lnTo>
                  <a:lnTo>
                    <a:pt x="19050" y="659130"/>
                  </a:lnTo>
                  <a:lnTo>
                    <a:pt x="0" y="659130"/>
                  </a:lnTo>
                  <a:moveTo>
                    <a:pt x="38100" y="659130"/>
                  </a:moveTo>
                  <a:cubicBezTo>
                    <a:pt x="38100" y="669671"/>
                    <a:pt x="29591" y="678180"/>
                    <a:pt x="19050" y="678180"/>
                  </a:cubicBezTo>
                  <a:cubicBezTo>
                    <a:pt x="8509" y="678180"/>
                    <a:pt x="0" y="669671"/>
                    <a:pt x="0" y="659130"/>
                  </a:cubicBezTo>
                  <a:cubicBezTo>
                    <a:pt x="0" y="648589"/>
                    <a:pt x="8509" y="640080"/>
                    <a:pt x="19050" y="640080"/>
                  </a:cubicBezTo>
                  <a:cubicBezTo>
                    <a:pt x="29591" y="640080"/>
                    <a:pt x="38100" y="648589"/>
                    <a:pt x="38100" y="659130"/>
                  </a:cubicBezTo>
                  <a:cubicBezTo>
                    <a:pt x="38100" y="1002157"/>
                    <a:pt x="316103" y="1280160"/>
                    <a:pt x="659130" y="1280160"/>
                  </a:cubicBezTo>
                  <a:cubicBezTo>
                    <a:pt x="1002157" y="1280160"/>
                    <a:pt x="1280160" y="1002157"/>
                    <a:pt x="1280160" y="659130"/>
                  </a:cubicBezTo>
                  <a:cubicBezTo>
                    <a:pt x="1280160" y="316103"/>
                    <a:pt x="1002157" y="38100"/>
                    <a:pt x="659130" y="38100"/>
                  </a:cubicBezTo>
                  <a:lnTo>
                    <a:pt x="659130" y="19050"/>
                  </a:lnTo>
                  <a:lnTo>
                    <a:pt x="659130" y="38100"/>
                  </a:lnTo>
                  <a:cubicBezTo>
                    <a:pt x="316103" y="38100"/>
                    <a:pt x="38100" y="316103"/>
                    <a:pt x="38100" y="659130"/>
                  </a:cubicBezTo>
                  <a:close/>
                </a:path>
              </a:pathLst>
            </a:custGeom>
            <a:solidFill>
              <a:srgbClr val="1E3048"/>
            </a:solidFill>
          </p:spPr>
        </p:sp>
      </p:grpSp>
      <p:grpSp>
        <p:nvGrpSpPr>
          <p:cNvPr name="Group 30" id="30"/>
          <p:cNvGrpSpPr/>
          <p:nvPr/>
        </p:nvGrpSpPr>
        <p:grpSpPr>
          <a:xfrm rot="0">
            <a:off x="9729632" y="5703132"/>
            <a:ext cx="2567156" cy="802236"/>
            <a:chOff x="0" y="0"/>
            <a:chExt cx="2926080" cy="914400"/>
          </a:xfrm>
        </p:grpSpPr>
        <p:sp>
          <p:nvSpPr>
            <p:cNvPr name="Freeform 31" id="31"/>
            <p:cNvSpPr/>
            <p:nvPr/>
          </p:nvSpPr>
          <p:spPr>
            <a:xfrm flipH="false" flipV="false" rot="0">
              <a:off x="0" y="0"/>
              <a:ext cx="2926080" cy="914400"/>
            </a:xfrm>
            <a:custGeom>
              <a:avLst/>
              <a:gdLst/>
              <a:ahLst/>
              <a:cxnLst/>
              <a:rect r="r" b="b" t="t" l="l"/>
              <a:pathLst>
                <a:path h="914400" w="2926080">
                  <a:moveTo>
                    <a:pt x="0" y="0"/>
                  </a:moveTo>
                  <a:lnTo>
                    <a:pt x="2926080" y="0"/>
                  </a:lnTo>
                  <a:lnTo>
                    <a:pt x="2926080" y="914400"/>
                  </a:lnTo>
                  <a:lnTo>
                    <a:pt x="0" y="914400"/>
                  </a:lnTo>
                  <a:close/>
                </a:path>
              </a:pathLst>
            </a:custGeom>
            <a:blipFill>
              <a:blip r:embed="rId3">
                <a:alphaModFix amt="0"/>
              </a:blip>
              <a:stretch>
                <a:fillRect l="0" t="-12352" r="0" b="-12352"/>
              </a:stretch>
            </a:blipFill>
          </p:spPr>
        </p:sp>
        <p:sp>
          <p:nvSpPr>
            <p:cNvPr name="TextBox 32" id="32"/>
            <p:cNvSpPr txBox="true"/>
            <p:nvPr/>
          </p:nvSpPr>
          <p:spPr>
            <a:xfrm>
              <a:off x="0" y="-9525"/>
              <a:ext cx="2926080" cy="923925"/>
            </a:xfrm>
            <a:prstGeom prst="rect">
              <a:avLst/>
            </a:prstGeom>
          </p:spPr>
          <p:txBody>
            <a:bodyPr anchor="ctr" rtlCol="false" tIns="0" lIns="0" bIns="0" rIns="0"/>
            <a:lstStyle/>
            <a:p>
              <a:pPr algn="ctr">
                <a:lnSpc>
                  <a:spcPts val="2520"/>
                </a:lnSpc>
              </a:pPr>
              <a:r>
                <a:rPr lang="en-US" sz="2100" b="true">
                  <a:solidFill>
                    <a:srgbClr val="E2E8F0"/>
                  </a:solidFill>
                  <a:latin typeface="Arial Bold"/>
                  <a:ea typeface="Arial Bold"/>
                  <a:cs typeface="Arial Bold"/>
                  <a:sym typeface="Arial Bold"/>
                </a:rPr>
                <a:t>Cairo Launch</a:t>
              </a:r>
            </a:p>
          </p:txBody>
        </p:sp>
      </p:grpSp>
      <p:grpSp>
        <p:nvGrpSpPr>
          <p:cNvPr name="Group 33" id="33"/>
          <p:cNvGrpSpPr/>
          <p:nvPr/>
        </p:nvGrpSpPr>
        <p:grpSpPr>
          <a:xfrm rot="0">
            <a:off x="9729632" y="6344921"/>
            <a:ext cx="2567156" cy="641789"/>
            <a:chOff x="0" y="0"/>
            <a:chExt cx="2926080" cy="731520"/>
          </a:xfrm>
        </p:grpSpPr>
        <p:sp>
          <p:nvSpPr>
            <p:cNvPr name="Freeform 34" id="34"/>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3">
                <a:alphaModFix amt="0"/>
              </a:blip>
              <a:stretch>
                <a:fillRect l="0" t="-27940" r="0" b="-27940"/>
              </a:stretch>
            </a:blipFill>
          </p:spPr>
        </p:sp>
        <p:sp>
          <p:nvSpPr>
            <p:cNvPr name="TextBox 35" id="35"/>
            <p:cNvSpPr txBox="true"/>
            <p:nvPr/>
          </p:nvSpPr>
          <p:spPr>
            <a:xfrm>
              <a:off x="0" y="-19050"/>
              <a:ext cx="292608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6 months</a:t>
              </a:r>
            </a:p>
          </p:txBody>
        </p:sp>
      </p:grpSp>
      <p:grpSp>
        <p:nvGrpSpPr>
          <p:cNvPr name="Group 36" id="36"/>
          <p:cNvGrpSpPr/>
          <p:nvPr/>
        </p:nvGrpSpPr>
        <p:grpSpPr>
          <a:xfrm rot="0">
            <a:off x="14173352" y="4162170"/>
            <a:ext cx="1156557" cy="1156557"/>
            <a:chOff x="0" y="0"/>
            <a:chExt cx="1318260" cy="1318260"/>
          </a:xfrm>
        </p:grpSpPr>
        <p:sp>
          <p:nvSpPr>
            <p:cNvPr name="Freeform 37" id="37"/>
            <p:cNvSpPr/>
            <p:nvPr/>
          </p:nvSpPr>
          <p:spPr>
            <a:xfrm flipH="false" flipV="false" rot="0">
              <a:off x="19050" y="1905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1A2744"/>
            </a:solidFill>
          </p:spPr>
        </p:sp>
        <p:sp>
          <p:nvSpPr>
            <p:cNvPr name="Freeform 38" id="38"/>
            <p:cNvSpPr/>
            <p:nvPr/>
          </p:nvSpPr>
          <p:spPr>
            <a:xfrm flipH="false" flipV="false" rot="0">
              <a:off x="0" y="0"/>
              <a:ext cx="1318260" cy="1318260"/>
            </a:xfrm>
            <a:custGeom>
              <a:avLst/>
              <a:gdLst/>
              <a:ahLst/>
              <a:cxnLst/>
              <a:rect r="r" b="b" t="t" l="l"/>
              <a:pathLst>
                <a:path h="1318260" w="1318260">
                  <a:moveTo>
                    <a:pt x="0" y="659130"/>
                  </a:moveTo>
                  <a:cubicBezTo>
                    <a:pt x="0" y="295148"/>
                    <a:pt x="295148" y="0"/>
                    <a:pt x="659130" y="0"/>
                  </a:cubicBezTo>
                  <a:lnTo>
                    <a:pt x="659130" y="19050"/>
                  </a:lnTo>
                  <a:lnTo>
                    <a:pt x="659130" y="0"/>
                  </a:lnTo>
                  <a:cubicBezTo>
                    <a:pt x="1023112" y="0"/>
                    <a:pt x="1318260" y="295148"/>
                    <a:pt x="1318260" y="659130"/>
                  </a:cubicBezTo>
                  <a:lnTo>
                    <a:pt x="1299210" y="659130"/>
                  </a:lnTo>
                  <a:lnTo>
                    <a:pt x="1318260" y="659130"/>
                  </a:lnTo>
                  <a:cubicBezTo>
                    <a:pt x="1318260" y="1023112"/>
                    <a:pt x="1023112" y="1318260"/>
                    <a:pt x="659130" y="1318260"/>
                  </a:cubicBezTo>
                  <a:lnTo>
                    <a:pt x="659130" y="1299210"/>
                  </a:lnTo>
                  <a:lnTo>
                    <a:pt x="659130" y="1318260"/>
                  </a:lnTo>
                  <a:cubicBezTo>
                    <a:pt x="295148" y="1318260"/>
                    <a:pt x="0" y="1023112"/>
                    <a:pt x="0" y="659130"/>
                  </a:cubicBezTo>
                  <a:lnTo>
                    <a:pt x="19050" y="659130"/>
                  </a:lnTo>
                  <a:lnTo>
                    <a:pt x="38100" y="659130"/>
                  </a:lnTo>
                  <a:lnTo>
                    <a:pt x="19050" y="659130"/>
                  </a:lnTo>
                  <a:lnTo>
                    <a:pt x="0" y="659130"/>
                  </a:lnTo>
                  <a:moveTo>
                    <a:pt x="38100" y="659130"/>
                  </a:moveTo>
                  <a:cubicBezTo>
                    <a:pt x="38100" y="669671"/>
                    <a:pt x="29591" y="678180"/>
                    <a:pt x="19050" y="678180"/>
                  </a:cubicBezTo>
                  <a:cubicBezTo>
                    <a:pt x="8509" y="678180"/>
                    <a:pt x="0" y="669671"/>
                    <a:pt x="0" y="659130"/>
                  </a:cubicBezTo>
                  <a:cubicBezTo>
                    <a:pt x="0" y="648589"/>
                    <a:pt x="8509" y="640080"/>
                    <a:pt x="19050" y="640080"/>
                  </a:cubicBezTo>
                  <a:cubicBezTo>
                    <a:pt x="29591" y="640080"/>
                    <a:pt x="38100" y="648589"/>
                    <a:pt x="38100" y="659130"/>
                  </a:cubicBezTo>
                  <a:cubicBezTo>
                    <a:pt x="38100" y="1002157"/>
                    <a:pt x="316103" y="1280160"/>
                    <a:pt x="659130" y="1280160"/>
                  </a:cubicBezTo>
                  <a:cubicBezTo>
                    <a:pt x="1002157" y="1280160"/>
                    <a:pt x="1280160" y="1002157"/>
                    <a:pt x="1280160" y="659130"/>
                  </a:cubicBezTo>
                  <a:cubicBezTo>
                    <a:pt x="1280160" y="316103"/>
                    <a:pt x="1002157" y="38100"/>
                    <a:pt x="659130" y="38100"/>
                  </a:cubicBezTo>
                  <a:lnTo>
                    <a:pt x="659130" y="19050"/>
                  </a:lnTo>
                  <a:lnTo>
                    <a:pt x="659130" y="38100"/>
                  </a:lnTo>
                  <a:cubicBezTo>
                    <a:pt x="316103" y="38100"/>
                    <a:pt x="38100" y="316103"/>
                    <a:pt x="38100" y="659130"/>
                  </a:cubicBezTo>
                  <a:close/>
                </a:path>
              </a:pathLst>
            </a:custGeom>
            <a:solidFill>
              <a:srgbClr val="1E3048"/>
            </a:solidFill>
          </p:spPr>
        </p:sp>
      </p:grpSp>
      <p:grpSp>
        <p:nvGrpSpPr>
          <p:cNvPr name="Group 39" id="39"/>
          <p:cNvGrpSpPr/>
          <p:nvPr/>
        </p:nvGrpSpPr>
        <p:grpSpPr>
          <a:xfrm rot="0">
            <a:off x="13468053" y="5703132"/>
            <a:ext cx="2567156" cy="802236"/>
            <a:chOff x="0" y="0"/>
            <a:chExt cx="2926080" cy="914400"/>
          </a:xfrm>
        </p:grpSpPr>
        <p:sp>
          <p:nvSpPr>
            <p:cNvPr name="Freeform 40" id="40"/>
            <p:cNvSpPr/>
            <p:nvPr/>
          </p:nvSpPr>
          <p:spPr>
            <a:xfrm flipH="false" flipV="false" rot="0">
              <a:off x="0" y="0"/>
              <a:ext cx="2926080" cy="914400"/>
            </a:xfrm>
            <a:custGeom>
              <a:avLst/>
              <a:gdLst/>
              <a:ahLst/>
              <a:cxnLst/>
              <a:rect r="r" b="b" t="t" l="l"/>
              <a:pathLst>
                <a:path h="914400" w="2926080">
                  <a:moveTo>
                    <a:pt x="0" y="0"/>
                  </a:moveTo>
                  <a:lnTo>
                    <a:pt x="2926080" y="0"/>
                  </a:lnTo>
                  <a:lnTo>
                    <a:pt x="2926080" y="914400"/>
                  </a:lnTo>
                  <a:lnTo>
                    <a:pt x="0" y="914400"/>
                  </a:lnTo>
                  <a:close/>
                </a:path>
              </a:pathLst>
            </a:custGeom>
            <a:blipFill>
              <a:blip r:embed="rId3">
                <a:alphaModFix amt="0"/>
              </a:blip>
              <a:stretch>
                <a:fillRect l="0" t="-12352" r="0" b="-12352"/>
              </a:stretch>
            </a:blipFill>
          </p:spPr>
        </p:sp>
        <p:sp>
          <p:nvSpPr>
            <p:cNvPr name="TextBox 41" id="41"/>
            <p:cNvSpPr txBox="true"/>
            <p:nvPr/>
          </p:nvSpPr>
          <p:spPr>
            <a:xfrm>
              <a:off x="0" y="-9525"/>
              <a:ext cx="2926080" cy="923925"/>
            </a:xfrm>
            <a:prstGeom prst="rect">
              <a:avLst/>
            </a:prstGeom>
          </p:spPr>
          <p:txBody>
            <a:bodyPr anchor="ctr" rtlCol="false" tIns="0" lIns="0" bIns="0" rIns="0"/>
            <a:lstStyle/>
            <a:p>
              <a:pPr algn="ctr">
                <a:lnSpc>
                  <a:spcPts val="2520"/>
                </a:lnSpc>
              </a:pPr>
              <a:r>
                <a:rPr lang="en-US" sz="2100" b="true">
                  <a:solidFill>
                    <a:srgbClr val="E2E8F0"/>
                  </a:solidFill>
                  <a:latin typeface="Arial Bold"/>
                  <a:ea typeface="Arial Bold"/>
                  <a:cs typeface="Arial Bold"/>
                  <a:sym typeface="Arial Bold"/>
                </a:rPr>
                <a:t>Regional Expansion</a:t>
              </a:r>
            </a:p>
          </p:txBody>
        </p:sp>
      </p:grpSp>
      <p:grpSp>
        <p:nvGrpSpPr>
          <p:cNvPr name="Group 42" id="42"/>
          <p:cNvGrpSpPr/>
          <p:nvPr/>
        </p:nvGrpSpPr>
        <p:grpSpPr>
          <a:xfrm rot="0">
            <a:off x="13468053" y="6344921"/>
            <a:ext cx="2567156" cy="641789"/>
            <a:chOff x="0" y="0"/>
            <a:chExt cx="2926080" cy="731520"/>
          </a:xfrm>
        </p:grpSpPr>
        <p:sp>
          <p:nvSpPr>
            <p:cNvPr name="Freeform 43" id="43"/>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3">
                <a:alphaModFix amt="0"/>
              </a:blip>
              <a:stretch>
                <a:fillRect l="0" t="-27940" r="0" b="-27940"/>
              </a:stretch>
            </a:blipFill>
          </p:spPr>
        </p:sp>
        <p:sp>
          <p:nvSpPr>
            <p:cNvPr name="TextBox 44" id="44"/>
            <p:cNvSpPr txBox="true"/>
            <p:nvPr/>
          </p:nvSpPr>
          <p:spPr>
            <a:xfrm>
              <a:off x="0" y="-19050"/>
              <a:ext cx="2926080" cy="75057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3 years</a:t>
              </a:r>
            </a:p>
          </p:txBody>
        </p:sp>
      </p:grpSp>
      <p:sp>
        <p:nvSpPr>
          <p:cNvPr name="Freeform 45" id="45"/>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028700" y="1855464"/>
            <a:ext cx="10893413" cy="933721"/>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Risk &amp; Legal Framework</a:t>
              </a:r>
            </a:p>
          </p:txBody>
        </p:sp>
      </p:grpSp>
      <p:grpSp>
        <p:nvGrpSpPr>
          <p:cNvPr name="Group 5" id="5"/>
          <p:cNvGrpSpPr/>
          <p:nvPr/>
        </p:nvGrpSpPr>
        <p:grpSpPr>
          <a:xfrm rot="0">
            <a:off x="2323126" y="3173625"/>
            <a:ext cx="6271565" cy="2563916"/>
            <a:chOff x="0" y="0"/>
            <a:chExt cx="5877560" cy="2402840"/>
          </a:xfrm>
        </p:grpSpPr>
        <p:sp>
          <p:nvSpPr>
            <p:cNvPr name="Freeform 6" id="6"/>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7" id="7"/>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8" id="8"/>
          <p:cNvGrpSpPr/>
          <p:nvPr/>
        </p:nvGrpSpPr>
        <p:grpSpPr>
          <a:xfrm rot="0">
            <a:off x="2922096" y="3577456"/>
            <a:ext cx="5073626" cy="780558"/>
            <a:chOff x="0" y="0"/>
            <a:chExt cx="4754880" cy="731520"/>
          </a:xfrm>
        </p:grpSpPr>
        <p:sp>
          <p:nvSpPr>
            <p:cNvPr name="Freeform 9" id="9"/>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10" id="10"/>
            <p:cNvSpPr txBox="true"/>
            <p:nvPr/>
          </p:nvSpPr>
          <p:spPr>
            <a:xfrm>
              <a:off x="0" y="-9525"/>
              <a:ext cx="4754880" cy="741045"/>
            </a:xfrm>
            <a:prstGeom prst="rect">
              <a:avLst/>
            </a:prstGeom>
          </p:spPr>
          <p:txBody>
            <a:bodyPr anchor="ctr" rtlCol="false" tIns="0" lIns="0" bIns="0" rIns="0"/>
            <a:lstStyle/>
            <a:p>
              <a:pPr algn="l">
                <a:lnSpc>
                  <a:spcPts val="2879"/>
                </a:lnSpc>
              </a:pPr>
              <a:r>
                <a:rPr lang="en-US" sz="2400" b="true">
                  <a:solidFill>
                    <a:srgbClr val="E2E8F0"/>
                  </a:solidFill>
                  <a:latin typeface="Arial Bold"/>
                  <a:ea typeface="Arial Bold"/>
                  <a:cs typeface="Arial Bold"/>
                  <a:sym typeface="Arial Bold"/>
                </a:rPr>
                <a:t>Guidance Only</a:t>
              </a:r>
            </a:p>
          </p:txBody>
        </p:sp>
      </p:grpSp>
      <p:grpSp>
        <p:nvGrpSpPr>
          <p:cNvPr name="Group 11" id="11"/>
          <p:cNvGrpSpPr/>
          <p:nvPr/>
        </p:nvGrpSpPr>
        <p:grpSpPr>
          <a:xfrm rot="0">
            <a:off x="2922096" y="4455583"/>
            <a:ext cx="5073626" cy="780558"/>
            <a:chOff x="0" y="0"/>
            <a:chExt cx="4754880" cy="731520"/>
          </a:xfrm>
        </p:grpSpPr>
        <p:sp>
          <p:nvSpPr>
            <p:cNvPr name="Freeform 12" id="12"/>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13" id="13"/>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AI provides guidance, not medical diagnosis</a:t>
              </a:r>
            </a:p>
          </p:txBody>
        </p:sp>
      </p:grpSp>
      <p:grpSp>
        <p:nvGrpSpPr>
          <p:cNvPr name="Group 14" id="14"/>
          <p:cNvGrpSpPr/>
          <p:nvPr/>
        </p:nvGrpSpPr>
        <p:grpSpPr>
          <a:xfrm rot="0">
            <a:off x="9153007" y="3173625"/>
            <a:ext cx="6271565" cy="2563916"/>
            <a:chOff x="0" y="0"/>
            <a:chExt cx="5877560" cy="2402840"/>
          </a:xfrm>
        </p:grpSpPr>
        <p:sp>
          <p:nvSpPr>
            <p:cNvPr name="Freeform 15" id="15"/>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16" id="16"/>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17" id="17"/>
          <p:cNvGrpSpPr/>
          <p:nvPr/>
        </p:nvGrpSpPr>
        <p:grpSpPr>
          <a:xfrm rot="0">
            <a:off x="9751977" y="3577456"/>
            <a:ext cx="5073626" cy="780558"/>
            <a:chOff x="0" y="0"/>
            <a:chExt cx="4754880" cy="731520"/>
          </a:xfrm>
        </p:grpSpPr>
        <p:sp>
          <p:nvSpPr>
            <p:cNvPr name="Freeform 18" id="18"/>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19" id="19"/>
            <p:cNvSpPr txBox="true"/>
            <p:nvPr/>
          </p:nvSpPr>
          <p:spPr>
            <a:xfrm>
              <a:off x="0" y="-9525"/>
              <a:ext cx="4754880" cy="741045"/>
            </a:xfrm>
            <a:prstGeom prst="rect">
              <a:avLst/>
            </a:prstGeom>
          </p:spPr>
          <p:txBody>
            <a:bodyPr anchor="ctr" rtlCol="false" tIns="0" lIns="0" bIns="0" rIns="0"/>
            <a:lstStyle/>
            <a:p>
              <a:pPr algn="l">
                <a:lnSpc>
                  <a:spcPts val="2879"/>
                </a:lnSpc>
              </a:pPr>
              <a:r>
                <a:rPr lang="en-US" sz="2400" b="true">
                  <a:solidFill>
                    <a:srgbClr val="E2E8F0"/>
                  </a:solidFill>
                  <a:latin typeface="Arial Bold"/>
                  <a:ea typeface="Arial Bold"/>
                  <a:cs typeface="Arial Bold"/>
                  <a:sym typeface="Arial Bold"/>
                </a:rPr>
                <a:t>Clear Disclaimers</a:t>
              </a:r>
            </a:p>
          </p:txBody>
        </p:sp>
      </p:grpSp>
      <p:grpSp>
        <p:nvGrpSpPr>
          <p:cNvPr name="Group 20" id="20"/>
          <p:cNvGrpSpPr/>
          <p:nvPr/>
        </p:nvGrpSpPr>
        <p:grpSpPr>
          <a:xfrm rot="0">
            <a:off x="9751977" y="4455583"/>
            <a:ext cx="5073626" cy="780558"/>
            <a:chOff x="0" y="0"/>
            <a:chExt cx="4754880" cy="731520"/>
          </a:xfrm>
        </p:grpSpPr>
        <p:sp>
          <p:nvSpPr>
            <p:cNvPr name="Freeform 21" id="21"/>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2" id="22"/>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Comprehensive disclaimers implemented throughout</a:t>
              </a:r>
            </a:p>
          </p:txBody>
        </p:sp>
      </p:grpSp>
      <p:grpSp>
        <p:nvGrpSpPr>
          <p:cNvPr name="Group 23" id="23"/>
          <p:cNvGrpSpPr/>
          <p:nvPr/>
        </p:nvGrpSpPr>
        <p:grpSpPr>
          <a:xfrm rot="0">
            <a:off x="2323126" y="6295857"/>
            <a:ext cx="6271565" cy="2563916"/>
            <a:chOff x="0" y="0"/>
            <a:chExt cx="5877560" cy="2402840"/>
          </a:xfrm>
        </p:grpSpPr>
        <p:sp>
          <p:nvSpPr>
            <p:cNvPr name="Freeform 24" id="24"/>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25" id="25"/>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26" id="26"/>
          <p:cNvGrpSpPr/>
          <p:nvPr/>
        </p:nvGrpSpPr>
        <p:grpSpPr>
          <a:xfrm rot="0">
            <a:off x="2922096" y="6699687"/>
            <a:ext cx="5073626" cy="780558"/>
            <a:chOff x="0" y="0"/>
            <a:chExt cx="4754880" cy="731520"/>
          </a:xfrm>
        </p:grpSpPr>
        <p:sp>
          <p:nvSpPr>
            <p:cNvPr name="Freeform 27" id="27"/>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8" id="28"/>
            <p:cNvSpPr txBox="true"/>
            <p:nvPr/>
          </p:nvSpPr>
          <p:spPr>
            <a:xfrm>
              <a:off x="0" y="-9525"/>
              <a:ext cx="4754880" cy="741045"/>
            </a:xfrm>
            <a:prstGeom prst="rect">
              <a:avLst/>
            </a:prstGeom>
          </p:spPr>
          <p:txBody>
            <a:bodyPr anchor="ctr" rtlCol="false" tIns="0" lIns="0" bIns="0" rIns="0"/>
            <a:lstStyle/>
            <a:p>
              <a:pPr algn="l">
                <a:lnSpc>
                  <a:spcPts val="2879"/>
                </a:lnSpc>
              </a:pPr>
              <a:r>
                <a:rPr lang="en-US" sz="2400" b="true">
                  <a:solidFill>
                    <a:srgbClr val="E2E8F0"/>
                  </a:solidFill>
                  <a:latin typeface="Arial Bold"/>
                  <a:ea typeface="Arial Bold"/>
                  <a:cs typeface="Arial Bold"/>
                  <a:sym typeface="Arial Bold"/>
                </a:rPr>
                <a:t>Regulatory Compliance</a:t>
              </a:r>
            </a:p>
          </p:txBody>
        </p:sp>
      </p:grpSp>
      <p:grpSp>
        <p:nvGrpSpPr>
          <p:cNvPr name="Group 29" id="29"/>
          <p:cNvGrpSpPr/>
          <p:nvPr/>
        </p:nvGrpSpPr>
        <p:grpSpPr>
          <a:xfrm rot="0">
            <a:off x="2922096" y="7577814"/>
            <a:ext cx="5073626" cy="780558"/>
            <a:chOff x="0" y="0"/>
            <a:chExt cx="4754880" cy="731520"/>
          </a:xfrm>
        </p:grpSpPr>
        <p:sp>
          <p:nvSpPr>
            <p:cNvPr name="Freeform 30" id="30"/>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31" id="31"/>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Compliant with Egyptian healthcare regulations</a:t>
              </a:r>
            </a:p>
          </p:txBody>
        </p:sp>
      </p:grpSp>
      <p:grpSp>
        <p:nvGrpSpPr>
          <p:cNvPr name="Group 32" id="32"/>
          <p:cNvGrpSpPr/>
          <p:nvPr/>
        </p:nvGrpSpPr>
        <p:grpSpPr>
          <a:xfrm rot="0">
            <a:off x="9153007" y="6295857"/>
            <a:ext cx="6271565" cy="2563916"/>
            <a:chOff x="0" y="0"/>
            <a:chExt cx="5877560" cy="2402840"/>
          </a:xfrm>
        </p:grpSpPr>
        <p:sp>
          <p:nvSpPr>
            <p:cNvPr name="Freeform 33" id="33"/>
            <p:cNvSpPr/>
            <p:nvPr/>
          </p:nvSpPr>
          <p:spPr>
            <a:xfrm flipH="false" flipV="false" rot="0">
              <a:off x="12700" y="12700"/>
              <a:ext cx="5852160" cy="2377440"/>
            </a:xfrm>
            <a:custGeom>
              <a:avLst/>
              <a:gdLst/>
              <a:ahLst/>
              <a:cxnLst/>
              <a:rect r="r" b="b" t="t" l="l"/>
              <a:pathLst>
                <a:path h="2377440" w="5852160">
                  <a:moveTo>
                    <a:pt x="0" y="274320"/>
                  </a:moveTo>
                  <a:cubicBezTo>
                    <a:pt x="0" y="122809"/>
                    <a:pt x="123571" y="0"/>
                    <a:pt x="276098" y="0"/>
                  </a:cubicBezTo>
                  <a:lnTo>
                    <a:pt x="5576062" y="0"/>
                  </a:lnTo>
                  <a:cubicBezTo>
                    <a:pt x="5728462" y="0"/>
                    <a:pt x="5852160" y="122809"/>
                    <a:pt x="5852160" y="274320"/>
                  </a:cubicBezTo>
                  <a:lnTo>
                    <a:pt x="5852160" y="2103120"/>
                  </a:lnTo>
                  <a:cubicBezTo>
                    <a:pt x="5852160" y="2254631"/>
                    <a:pt x="5728589" y="2377440"/>
                    <a:pt x="5576062" y="2377440"/>
                  </a:cubicBezTo>
                  <a:lnTo>
                    <a:pt x="276098" y="2377440"/>
                  </a:lnTo>
                  <a:cubicBezTo>
                    <a:pt x="123698" y="2377440"/>
                    <a:pt x="0" y="2254631"/>
                    <a:pt x="0" y="2103120"/>
                  </a:cubicBezTo>
                  <a:close/>
                </a:path>
              </a:pathLst>
            </a:custGeom>
            <a:solidFill>
              <a:srgbClr val="111D32"/>
            </a:solidFill>
          </p:spPr>
        </p:sp>
        <p:sp>
          <p:nvSpPr>
            <p:cNvPr name="Freeform 34" id="34"/>
            <p:cNvSpPr/>
            <p:nvPr/>
          </p:nvSpPr>
          <p:spPr>
            <a:xfrm flipH="false" flipV="false" rot="0">
              <a:off x="0" y="0"/>
              <a:ext cx="5877560" cy="2402840"/>
            </a:xfrm>
            <a:custGeom>
              <a:avLst/>
              <a:gdLst/>
              <a:ahLst/>
              <a:cxnLst/>
              <a:rect r="r" b="b" t="t" l="l"/>
              <a:pathLst>
                <a:path h="2402840" w="5877560">
                  <a:moveTo>
                    <a:pt x="0" y="287020"/>
                  </a:moveTo>
                  <a:cubicBezTo>
                    <a:pt x="0" y="128397"/>
                    <a:pt x="129413" y="0"/>
                    <a:pt x="288798" y="0"/>
                  </a:cubicBezTo>
                  <a:lnTo>
                    <a:pt x="5588762" y="0"/>
                  </a:lnTo>
                  <a:lnTo>
                    <a:pt x="5588762" y="12700"/>
                  </a:lnTo>
                  <a:lnTo>
                    <a:pt x="5588762" y="0"/>
                  </a:lnTo>
                  <a:cubicBezTo>
                    <a:pt x="5748147" y="0"/>
                    <a:pt x="5877560" y="128397"/>
                    <a:pt x="5877560" y="287020"/>
                  </a:cubicBezTo>
                  <a:lnTo>
                    <a:pt x="5864860" y="287020"/>
                  </a:lnTo>
                  <a:lnTo>
                    <a:pt x="5877560" y="287020"/>
                  </a:lnTo>
                  <a:lnTo>
                    <a:pt x="5877560" y="2115820"/>
                  </a:lnTo>
                  <a:lnTo>
                    <a:pt x="5864860" y="2115820"/>
                  </a:lnTo>
                  <a:lnTo>
                    <a:pt x="5877560" y="2115820"/>
                  </a:lnTo>
                  <a:cubicBezTo>
                    <a:pt x="5877560" y="2274443"/>
                    <a:pt x="5748147" y="2402840"/>
                    <a:pt x="5588762" y="2402840"/>
                  </a:cubicBezTo>
                  <a:lnTo>
                    <a:pt x="5588762" y="2390140"/>
                  </a:lnTo>
                  <a:lnTo>
                    <a:pt x="5588762" y="2402840"/>
                  </a:lnTo>
                  <a:lnTo>
                    <a:pt x="288798" y="2402840"/>
                  </a:lnTo>
                  <a:lnTo>
                    <a:pt x="288798" y="2390140"/>
                  </a:lnTo>
                  <a:lnTo>
                    <a:pt x="288798" y="2402840"/>
                  </a:lnTo>
                  <a:cubicBezTo>
                    <a:pt x="129413" y="2402840"/>
                    <a:pt x="0" y="2274443"/>
                    <a:pt x="0" y="2115820"/>
                  </a:cubicBezTo>
                  <a:lnTo>
                    <a:pt x="0" y="287020"/>
                  </a:lnTo>
                  <a:lnTo>
                    <a:pt x="12700" y="287020"/>
                  </a:lnTo>
                  <a:lnTo>
                    <a:pt x="0" y="287020"/>
                  </a:lnTo>
                  <a:moveTo>
                    <a:pt x="25400" y="287020"/>
                  </a:moveTo>
                  <a:lnTo>
                    <a:pt x="25400" y="2115820"/>
                  </a:lnTo>
                  <a:lnTo>
                    <a:pt x="12700" y="2115820"/>
                  </a:lnTo>
                  <a:lnTo>
                    <a:pt x="25400" y="2115820"/>
                  </a:lnTo>
                  <a:cubicBezTo>
                    <a:pt x="25400" y="2260219"/>
                    <a:pt x="143256" y="2377440"/>
                    <a:pt x="288798" y="2377440"/>
                  </a:cubicBezTo>
                  <a:lnTo>
                    <a:pt x="5588762" y="2377440"/>
                  </a:lnTo>
                  <a:cubicBezTo>
                    <a:pt x="5734304" y="2377440"/>
                    <a:pt x="5852160" y="2260219"/>
                    <a:pt x="5852160" y="2115820"/>
                  </a:cubicBezTo>
                  <a:lnTo>
                    <a:pt x="5852160" y="287020"/>
                  </a:lnTo>
                  <a:cubicBezTo>
                    <a:pt x="5852160" y="142621"/>
                    <a:pt x="5734304" y="25400"/>
                    <a:pt x="5588762" y="25400"/>
                  </a:cubicBezTo>
                  <a:lnTo>
                    <a:pt x="288798" y="25400"/>
                  </a:lnTo>
                  <a:lnTo>
                    <a:pt x="288798" y="12700"/>
                  </a:lnTo>
                  <a:lnTo>
                    <a:pt x="288798" y="25400"/>
                  </a:lnTo>
                  <a:cubicBezTo>
                    <a:pt x="143256" y="25400"/>
                    <a:pt x="25400" y="142621"/>
                    <a:pt x="25400" y="287020"/>
                  </a:cubicBezTo>
                  <a:close/>
                </a:path>
              </a:pathLst>
            </a:custGeom>
            <a:solidFill>
              <a:srgbClr val="1E3048"/>
            </a:solidFill>
          </p:spPr>
        </p:sp>
      </p:grpSp>
      <p:grpSp>
        <p:nvGrpSpPr>
          <p:cNvPr name="Group 35" id="35"/>
          <p:cNvGrpSpPr/>
          <p:nvPr/>
        </p:nvGrpSpPr>
        <p:grpSpPr>
          <a:xfrm rot="0">
            <a:off x="9751977" y="6699687"/>
            <a:ext cx="5073626" cy="780558"/>
            <a:chOff x="0" y="0"/>
            <a:chExt cx="4754880" cy="731520"/>
          </a:xfrm>
        </p:grpSpPr>
        <p:sp>
          <p:nvSpPr>
            <p:cNvPr name="Freeform 36" id="36"/>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37" id="37"/>
            <p:cNvSpPr txBox="true"/>
            <p:nvPr/>
          </p:nvSpPr>
          <p:spPr>
            <a:xfrm>
              <a:off x="0" y="-9525"/>
              <a:ext cx="4754880" cy="741045"/>
            </a:xfrm>
            <a:prstGeom prst="rect">
              <a:avLst/>
            </a:prstGeom>
          </p:spPr>
          <p:txBody>
            <a:bodyPr anchor="ctr" rtlCol="false" tIns="0" lIns="0" bIns="0" rIns="0"/>
            <a:lstStyle/>
            <a:p>
              <a:pPr algn="l">
                <a:lnSpc>
                  <a:spcPts val="2879"/>
                </a:lnSpc>
              </a:pPr>
              <a:r>
                <a:rPr lang="en-US" sz="2400" b="true">
                  <a:solidFill>
                    <a:srgbClr val="E2E8F0"/>
                  </a:solidFill>
                  <a:latin typeface="Arial Bold"/>
                  <a:ea typeface="Arial Bold"/>
                  <a:cs typeface="Arial Bold"/>
                  <a:sym typeface="Arial Bold"/>
                </a:rPr>
                <a:t>Data Security</a:t>
              </a:r>
            </a:p>
          </p:txBody>
        </p:sp>
      </p:grpSp>
      <p:grpSp>
        <p:nvGrpSpPr>
          <p:cNvPr name="Group 38" id="38"/>
          <p:cNvGrpSpPr/>
          <p:nvPr/>
        </p:nvGrpSpPr>
        <p:grpSpPr>
          <a:xfrm rot="0">
            <a:off x="9751977" y="7577814"/>
            <a:ext cx="5073626" cy="780558"/>
            <a:chOff x="0" y="0"/>
            <a:chExt cx="4754880" cy="731520"/>
          </a:xfrm>
        </p:grpSpPr>
        <p:sp>
          <p:nvSpPr>
            <p:cNvPr name="Freeform 39" id="39"/>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40" id="40"/>
            <p:cNvSpPr txBox="true"/>
            <p:nvPr/>
          </p:nvSpPr>
          <p:spPr>
            <a:xfrm>
              <a:off x="0" y="-19050"/>
              <a:ext cx="4754880" cy="750570"/>
            </a:xfrm>
            <a:prstGeom prst="rect">
              <a:avLst/>
            </a:prstGeom>
          </p:spPr>
          <p:txBody>
            <a:bodyPr anchor="ctr" rtlCol="false" tIns="0" lIns="0" bIns="0" rIns="0"/>
            <a:lstStyle/>
            <a:p>
              <a:pPr algn="l">
                <a:lnSpc>
                  <a:spcPts val="2160"/>
                </a:lnSpc>
              </a:pPr>
              <a:r>
                <a:rPr lang="en-US" sz="1800">
                  <a:solidFill>
                    <a:srgbClr val="94A3B8"/>
                  </a:solidFill>
                  <a:latin typeface="Arial"/>
                  <a:ea typeface="Arial"/>
                  <a:cs typeface="Arial"/>
                  <a:sym typeface="Arial"/>
                </a:rPr>
                <a:t>Privacy and security standards enforced</a:t>
              </a:r>
            </a:p>
          </p:txBody>
        </p:sp>
      </p:grpSp>
      <p:sp>
        <p:nvSpPr>
          <p:cNvPr name="Freeform 41" id="41"/>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355924" y="2025819"/>
            <a:ext cx="9872114" cy="846181"/>
            <a:chOff x="0" y="0"/>
            <a:chExt cx="12801600" cy="1097280"/>
          </a:xfrm>
        </p:grpSpPr>
        <p:sp>
          <p:nvSpPr>
            <p:cNvPr name="Freeform 3" id="3"/>
            <p:cNvSpPr/>
            <p:nvPr/>
          </p:nvSpPr>
          <p:spPr>
            <a:xfrm flipH="false" flipV="false" rot="0">
              <a:off x="0" y="0"/>
              <a:ext cx="12801600" cy="1097280"/>
            </a:xfrm>
            <a:custGeom>
              <a:avLst/>
              <a:gdLst/>
              <a:ahLst/>
              <a:cxnLst/>
              <a:rect r="r" b="b" t="t" l="l"/>
              <a:pathLst>
                <a:path h="1097280" w="12801600">
                  <a:moveTo>
                    <a:pt x="0" y="0"/>
                  </a:moveTo>
                  <a:lnTo>
                    <a:pt x="12801600" y="0"/>
                  </a:lnTo>
                  <a:lnTo>
                    <a:pt x="12801600" y="1097280"/>
                  </a:lnTo>
                  <a:lnTo>
                    <a:pt x="0" y="1097280"/>
                  </a:lnTo>
                  <a:close/>
                </a:path>
              </a:pathLst>
            </a:custGeom>
            <a:blipFill>
              <a:blip r:embed="rId3">
                <a:alphaModFix amt="0"/>
              </a:blip>
              <a:stretch>
                <a:fillRect l="0" t="-177325" r="0" b="-177325"/>
              </a:stretch>
            </a:blipFill>
          </p:spPr>
        </p:sp>
        <p:sp>
          <p:nvSpPr>
            <p:cNvPr name="TextBox 4" id="4"/>
            <p:cNvSpPr txBox="true"/>
            <p:nvPr/>
          </p:nvSpPr>
          <p:spPr>
            <a:xfrm>
              <a:off x="0" y="-19050"/>
              <a:ext cx="12801600" cy="1116330"/>
            </a:xfrm>
            <a:prstGeom prst="rect">
              <a:avLst/>
            </a:prstGeom>
          </p:spPr>
          <p:txBody>
            <a:bodyPr anchor="ctr" rtlCol="false" tIns="0" lIns="0" bIns="0" rIns="0"/>
            <a:lstStyle/>
            <a:p>
              <a:pPr algn="l">
                <a:lnSpc>
                  <a:spcPts val="5759"/>
                </a:lnSpc>
              </a:pPr>
              <a:r>
                <a:rPr lang="en-US" sz="4800" b="true">
                  <a:solidFill>
                    <a:srgbClr val="E2E8F0"/>
                  </a:solidFill>
                  <a:latin typeface="Arial Bold"/>
                  <a:ea typeface="Arial Bold"/>
                  <a:cs typeface="Arial Bold"/>
                  <a:sym typeface="Arial Bold"/>
                </a:rPr>
                <a:t>Vision &amp; Success Metrics</a:t>
              </a:r>
            </a:p>
          </p:txBody>
        </p:sp>
      </p:grpSp>
      <p:grpSp>
        <p:nvGrpSpPr>
          <p:cNvPr name="Group 5" id="5"/>
          <p:cNvGrpSpPr/>
          <p:nvPr/>
        </p:nvGrpSpPr>
        <p:grpSpPr>
          <a:xfrm rot="0">
            <a:off x="1336337" y="2872000"/>
            <a:ext cx="9891702" cy="1147829"/>
            <a:chOff x="0" y="0"/>
            <a:chExt cx="12827000" cy="1488440"/>
          </a:xfrm>
        </p:grpSpPr>
        <p:sp>
          <p:nvSpPr>
            <p:cNvPr name="Freeform 6" id="6"/>
            <p:cNvSpPr/>
            <p:nvPr/>
          </p:nvSpPr>
          <p:spPr>
            <a:xfrm flipH="false" flipV="false" rot="0">
              <a:off x="12700" y="12700"/>
              <a:ext cx="12801600" cy="1463040"/>
            </a:xfrm>
            <a:custGeom>
              <a:avLst/>
              <a:gdLst/>
              <a:ahLst/>
              <a:cxnLst/>
              <a:rect r="r" b="b" t="t" l="l"/>
              <a:pathLst>
                <a:path h="1463040" w="12801600">
                  <a:moveTo>
                    <a:pt x="0" y="274320"/>
                  </a:moveTo>
                  <a:cubicBezTo>
                    <a:pt x="0" y="122809"/>
                    <a:pt x="124714" y="0"/>
                    <a:pt x="278511" y="0"/>
                  </a:cubicBezTo>
                  <a:lnTo>
                    <a:pt x="12523089" y="0"/>
                  </a:lnTo>
                  <a:cubicBezTo>
                    <a:pt x="12676886" y="0"/>
                    <a:pt x="12801600" y="122809"/>
                    <a:pt x="12801600" y="274320"/>
                  </a:cubicBezTo>
                  <a:lnTo>
                    <a:pt x="12801600" y="1188720"/>
                  </a:lnTo>
                  <a:cubicBezTo>
                    <a:pt x="12801600" y="1340231"/>
                    <a:pt x="12676886" y="1463040"/>
                    <a:pt x="12523089" y="1463040"/>
                  </a:cubicBezTo>
                  <a:lnTo>
                    <a:pt x="278511" y="1463040"/>
                  </a:lnTo>
                  <a:cubicBezTo>
                    <a:pt x="124714" y="1463040"/>
                    <a:pt x="0" y="1340231"/>
                    <a:pt x="0" y="1188720"/>
                  </a:cubicBezTo>
                  <a:close/>
                </a:path>
              </a:pathLst>
            </a:custGeom>
            <a:solidFill>
              <a:srgbClr val="111D32"/>
            </a:solidFill>
          </p:spPr>
        </p:sp>
        <p:sp>
          <p:nvSpPr>
            <p:cNvPr name="Freeform 7" id="7"/>
            <p:cNvSpPr/>
            <p:nvPr/>
          </p:nvSpPr>
          <p:spPr>
            <a:xfrm flipH="false" flipV="false" rot="0">
              <a:off x="0" y="0"/>
              <a:ext cx="12827000" cy="1488440"/>
            </a:xfrm>
            <a:custGeom>
              <a:avLst/>
              <a:gdLst/>
              <a:ahLst/>
              <a:cxnLst/>
              <a:rect r="r" b="b" t="t" l="l"/>
              <a:pathLst>
                <a:path h="1488440" w="12827000">
                  <a:moveTo>
                    <a:pt x="0" y="287020"/>
                  </a:moveTo>
                  <a:cubicBezTo>
                    <a:pt x="0" y="128270"/>
                    <a:pt x="130556" y="0"/>
                    <a:pt x="291211" y="0"/>
                  </a:cubicBezTo>
                  <a:lnTo>
                    <a:pt x="12535789" y="0"/>
                  </a:lnTo>
                  <a:lnTo>
                    <a:pt x="12535789" y="12700"/>
                  </a:lnTo>
                  <a:lnTo>
                    <a:pt x="12535789" y="0"/>
                  </a:lnTo>
                  <a:cubicBezTo>
                    <a:pt x="12696444" y="0"/>
                    <a:pt x="12827000" y="128270"/>
                    <a:pt x="12827000" y="287020"/>
                  </a:cubicBezTo>
                  <a:lnTo>
                    <a:pt x="12814300" y="287020"/>
                  </a:lnTo>
                  <a:lnTo>
                    <a:pt x="12827000" y="287020"/>
                  </a:lnTo>
                  <a:lnTo>
                    <a:pt x="12827000" y="1201420"/>
                  </a:lnTo>
                  <a:lnTo>
                    <a:pt x="12814300" y="1201420"/>
                  </a:lnTo>
                  <a:lnTo>
                    <a:pt x="12827000" y="1201420"/>
                  </a:lnTo>
                  <a:cubicBezTo>
                    <a:pt x="12827000" y="1360170"/>
                    <a:pt x="12696444" y="1488440"/>
                    <a:pt x="12535789" y="1488440"/>
                  </a:cubicBezTo>
                  <a:lnTo>
                    <a:pt x="12535789" y="1475740"/>
                  </a:lnTo>
                  <a:lnTo>
                    <a:pt x="12535789" y="1488440"/>
                  </a:lnTo>
                  <a:lnTo>
                    <a:pt x="291211" y="1488440"/>
                  </a:lnTo>
                  <a:lnTo>
                    <a:pt x="291211" y="1475740"/>
                  </a:lnTo>
                  <a:lnTo>
                    <a:pt x="291211" y="1488440"/>
                  </a:lnTo>
                  <a:cubicBezTo>
                    <a:pt x="130556" y="1488440"/>
                    <a:pt x="0" y="1360170"/>
                    <a:pt x="0" y="1201420"/>
                  </a:cubicBezTo>
                  <a:lnTo>
                    <a:pt x="0" y="287020"/>
                  </a:lnTo>
                  <a:lnTo>
                    <a:pt x="12700" y="287020"/>
                  </a:lnTo>
                  <a:lnTo>
                    <a:pt x="0" y="287020"/>
                  </a:lnTo>
                  <a:moveTo>
                    <a:pt x="25400" y="287020"/>
                  </a:moveTo>
                  <a:lnTo>
                    <a:pt x="25400" y="1201420"/>
                  </a:lnTo>
                  <a:lnTo>
                    <a:pt x="12700" y="1201420"/>
                  </a:lnTo>
                  <a:lnTo>
                    <a:pt x="25400" y="1201420"/>
                  </a:lnTo>
                  <a:cubicBezTo>
                    <a:pt x="25400" y="1345692"/>
                    <a:pt x="144272" y="1463040"/>
                    <a:pt x="291211" y="1463040"/>
                  </a:cubicBezTo>
                  <a:lnTo>
                    <a:pt x="12535789" y="1463040"/>
                  </a:lnTo>
                  <a:cubicBezTo>
                    <a:pt x="12682728" y="1463040"/>
                    <a:pt x="12801600" y="1345692"/>
                    <a:pt x="12801600" y="1201420"/>
                  </a:cubicBezTo>
                  <a:lnTo>
                    <a:pt x="12801600" y="287020"/>
                  </a:lnTo>
                  <a:cubicBezTo>
                    <a:pt x="12801600" y="142748"/>
                    <a:pt x="12682728" y="25400"/>
                    <a:pt x="12535789" y="25400"/>
                  </a:cubicBezTo>
                  <a:lnTo>
                    <a:pt x="291211" y="25400"/>
                  </a:lnTo>
                  <a:lnTo>
                    <a:pt x="291211" y="12700"/>
                  </a:lnTo>
                  <a:lnTo>
                    <a:pt x="291211" y="25400"/>
                  </a:lnTo>
                  <a:cubicBezTo>
                    <a:pt x="144272" y="25400"/>
                    <a:pt x="25400" y="142748"/>
                    <a:pt x="25400" y="287020"/>
                  </a:cubicBezTo>
                  <a:close/>
                </a:path>
              </a:pathLst>
            </a:custGeom>
            <a:solidFill>
              <a:srgbClr val="1E3048"/>
            </a:solidFill>
          </p:spPr>
        </p:sp>
      </p:grpSp>
      <p:grpSp>
        <p:nvGrpSpPr>
          <p:cNvPr name="Group 8" id="8"/>
          <p:cNvGrpSpPr/>
          <p:nvPr/>
        </p:nvGrpSpPr>
        <p:grpSpPr>
          <a:xfrm rot="0">
            <a:off x="1628191" y="2881794"/>
            <a:ext cx="9307993" cy="1128242"/>
            <a:chOff x="0" y="0"/>
            <a:chExt cx="12070080" cy="1463040"/>
          </a:xfrm>
        </p:grpSpPr>
        <p:sp>
          <p:nvSpPr>
            <p:cNvPr name="Freeform 9" id="9"/>
            <p:cNvSpPr/>
            <p:nvPr/>
          </p:nvSpPr>
          <p:spPr>
            <a:xfrm flipH="false" flipV="false" rot="0">
              <a:off x="0" y="0"/>
              <a:ext cx="12070080" cy="1463040"/>
            </a:xfrm>
            <a:custGeom>
              <a:avLst/>
              <a:gdLst/>
              <a:ahLst/>
              <a:cxnLst/>
              <a:rect r="r" b="b" t="t" l="l"/>
              <a:pathLst>
                <a:path h="1463040" w="12070080">
                  <a:moveTo>
                    <a:pt x="0" y="0"/>
                  </a:moveTo>
                  <a:lnTo>
                    <a:pt x="12070080" y="0"/>
                  </a:lnTo>
                  <a:lnTo>
                    <a:pt x="12070080" y="1463040"/>
                  </a:lnTo>
                  <a:lnTo>
                    <a:pt x="0" y="1463040"/>
                  </a:lnTo>
                  <a:close/>
                </a:path>
              </a:pathLst>
            </a:custGeom>
            <a:blipFill>
              <a:blip r:embed="rId3">
                <a:alphaModFix amt="0"/>
              </a:blip>
              <a:stretch>
                <a:fillRect l="0" t="-110751" r="0" b="-110751"/>
              </a:stretch>
            </a:blipFill>
          </p:spPr>
        </p:sp>
        <p:sp>
          <p:nvSpPr>
            <p:cNvPr name="TextBox 10" id="10"/>
            <p:cNvSpPr txBox="true"/>
            <p:nvPr/>
          </p:nvSpPr>
          <p:spPr>
            <a:xfrm>
              <a:off x="0" y="-19050"/>
              <a:ext cx="12070080" cy="1482090"/>
            </a:xfrm>
            <a:prstGeom prst="rect">
              <a:avLst/>
            </a:prstGeom>
          </p:spPr>
          <p:txBody>
            <a:bodyPr anchor="ctr" rtlCol="false" tIns="0" lIns="0" bIns="0" rIns="0"/>
            <a:lstStyle/>
            <a:p>
              <a:pPr algn="l">
                <a:lnSpc>
                  <a:spcPts val="2700"/>
                </a:lnSpc>
              </a:pPr>
              <a:r>
                <a:rPr lang="en-US" sz="2250">
                  <a:solidFill>
                    <a:srgbClr val="E2E8F0"/>
                  </a:solidFill>
                  <a:latin typeface="Arial"/>
                  <a:ea typeface="Arial"/>
                  <a:cs typeface="Arial"/>
                  <a:sym typeface="Arial"/>
                </a:rPr>
                <a:t>Vision: Become the leading digital healthcare gateway in the Middle East</a:t>
              </a:r>
            </a:p>
          </p:txBody>
        </p:sp>
      </p:grpSp>
      <p:grpSp>
        <p:nvGrpSpPr>
          <p:cNvPr name="Group 11" id="11"/>
          <p:cNvGrpSpPr/>
          <p:nvPr/>
        </p:nvGrpSpPr>
        <p:grpSpPr>
          <a:xfrm rot="0">
            <a:off x="1028700" y="4299400"/>
            <a:ext cx="3209508" cy="3528245"/>
            <a:chOff x="0" y="0"/>
            <a:chExt cx="3683000" cy="4048760"/>
          </a:xfrm>
        </p:grpSpPr>
        <p:sp>
          <p:nvSpPr>
            <p:cNvPr name="Freeform 12" id="12"/>
            <p:cNvSpPr/>
            <p:nvPr/>
          </p:nvSpPr>
          <p:spPr>
            <a:xfrm flipH="false" flipV="false" rot="0">
              <a:off x="12700" y="12700"/>
              <a:ext cx="3657600" cy="4023360"/>
            </a:xfrm>
            <a:custGeom>
              <a:avLst/>
              <a:gdLst/>
              <a:ahLst/>
              <a:cxnLst/>
              <a:rect r="r" b="b" t="t" l="l"/>
              <a:pathLst>
                <a:path h="4023360" w="3657600">
                  <a:moveTo>
                    <a:pt x="0" y="274447"/>
                  </a:moveTo>
                  <a:cubicBezTo>
                    <a:pt x="0" y="122936"/>
                    <a:pt x="122809" y="0"/>
                    <a:pt x="274320" y="0"/>
                  </a:cubicBezTo>
                  <a:lnTo>
                    <a:pt x="3383280" y="0"/>
                  </a:lnTo>
                  <a:cubicBezTo>
                    <a:pt x="3534791" y="0"/>
                    <a:pt x="3657600" y="122936"/>
                    <a:pt x="3657600" y="274447"/>
                  </a:cubicBezTo>
                  <a:lnTo>
                    <a:pt x="3657600" y="3748913"/>
                  </a:lnTo>
                  <a:cubicBezTo>
                    <a:pt x="3657600" y="3900551"/>
                    <a:pt x="3534791" y="4023360"/>
                    <a:pt x="3383280" y="4023360"/>
                  </a:cubicBezTo>
                  <a:lnTo>
                    <a:pt x="274320" y="4023360"/>
                  </a:lnTo>
                  <a:cubicBezTo>
                    <a:pt x="122809" y="4023360"/>
                    <a:pt x="0" y="3900424"/>
                    <a:pt x="0" y="3748913"/>
                  </a:cubicBezTo>
                  <a:close/>
                </a:path>
              </a:pathLst>
            </a:custGeom>
            <a:solidFill>
              <a:srgbClr val="111D32"/>
            </a:solidFill>
          </p:spPr>
        </p:sp>
        <p:sp>
          <p:nvSpPr>
            <p:cNvPr name="Freeform 13" id="13"/>
            <p:cNvSpPr/>
            <p:nvPr/>
          </p:nvSpPr>
          <p:spPr>
            <a:xfrm flipH="false" flipV="false" rot="0">
              <a:off x="0" y="0"/>
              <a:ext cx="3683000" cy="4048760"/>
            </a:xfrm>
            <a:custGeom>
              <a:avLst/>
              <a:gdLst/>
              <a:ahLst/>
              <a:cxnLst/>
              <a:rect r="r" b="b" t="t" l="l"/>
              <a:pathLst>
                <a:path h="4048760" w="3683000">
                  <a:moveTo>
                    <a:pt x="0" y="287147"/>
                  </a:moveTo>
                  <a:cubicBezTo>
                    <a:pt x="0" y="128651"/>
                    <a:pt x="128524" y="0"/>
                    <a:pt x="287020" y="0"/>
                  </a:cubicBezTo>
                  <a:lnTo>
                    <a:pt x="3395980" y="0"/>
                  </a:lnTo>
                  <a:lnTo>
                    <a:pt x="3395980" y="12700"/>
                  </a:lnTo>
                  <a:lnTo>
                    <a:pt x="3395980" y="0"/>
                  </a:lnTo>
                  <a:cubicBezTo>
                    <a:pt x="3554476" y="0"/>
                    <a:pt x="3683000" y="128651"/>
                    <a:pt x="3683000" y="287147"/>
                  </a:cubicBezTo>
                  <a:lnTo>
                    <a:pt x="3670300" y="287147"/>
                  </a:lnTo>
                  <a:lnTo>
                    <a:pt x="3683000" y="287147"/>
                  </a:lnTo>
                  <a:lnTo>
                    <a:pt x="3683000" y="3761613"/>
                  </a:lnTo>
                  <a:lnTo>
                    <a:pt x="3670300" y="3761613"/>
                  </a:lnTo>
                  <a:lnTo>
                    <a:pt x="3683000" y="3761613"/>
                  </a:lnTo>
                  <a:cubicBezTo>
                    <a:pt x="3683000" y="3920236"/>
                    <a:pt x="3554476" y="4048760"/>
                    <a:pt x="3395980" y="4048760"/>
                  </a:cubicBezTo>
                  <a:lnTo>
                    <a:pt x="3395980" y="4036060"/>
                  </a:lnTo>
                  <a:lnTo>
                    <a:pt x="3395980" y="4048760"/>
                  </a:lnTo>
                  <a:lnTo>
                    <a:pt x="287020" y="4048760"/>
                  </a:lnTo>
                  <a:lnTo>
                    <a:pt x="287020" y="4036060"/>
                  </a:lnTo>
                  <a:lnTo>
                    <a:pt x="287020" y="4048760"/>
                  </a:lnTo>
                  <a:cubicBezTo>
                    <a:pt x="128524" y="4048760"/>
                    <a:pt x="0" y="3920109"/>
                    <a:pt x="0" y="3761613"/>
                  </a:cubicBezTo>
                  <a:lnTo>
                    <a:pt x="0" y="287147"/>
                  </a:lnTo>
                  <a:lnTo>
                    <a:pt x="12700" y="287147"/>
                  </a:lnTo>
                  <a:lnTo>
                    <a:pt x="0" y="287147"/>
                  </a:lnTo>
                  <a:moveTo>
                    <a:pt x="25400" y="287147"/>
                  </a:moveTo>
                  <a:lnTo>
                    <a:pt x="25400" y="3761613"/>
                  </a:lnTo>
                  <a:lnTo>
                    <a:pt x="12700" y="3761613"/>
                  </a:lnTo>
                  <a:lnTo>
                    <a:pt x="25400" y="3761613"/>
                  </a:lnTo>
                  <a:cubicBezTo>
                    <a:pt x="25400" y="3906266"/>
                    <a:pt x="142494" y="4023360"/>
                    <a:pt x="287020" y="4023360"/>
                  </a:cubicBezTo>
                  <a:lnTo>
                    <a:pt x="3395980" y="4023360"/>
                  </a:lnTo>
                  <a:cubicBezTo>
                    <a:pt x="3540506" y="4023360"/>
                    <a:pt x="3657600" y="3906139"/>
                    <a:pt x="3657600" y="3761613"/>
                  </a:cubicBezTo>
                  <a:lnTo>
                    <a:pt x="3657600" y="287147"/>
                  </a:lnTo>
                  <a:cubicBezTo>
                    <a:pt x="3657600" y="142621"/>
                    <a:pt x="3540506" y="25400"/>
                    <a:pt x="3395980" y="25400"/>
                  </a:cubicBezTo>
                  <a:lnTo>
                    <a:pt x="287020" y="25400"/>
                  </a:lnTo>
                  <a:lnTo>
                    <a:pt x="287020" y="12700"/>
                  </a:lnTo>
                  <a:lnTo>
                    <a:pt x="287020" y="25400"/>
                  </a:lnTo>
                  <a:cubicBezTo>
                    <a:pt x="142494" y="25400"/>
                    <a:pt x="25400" y="142621"/>
                    <a:pt x="25400" y="287147"/>
                  </a:cubicBezTo>
                  <a:close/>
                </a:path>
              </a:pathLst>
            </a:custGeom>
            <a:solidFill>
              <a:srgbClr val="1E3048"/>
            </a:solidFill>
          </p:spPr>
        </p:sp>
      </p:grpSp>
      <p:grpSp>
        <p:nvGrpSpPr>
          <p:cNvPr name="Group 14" id="14"/>
          <p:cNvGrpSpPr/>
          <p:nvPr/>
        </p:nvGrpSpPr>
        <p:grpSpPr>
          <a:xfrm rot="0">
            <a:off x="1039767" y="4947942"/>
            <a:ext cx="3187374" cy="956212"/>
            <a:chOff x="0" y="0"/>
            <a:chExt cx="3657600" cy="1097280"/>
          </a:xfrm>
        </p:grpSpPr>
        <p:sp>
          <p:nvSpPr>
            <p:cNvPr name="Freeform 15" id="15"/>
            <p:cNvSpPr/>
            <p:nvPr/>
          </p:nvSpPr>
          <p:spPr>
            <a:xfrm flipH="false" flipV="false" rot="0">
              <a:off x="0" y="0"/>
              <a:ext cx="3657600" cy="1097280"/>
            </a:xfrm>
            <a:custGeom>
              <a:avLst/>
              <a:gdLst/>
              <a:ahLst/>
              <a:cxnLst/>
              <a:rect r="r" b="b" t="t" l="l"/>
              <a:pathLst>
                <a:path h="1097280" w="3657600">
                  <a:moveTo>
                    <a:pt x="0" y="0"/>
                  </a:moveTo>
                  <a:lnTo>
                    <a:pt x="3657600" y="0"/>
                  </a:lnTo>
                  <a:lnTo>
                    <a:pt x="3657600" y="1097280"/>
                  </a:lnTo>
                  <a:lnTo>
                    <a:pt x="0" y="1097280"/>
                  </a:lnTo>
                  <a:close/>
                </a:path>
              </a:pathLst>
            </a:custGeom>
            <a:blipFill>
              <a:blip r:embed="rId3">
                <a:alphaModFix amt="0"/>
              </a:blip>
              <a:stretch>
                <a:fillRect l="0" t="-14950" r="0" b="-14950"/>
              </a:stretch>
            </a:blipFill>
          </p:spPr>
        </p:sp>
        <p:sp>
          <p:nvSpPr>
            <p:cNvPr name="TextBox 16" id="16"/>
            <p:cNvSpPr txBox="true"/>
            <p:nvPr/>
          </p:nvSpPr>
          <p:spPr>
            <a:xfrm>
              <a:off x="0" y="-28575"/>
              <a:ext cx="3657600" cy="1125855"/>
            </a:xfrm>
            <a:prstGeom prst="rect">
              <a:avLst/>
            </a:prstGeom>
          </p:spPr>
          <p:txBody>
            <a:bodyPr anchor="ctr" rtlCol="false" tIns="0" lIns="0" bIns="0" rIns="0"/>
            <a:lstStyle/>
            <a:p>
              <a:pPr algn="ctr">
                <a:lnSpc>
                  <a:spcPts val="4320"/>
                </a:lnSpc>
              </a:pPr>
              <a:r>
                <a:rPr lang="en-US" sz="3600" b="true">
                  <a:solidFill>
                    <a:srgbClr val="14B8A6"/>
                  </a:solidFill>
                  <a:latin typeface="Arial Bold"/>
                  <a:ea typeface="Arial Bold"/>
                  <a:cs typeface="Arial Bold"/>
                  <a:sym typeface="Arial Bold"/>
                </a:rPr>
                <a:t>10,000</a:t>
              </a:r>
            </a:p>
          </p:txBody>
        </p:sp>
      </p:grpSp>
      <p:grpSp>
        <p:nvGrpSpPr>
          <p:cNvPr name="Group 17" id="17"/>
          <p:cNvGrpSpPr/>
          <p:nvPr/>
        </p:nvGrpSpPr>
        <p:grpSpPr>
          <a:xfrm rot="0">
            <a:off x="1039767" y="6063522"/>
            <a:ext cx="3187374" cy="796843"/>
            <a:chOff x="0" y="0"/>
            <a:chExt cx="3657600" cy="914400"/>
          </a:xfrm>
        </p:grpSpPr>
        <p:sp>
          <p:nvSpPr>
            <p:cNvPr name="Freeform 18" id="18"/>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19" id="19"/>
            <p:cNvSpPr txBox="true"/>
            <p:nvPr/>
          </p:nvSpPr>
          <p:spPr>
            <a:xfrm>
              <a:off x="0" y="-19050"/>
              <a:ext cx="3657600" cy="93345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Users in 6 months</a:t>
              </a:r>
            </a:p>
          </p:txBody>
        </p:sp>
      </p:grpSp>
      <p:grpSp>
        <p:nvGrpSpPr>
          <p:cNvPr name="Group 20" id="20"/>
          <p:cNvGrpSpPr/>
          <p:nvPr/>
        </p:nvGrpSpPr>
        <p:grpSpPr>
          <a:xfrm rot="0">
            <a:off x="4534811" y="4299400"/>
            <a:ext cx="3209508" cy="3528245"/>
            <a:chOff x="0" y="0"/>
            <a:chExt cx="3683000" cy="4048760"/>
          </a:xfrm>
        </p:grpSpPr>
        <p:sp>
          <p:nvSpPr>
            <p:cNvPr name="Freeform 21" id="21"/>
            <p:cNvSpPr/>
            <p:nvPr/>
          </p:nvSpPr>
          <p:spPr>
            <a:xfrm flipH="false" flipV="false" rot="0">
              <a:off x="12700" y="12700"/>
              <a:ext cx="3657600" cy="4023360"/>
            </a:xfrm>
            <a:custGeom>
              <a:avLst/>
              <a:gdLst/>
              <a:ahLst/>
              <a:cxnLst/>
              <a:rect r="r" b="b" t="t" l="l"/>
              <a:pathLst>
                <a:path h="4023360" w="3657600">
                  <a:moveTo>
                    <a:pt x="0" y="274447"/>
                  </a:moveTo>
                  <a:cubicBezTo>
                    <a:pt x="0" y="122936"/>
                    <a:pt x="122809" y="0"/>
                    <a:pt x="274320" y="0"/>
                  </a:cubicBezTo>
                  <a:lnTo>
                    <a:pt x="3383280" y="0"/>
                  </a:lnTo>
                  <a:cubicBezTo>
                    <a:pt x="3534791" y="0"/>
                    <a:pt x="3657600" y="122936"/>
                    <a:pt x="3657600" y="274447"/>
                  </a:cubicBezTo>
                  <a:lnTo>
                    <a:pt x="3657600" y="3748913"/>
                  </a:lnTo>
                  <a:cubicBezTo>
                    <a:pt x="3657600" y="3900551"/>
                    <a:pt x="3534791" y="4023360"/>
                    <a:pt x="3383280" y="4023360"/>
                  </a:cubicBezTo>
                  <a:lnTo>
                    <a:pt x="274320" y="4023360"/>
                  </a:lnTo>
                  <a:cubicBezTo>
                    <a:pt x="122809" y="4023360"/>
                    <a:pt x="0" y="3900424"/>
                    <a:pt x="0" y="3748913"/>
                  </a:cubicBezTo>
                  <a:close/>
                </a:path>
              </a:pathLst>
            </a:custGeom>
            <a:solidFill>
              <a:srgbClr val="111D32"/>
            </a:solidFill>
          </p:spPr>
        </p:sp>
        <p:sp>
          <p:nvSpPr>
            <p:cNvPr name="Freeform 22" id="22"/>
            <p:cNvSpPr/>
            <p:nvPr/>
          </p:nvSpPr>
          <p:spPr>
            <a:xfrm flipH="false" flipV="false" rot="0">
              <a:off x="0" y="0"/>
              <a:ext cx="3683000" cy="4048760"/>
            </a:xfrm>
            <a:custGeom>
              <a:avLst/>
              <a:gdLst/>
              <a:ahLst/>
              <a:cxnLst/>
              <a:rect r="r" b="b" t="t" l="l"/>
              <a:pathLst>
                <a:path h="4048760" w="3683000">
                  <a:moveTo>
                    <a:pt x="0" y="287147"/>
                  </a:moveTo>
                  <a:cubicBezTo>
                    <a:pt x="0" y="128651"/>
                    <a:pt x="128524" y="0"/>
                    <a:pt x="287020" y="0"/>
                  </a:cubicBezTo>
                  <a:lnTo>
                    <a:pt x="3395980" y="0"/>
                  </a:lnTo>
                  <a:lnTo>
                    <a:pt x="3395980" y="12700"/>
                  </a:lnTo>
                  <a:lnTo>
                    <a:pt x="3395980" y="0"/>
                  </a:lnTo>
                  <a:cubicBezTo>
                    <a:pt x="3554476" y="0"/>
                    <a:pt x="3683000" y="128651"/>
                    <a:pt x="3683000" y="287147"/>
                  </a:cubicBezTo>
                  <a:lnTo>
                    <a:pt x="3670300" y="287147"/>
                  </a:lnTo>
                  <a:lnTo>
                    <a:pt x="3683000" y="287147"/>
                  </a:lnTo>
                  <a:lnTo>
                    <a:pt x="3683000" y="3761613"/>
                  </a:lnTo>
                  <a:lnTo>
                    <a:pt x="3670300" y="3761613"/>
                  </a:lnTo>
                  <a:lnTo>
                    <a:pt x="3683000" y="3761613"/>
                  </a:lnTo>
                  <a:cubicBezTo>
                    <a:pt x="3683000" y="3920236"/>
                    <a:pt x="3554476" y="4048760"/>
                    <a:pt x="3395980" y="4048760"/>
                  </a:cubicBezTo>
                  <a:lnTo>
                    <a:pt x="3395980" y="4036060"/>
                  </a:lnTo>
                  <a:lnTo>
                    <a:pt x="3395980" y="4048760"/>
                  </a:lnTo>
                  <a:lnTo>
                    <a:pt x="287020" y="4048760"/>
                  </a:lnTo>
                  <a:lnTo>
                    <a:pt x="287020" y="4036060"/>
                  </a:lnTo>
                  <a:lnTo>
                    <a:pt x="287020" y="4048760"/>
                  </a:lnTo>
                  <a:cubicBezTo>
                    <a:pt x="128524" y="4048760"/>
                    <a:pt x="0" y="3920109"/>
                    <a:pt x="0" y="3761613"/>
                  </a:cubicBezTo>
                  <a:lnTo>
                    <a:pt x="0" y="287147"/>
                  </a:lnTo>
                  <a:lnTo>
                    <a:pt x="12700" y="287147"/>
                  </a:lnTo>
                  <a:lnTo>
                    <a:pt x="0" y="287147"/>
                  </a:lnTo>
                  <a:moveTo>
                    <a:pt x="25400" y="287147"/>
                  </a:moveTo>
                  <a:lnTo>
                    <a:pt x="25400" y="3761613"/>
                  </a:lnTo>
                  <a:lnTo>
                    <a:pt x="12700" y="3761613"/>
                  </a:lnTo>
                  <a:lnTo>
                    <a:pt x="25400" y="3761613"/>
                  </a:lnTo>
                  <a:cubicBezTo>
                    <a:pt x="25400" y="3906266"/>
                    <a:pt x="142494" y="4023360"/>
                    <a:pt x="287020" y="4023360"/>
                  </a:cubicBezTo>
                  <a:lnTo>
                    <a:pt x="3395980" y="4023360"/>
                  </a:lnTo>
                  <a:cubicBezTo>
                    <a:pt x="3540506" y="4023360"/>
                    <a:pt x="3657600" y="3906139"/>
                    <a:pt x="3657600" y="3761613"/>
                  </a:cubicBezTo>
                  <a:lnTo>
                    <a:pt x="3657600" y="287147"/>
                  </a:lnTo>
                  <a:cubicBezTo>
                    <a:pt x="3657600" y="142621"/>
                    <a:pt x="3540506" y="25400"/>
                    <a:pt x="3395980" y="25400"/>
                  </a:cubicBezTo>
                  <a:lnTo>
                    <a:pt x="287020" y="25400"/>
                  </a:lnTo>
                  <a:lnTo>
                    <a:pt x="287020" y="12700"/>
                  </a:lnTo>
                  <a:lnTo>
                    <a:pt x="287020" y="25400"/>
                  </a:lnTo>
                  <a:cubicBezTo>
                    <a:pt x="142494" y="25400"/>
                    <a:pt x="25400" y="142621"/>
                    <a:pt x="25400" y="287147"/>
                  </a:cubicBezTo>
                  <a:close/>
                </a:path>
              </a:pathLst>
            </a:custGeom>
            <a:solidFill>
              <a:srgbClr val="1E3048"/>
            </a:solidFill>
          </p:spPr>
        </p:sp>
      </p:grpSp>
      <p:grpSp>
        <p:nvGrpSpPr>
          <p:cNvPr name="Group 23" id="23"/>
          <p:cNvGrpSpPr/>
          <p:nvPr/>
        </p:nvGrpSpPr>
        <p:grpSpPr>
          <a:xfrm rot="0">
            <a:off x="4545878" y="4947942"/>
            <a:ext cx="3187374" cy="956212"/>
            <a:chOff x="0" y="0"/>
            <a:chExt cx="3657600" cy="1097280"/>
          </a:xfrm>
        </p:grpSpPr>
        <p:sp>
          <p:nvSpPr>
            <p:cNvPr name="Freeform 24" id="24"/>
            <p:cNvSpPr/>
            <p:nvPr/>
          </p:nvSpPr>
          <p:spPr>
            <a:xfrm flipH="false" flipV="false" rot="0">
              <a:off x="0" y="0"/>
              <a:ext cx="3657600" cy="1097280"/>
            </a:xfrm>
            <a:custGeom>
              <a:avLst/>
              <a:gdLst/>
              <a:ahLst/>
              <a:cxnLst/>
              <a:rect r="r" b="b" t="t" l="l"/>
              <a:pathLst>
                <a:path h="1097280" w="3657600">
                  <a:moveTo>
                    <a:pt x="0" y="0"/>
                  </a:moveTo>
                  <a:lnTo>
                    <a:pt x="3657600" y="0"/>
                  </a:lnTo>
                  <a:lnTo>
                    <a:pt x="3657600" y="1097280"/>
                  </a:lnTo>
                  <a:lnTo>
                    <a:pt x="0" y="1097280"/>
                  </a:lnTo>
                  <a:close/>
                </a:path>
              </a:pathLst>
            </a:custGeom>
            <a:blipFill>
              <a:blip r:embed="rId3">
                <a:alphaModFix amt="0"/>
              </a:blip>
              <a:stretch>
                <a:fillRect l="0" t="-14950" r="0" b="-14950"/>
              </a:stretch>
            </a:blipFill>
          </p:spPr>
        </p:sp>
        <p:sp>
          <p:nvSpPr>
            <p:cNvPr name="TextBox 25" id="25"/>
            <p:cNvSpPr txBox="true"/>
            <p:nvPr/>
          </p:nvSpPr>
          <p:spPr>
            <a:xfrm>
              <a:off x="0" y="-28575"/>
              <a:ext cx="3657600" cy="1125855"/>
            </a:xfrm>
            <a:prstGeom prst="rect">
              <a:avLst/>
            </a:prstGeom>
          </p:spPr>
          <p:txBody>
            <a:bodyPr anchor="ctr" rtlCol="false" tIns="0" lIns="0" bIns="0" rIns="0"/>
            <a:lstStyle/>
            <a:p>
              <a:pPr algn="ctr">
                <a:lnSpc>
                  <a:spcPts val="4320"/>
                </a:lnSpc>
              </a:pPr>
              <a:r>
                <a:rPr lang="en-US" sz="3600" b="true">
                  <a:solidFill>
                    <a:srgbClr val="14B8A6"/>
                  </a:solidFill>
                  <a:latin typeface="Arial Bold"/>
                  <a:ea typeface="Arial Bold"/>
                  <a:cs typeface="Arial Bold"/>
                  <a:sym typeface="Arial Bold"/>
                </a:rPr>
                <a:t>200+</a:t>
              </a:r>
            </a:p>
          </p:txBody>
        </p:sp>
      </p:grpSp>
      <p:grpSp>
        <p:nvGrpSpPr>
          <p:cNvPr name="Group 26" id="26"/>
          <p:cNvGrpSpPr/>
          <p:nvPr/>
        </p:nvGrpSpPr>
        <p:grpSpPr>
          <a:xfrm rot="0">
            <a:off x="4545878" y="6063522"/>
            <a:ext cx="3187374" cy="796843"/>
            <a:chOff x="0" y="0"/>
            <a:chExt cx="3657600" cy="914400"/>
          </a:xfrm>
        </p:grpSpPr>
        <p:sp>
          <p:nvSpPr>
            <p:cNvPr name="Freeform 27" id="27"/>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28" id="28"/>
            <p:cNvSpPr txBox="true"/>
            <p:nvPr/>
          </p:nvSpPr>
          <p:spPr>
            <a:xfrm>
              <a:off x="0" y="-19050"/>
              <a:ext cx="3657600" cy="93345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Providers onboarded</a:t>
              </a:r>
            </a:p>
          </p:txBody>
        </p:sp>
      </p:grpSp>
      <p:grpSp>
        <p:nvGrpSpPr>
          <p:cNvPr name="Group 29" id="29"/>
          <p:cNvGrpSpPr/>
          <p:nvPr/>
        </p:nvGrpSpPr>
        <p:grpSpPr>
          <a:xfrm rot="0">
            <a:off x="8040922" y="4299400"/>
            <a:ext cx="3209508" cy="3528245"/>
            <a:chOff x="0" y="0"/>
            <a:chExt cx="3683000" cy="4048760"/>
          </a:xfrm>
        </p:grpSpPr>
        <p:sp>
          <p:nvSpPr>
            <p:cNvPr name="Freeform 30" id="30"/>
            <p:cNvSpPr/>
            <p:nvPr/>
          </p:nvSpPr>
          <p:spPr>
            <a:xfrm flipH="false" flipV="false" rot="0">
              <a:off x="12700" y="12700"/>
              <a:ext cx="3657600" cy="4023360"/>
            </a:xfrm>
            <a:custGeom>
              <a:avLst/>
              <a:gdLst/>
              <a:ahLst/>
              <a:cxnLst/>
              <a:rect r="r" b="b" t="t" l="l"/>
              <a:pathLst>
                <a:path h="4023360" w="3657600">
                  <a:moveTo>
                    <a:pt x="0" y="274447"/>
                  </a:moveTo>
                  <a:cubicBezTo>
                    <a:pt x="0" y="122936"/>
                    <a:pt x="122809" y="0"/>
                    <a:pt x="274320" y="0"/>
                  </a:cubicBezTo>
                  <a:lnTo>
                    <a:pt x="3383280" y="0"/>
                  </a:lnTo>
                  <a:cubicBezTo>
                    <a:pt x="3534791" y="0"/>
                    <a:pt x="3657600" y="122936"/>
                    <a:pt x="3657600" y="274447"/>
                  </a:cubicBezTo>
                  <a:lnTo>
                    <a:pt x="3657600" y="3748913"/>
                  </a:lnTo>
                  <a:cubicBezTo>
                    <a:pt x="3657600" y="3900551"/>
                    <a:pt x="3534791" y="4023360"/>
                    <a:pt x="3383280" y="4023360"/>
                  </a:cubicBezTo>
                  <a:lnTo>
                    <a:pt x="274320" y="4023360"/>
                  </a:lnTo>
                  <a:cubicBezTo>
                    <a:pt x="122809" y="4023360"/>
                    <a:pt x="0" y="3900424"/>
                    <a:pt x="0" y="3748913"/>
                  </a:cubicBezTo>
                  <a:close/>
                </a:path>
              </a:pathLst>
            </a:custGeom>
            <a:solidFill>
              <a:srgbClr val="111D32"/>
            </a:solidFill>
          </p:spPr>
        </p:sp>
        <p:sp>
          <p:nvSpPr>
            <p:cNvPr name="Freeform 31" id="31"/>
            <p:cNvSpPr/>
            <p:nvPr/>
          </p:nvSpPr>
          <p:spPr>
            <a:xfrm flipH="false" flipV="false" rot="0">
              <a:off x="0" y="0"/>
              <a:ext cx="3683000" cy="4048760"/>
            </a:xfrm>
            <a:custGeom>
              <a:avLst/>
              <a:gdLst/>
              <a:ahLst/>
              <a:cxnLst/>
              <a:rect r="r" b="b" t="t" l="l"/>
              <a:pathLst>
                <a:path h="4048760" w="3683000">
                  <a:moveTo>
                    <a:pt x="0" y="287147"/>
                  </a:moveTo>
                  <a:cubicBezTo>
                    <a:pt x="0" y="128651"/>
                    <a:pt x="128524" y="0"/>
                    <a:pt x="287020" y="0"/>
                  </a:cubicBezTo>
                  <a:lnTo>
                    <a:pt x="3395980" y="0"/>
                  </a:lnTo>
                  <a:lnTo>
                    <a:pt x="3395980" y="12700"/>
                  </a:lnTo>
                  <a:lnTo>
                    <a:pt x="3395980" y="0"/>
                  </a:lnTo>
                  <a:cubicBezTo>
                    <a:pt x="3554476" y="0"/>
                    <a:pt x="3683000" y="128651"/>
                    <a:pt x="3683000" y="287147"/>
                  </a:cubicBezTo>
                  <a:lnTo>
                    <a:pt x="3670300" y="287147"/>
                  </a:lnTo>
                  <a:lnTo>
                    <a:pt x="3683000" y="287147"/>
                  </a:lnTo>
                  <a:lnTo>
                    <a:pt x="3683000" y="3761613"/>
                  </a:lnTo>
                  <a:lnTo>
                    <a:pt x="3670300" y="3761613"/>
                  </a:lnTo>
                  <a:lnTo>
                    <a:pt x="3683000" y="3761613"/>
                  </a:lnTo>
                  <a:cubicBezTo>
                    <a:pt x="3683000" y="3920236"/>
                    <a:pt x="3554476" y="4048760"/>
                    <a:pt x="3395980" y="4048760"/>
                  </a:cubicBezTo>
                  <a:lnTo>
                    <a:pt x="3395980" y="4036060"/>
                  </a:lnTo>
                  <a:lnTo>
                    <a:pt x="3395980" y="4048760"/>
                  </a:lnTo>
                  <a:lnTo>
                    <a:pt x="287020" y="4048760"/>
                  </a:lnTo>
                  <a:lnTo>
                    <a:pt x="287020" y="4036060"/>
                  </a:lnTo>
                  <a:lnTo>
                    <a:pt x="287020" y="4048760"/>
                  </a:lnTo>
                  <a:cubicBezTo>
                    <a:pt x="128524" y="4048760"/>
                    <a:pt x="0" y="3920109"/>
                    <a:pt x="0" y="3761613"/>
                  </a:cubicBezTo>
                  <a:lnTo>
                    <a:pt x="0" y="287147"/>
                  </a:lnTo>
                  <a:lnTo>
                    <a:pt x="12700" y="287147"/>
                  </a:lnTo>
                  <a:lnTo>
                    <a:pt x="0" y="287147"/>
                  </a:lnTo>
                  <a:moveTo>
                    <a:pt x="25400" y="287147"/>
                  </a:moveTo>
                  <a:lnTo>
                    <a:pt x="25400" y="3761613"/>
                  </a:lnTo>
                  <a:lnTo>
                    <a:pt x="12700" y="3761613"/>
                  </a:lnTo>
                  <a:lnTo>
                    <a:pt x="25400" y="3761613"/>
                  </a:lnTo>
                  <a:cubicBezTo>
                    <a:pt x="25400" y="3906266"/>
                    <a:pt x="142494" y="4023360"/>
                    <a:pt x="287020" y="4023360"/>
                  </a:cubicBezTo>
                  <a:lnTo>
                    <a:pt x="3395980" y="4023360"/>
                  </a:lnTo>
                  <a:cubicBezTo>
                    <a:pt x="3540506" y="4023360"/>
                    <a:pt x="3657600" y="3906139"/>
                    <a:pt x="3657600" y="3761613"/>
                  </a:cubicBezTo>
                  <a:lnTo>
                    <a:pt x="3657600" y="287147"/>
                  </a:lnTo>
                  <a:cubicBezTo>
                    <a:pt x="3657600" y="142621"/>
                    <a:pt x="3540506" y="25400"/>
                    <a:pt x="3395980" y="25400"/>
                  </a:cubicBezTo>
                  <a:lnTo>
                    <a:pt x="287020" y="25400"/>
                  </a:lnTo>
                  <a:lnTo>
                    <a:pt x="287020" y="12700"/>
                  </a:lnTo>
                  <a:lnTo>
                    <a:pt x="287020" y="25400"/>
                  </a:lnTo>
                  <a:cubicBezTo>
                    <a:pt x="142494" y="25400"/>
                    <a:pt x="25400" y="142621"/>
                    <a:pt x="25400" y="287147"/>
                  </a:cubicBezTo>
                  <a:close/>
                </a:path>
              </a:pathLst>
            </a:custGeom>
            <a:solidFill>
              <a:srgbClr val="1E3048"/>
            </a:solidFill>
          </p:spPr>
        </p:sp>
      </p:grpSp>
      <p:grpSp>
        <p:nvGrpSpPr>
          <p:cNvPr name="Group 32" id="32"/>
          <p:cNvGrpSpPr/>
          <p:nvPr/>
        </p:nvGrpSpPr>
        <p:grpSpPr>
          <a:xfrm rot="0">
            <a:off x="8051989" y="4947942"/>
            <a:ext cx="3187374" cy="956212"/>
            <a:chOff x="0" y="0"/>
            <a:chExt cx="3657600" cy="1097280"/>
          </a:xfrm>
        </p:grpSpPr>
        <p:sp>
          <p:nvSpPr>
            <p:cNvPr name="Freeform 33" id="33"/>
            <p:cNvSpPr/>
            <p:nvPr/>
          </p:nvSpPr>
          <p:spPr>
            <a:xfrm flipH="false" flipV="false" rot="0">
              <a:off x="0" y="0"/>
              <a:ext cx="3657600" cy="1097280"/>
            </a:xfrm>
            <a:custGeom>
              <a:avLst/>
              <a:gdLst/>
              <a:ahLst/>
              <a:cxnLst/>
              <a:rect r="r" b="b" t="t" l="l"/>
              <a:pathLst>
                <a:path h="1097280" w="3657600">
                  <a:moveTo>
                    <a:pt x="0" y="0"/>
                  </a:moveTo>
                  <a:lnTo>
                    <a:pt x="3657600" y="0"/>
                  </a:lnTo>
                  <a:lnTo>
                    <a:pt x="3657600" y="1097280"/>
                  </a:lnTo>
                  <a:lnTo>
                    <a:pt x="0" y="1097280"/>
                  </a:lnTo>
                  <a:close/>
                </a:path>
              </a:pathLst>
            </a:custGeom>
            <a:blipFill>
              <a:blip r:embed="rId3">
                <a:alphaModFix amt="0"/>
              </a:blip>
              <a:stretch>
                <a:fillRect l="0" t="-14950" r="0" b="-14950"/>
              </a:stretch>
            </a:blipFill>
          </p:spPr>
        </p:sp>
        <p:sp>
          <p:nvSpPr>
            <p:cNvPr name="TextBox 34" id="34"/>
            <p:cNvSpPr txBox="true"/>
            <p:nvPr/>
          </p:nvSpPr>
          <p:spPr>
            <a:xfrm>
              <a:off x="0" y="-28575"/>
              <a:ext cx="3657600" cy="1125855"/>
            </a:xfrm>
            <a:prstGeom prst="rect">
              <a:avLst/>
            </a:prstGeom>
          </p:spPr>
          <p:txBody>
            <a:bodyPr anchor="ctr" rtlCol="false" tIns="0" lIns="0" bIns="0" rIns="0"/>
            <a:lstStyle/>
            <a:p>
              <a:pPr algn="ctr">
                <a:lnSpc>
                  <a:spcPts val="4320"/>
                </a:lnSpc>
              </a:pPr>
              <a:r>
                <a:rPr lang="en-US" sz="3600" b="true">
                  <a:solidFill>
                    <a:srgbClr val="14B8A6"/>
                  </a:solidFill>
                  <a:latin typeface="Arial Bold"/>
                  <a:ea typeface="Arial Bold"/>
                  <a:cs typeface="Arial Bold"/>
                  <a:sym typeface="Arial Bold"/>
                </a:rPr>
                <a:t>95%</a:t>
              </a:r>
            </a:p>
          </p:txBody>
        </p:sp>
      </p:grpSp>
      <p:grpSp>
        <p:nvGrpSpPr>
          <p:cNvPr name="Group 35" id="35"/>
          <p:cNvGrpSpPr/>
          <p:nvPr/>
        </p:nvGrpSpPr>
        <p:grpSpPr>
          <a:xfrm rot="0">
            <a:off x="8051989" y="6063522"/>
            <a:ext cx="3187374" cy="796843"/>
            <a:chOff x="0" y="0"/>
            <a:chExt cx="3657600" cy="914400"/>
          </a:xfrm>
        </p:grpSpPr>
        <p:sp>
          <p:nvSpPr>
            <p:cNvPr name="Freeform 36" id="36"/>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37" id="37"/>
            <p:cNvSpPr txBox="true"/>
            <p:nvPr/>
          </p:nvSpPr>
          <p:spPr>
            <a:xfrm>
              <a:off x="0" y="-19050"/>
              <a:ext cx="3657600" cy="93345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Routing accuracy</a:t>
              </a:r>
            </a:p>
          </p:txBody>
        </p:sp>
      </p:grpSp>
      <p:grpSp>
        <p:nvGrpSpPr>
          <p:cNvPr name="Group 38" id="38"/>
          <p:cNvGrpSpPr/>
          <p:nvPr/>
        </p:nvGrpSpPr>
        <p:grpSpPr>
          <a:xfrm rot="0">
            <a:off x="11547033" y="4299400"/>
            <a:ext cx="3209508" cy="3528245"/>
            <a:chOff x="0" y="0"/>
            <a:chExt cx="3683000" cy="4048760"/>
          </a:xfrm>
        </p:grpSpPr>
        <p:sp>
          <p:nvSpPr>
            <p:cNvPr name="Freeform 39" id="39"/>
            <p:cNvSpPr/>
            <p:nvPr/>
          </p:nvSpPr>
          <p:spPr>
            <a:xfrm flipH="false" flipV="false" rot="0">
              <a:off x="12700" y="12700"/>
              <a:ext cx="3657600" cy="4023360"/>
            </a:xfrm>
            <a:custGeom>
              <a:avLst/>
              <a:gdLst/>
              <a:ahLst/>
              <a:cxnLst/>
              <a:rect r="r" b="b" t="t" l="l"/>
              <a:pathLst>
                <a:path h="4023360" w="3657600">
                  <a:moveTo>
                    <a:pt x="0" y="274447"/>
                  </a:moveTo>
                  <a:cubicBezTo>
                    <a:pt x="0" y="122936"/>
                    <a:pt x="122809" y="0"/>
                    <a:pt x="274320" y="0"/>
                  </a:cubicBezTo>
                  <a:lnTo>
                    <a:pt x="3383280" y="0"/>
                  </a:lnTo>
                  <a:cubicBezTo>
                    <a:pt x="3534791" y="0"/>
                    <a:pt x="3657600" y="122936"/>
                    <a:pt x="3657600" y="274447"/>
                  </a:cubicBezTo>
                  <a:lnTo>
                    <a:pt x="3657600" y="3748913"/>
                  </a:lnTo>
                  <a:cubicBezTo>
                    <a:pt x="3657600" y="3900551"/>
                    <a:pt x="3534791" y="4023360"/>
                    <a:pt x="3383280" y="4023360"/>
                  </a:cubicBezTo>
                  <a:lnTo>
                    <a:pt x="274320" y="4023360"/>
                  </a:lnTo>
                  <a:cubicBezTo>
                    <a:pt x="122809" y="4023360"/>
                    <a:pt x="0" y="3900424"/>
                    <a:pt x="0" y="3748913"/>
                  </a:cubicBezTo>
                  <a:close/>
                </a:path>
              </a:pathLst>
            </a:custGeom>
            <a:solidFill>
              <a:srgbClr val="111D32"/>
            </a:solidFill>
          </p:spPr>
        </p:sp>
        <p:sp>
          <p:nvSpPr>
            <p:cNvPr name="Freeform 40" id="40"/>
            <p:cNvSpPr/>
            <p:nvPr/>
          </p:nvSpPr>
          <p:spPr>
            <a:xfrm flipH="false" flipV="false" rot="0">
              <a:off x="0" y="0"/>
              <a:ext cx="3683000" cy="4048760"/>
            </a:xfrm>
            <a:custGeom>
              <a:avLst/>
              <a:gdLst/>
              <a:ahLst/>
              <a:cxnLst/>
              <a:rect r="r" b="b" t="t" l="l"/>
              <a:pathLst>
                <a:path h="4048760" w="3683000">
                  <a:moveTo>
                    <a:pt x="0" y="287147"/>
                  </a:moveTo>
                  <a:cubicBezTo>
                    <a:pt x="0" y="128651"/>
                    <a:pt x="128524" y="0"/>
                    <a:pt x="287020" y="0"/>
                  </a:cubicBezTo>
                  <a:lnTo>
                    <a:pt x="3395980" y="0"/>
                  </a:lnTo>
                  <a:lnTo>
                    <a:pt x="3395980" y="12700"/>
                  </a:lnTo>
                  <a:lnTo>
                    <a:pt x="3395980" y="0"/>
                  </a:lnTo>
                  <a:cubicBezTo>
                    <a:pt x="3554476" y="0"/>
                    <a:pt x="3683000" y="128651"/>
                    <a:pt x="3683000" y="287147"/>
                  </a:cubicBezTo>
                  <a:lnTo>
                    <a:pt x="3670300" y="287147"/>
                  </a:lnTo>
                  <a:lnTo>
                    <a:pt x="3683000" y="287147"/>
                  </a:lnTo>
                  <a:lnTo>
                    <a:pt x="3683000" y="3761613"/>
                  </a:lnTo>
                  <a:lnTo>
                    <a:pt x="3670300" y="3761613"/>
                  </a:lnTo>
                  <a:lnTo>
                    <a:pt x="3683000" y="3761613"/>
                  </a:lnTo>
                  <a:cubicBezTo>
                    <a:pt x="3683000" y="3920236"/>
                    <a:pt x="3554476" y="4048760"/>
                    <a:pt x="3395980" y="4048760"/>
                  </a:cubicBezTo>
                  <a:lnTo>
                    <a:pt x="3395980" y="4036060"/>
                  </a:lnTo>
                  <a:lnTo>
                    <a:pt x="3395980" y="4048760"/>
                  </a:lnTo>
                  <a:lnTo>
                    <a:pt x="287020" y="4048760"/>
                  </a:lnTo>
                  <a:lnTo>
                    <a:pt x="287020" y="4036060"/>
                  </a:lnTo>
                  <a:lnTo>
                    <a:pt x="287020" y="4048760"/>
                  </a:lnTo>
                  <a:cubicBezTo>
                    <a:pt x="128524" y="4048760"/>
                    <a:pt x="0" y="3920109"/>
                    <a:pt x="0" y="3761613"/>
                  </a:cubicBezTo>
                  <a:lnTo>
                    <a:pt x="0" y="287147"/>
                  </a:lnTo>
                  <a:lnTo>
                    <a:pt x="12700" y="287147"/>
                  </a:lnTo>
                  <a:lnTo>
                    <a:pt x="0" y="287147"/>
                  </a:lnTo>
                  <a:moveTo>
                    <a:pt x="25400" y="287147"/>
                  </a:moveTo>
                  <a:lnTo>
                    <a:pt x="25400" y="3761613"/>
                  </a:lnTo>
                  <a:lnTo>
                    <a:pt x="12700" y="3761613"/>
                  </a:lnTo>
                  <a:lnTo>
                    <a:pt x="25400" y="3761613"/>
                  </a:lnTo>
                  <a:cubicBezTo>
                    <a:pt x="25400" y="3906266"/>
                    <a:pt x="142494" y="4023360"/>
                    <a:pt x="287020" y="4023360"/>
                  </a:cubicBezTo>
                  <a:lnTo>
                    <a:pt x="3395980" y="4023360"/>
                  </a:lnTo>
                  <a:cubicBezTo>
                    <a:pt x="3540506" y="4023360"/>
                    <a:pt x="3657600" y="3906139"/>
                    <a:pt x="3657600" y="3761613"/>
                  </a:cubicBezTo>
                  <a:lnTo>
                    <a:pt x="3657600" y="287147"/>
                  </a:lnTo>
                  <a:cubicBezTo>
                    <a:pt x="3657600" y="142621"/>
                    <a:pt x="3540506" y="25400"/>
                    <a:pt x="3395980" y="25400"/>
                  </a:cubicBezTo>
                  <a:lnTo>
                    <a:pt x="287020" y="25400"/>
                  </a:lnTo>
                  <a:lnTo>
                    <a:pt x="287020" y="12700"/>
                  </a:lnTo>
                  <a:lnTo>
                    <a:pt x="287020" y="25400"/>
                  </a:lnTo>
                  <a:cubicBezTo>
                    <a:pt x="142494" y="25400"/>
                    <a:pt x="25400" y="142621"/>
                    <a:pt x="25400" y="287147"/>
                  </a:cubicBezTo>
                  <a:close/>
                </a:path>
              </a:pathLst>
            </a:custGeom>
            <a:solidFill>
              <a:srgbClr val="1E3048"/>
            </a:solidFill>
          </p:spPr>
        </p:sp>
      </p:grpSp>
      <p:grpSp>
        <p:nvGrpSpPr>
          <p:cNvPr name="Group 41" id="41"/>
          <p:cNvGrpSpPr/>
          <p:nvPr/>
        </p:nvGrpSpPr>
        <p:grpSpPr>
          <a:xfrm rot="0">
            <a:off x="11558100" y="4947942"/>
            <a:ext cx="3187374" cy="956212"/>
            <a:chOff x="0" y="0"/>
            <a:chExt cx="3657600" cy="1097280"/>
          </a:xfrm>
        </p:grpSpPr>
        <p:sp>
          <p:nvSpPr>
            <p:cNvPr name="Freeform 42" id="42"/>
            <p:cNvSpPr/>
            <p:nvPr/>
          </p:nvSpPr>
          <p:spPr>
            <a:xfrm flipH="false" flipV="false" rot="0">
              <a:off x="0" y="0"/>
              <a:ext cx="3657600" cy="1097280"/>
            </a:xfrm>
            <a:custGeom>
              <a:avLst/>
              <a:gdLst/>
              <a:ahLst/>
              <a:cxnLst/>
              <a:rect r="r" b="b" t="t" l="l"/>
              <a:pathLst>
                <a:path h="1097280" w="3657600">
                  <a:moveTo>
                    <a:pt x="0" y="0"/>
                  </a:moveTo>
                  <a:lnTo>
                    <a:pt x="3657600" y="0"/>
                  </a:lnTo>
                  <a:lnTo>
                    <a:pt x="3657600" y="1097280"/>
                  </a:lnTo>
                  <a:lnTo>
                    <a:pt x="0" y="1097280"/>
                  </a:lnTo>
                  <a:close/>
                </a:path>
              </a:pathLst>
            </a:custGeom>
            <a:blipFill>
              <a:blip r:embed="rId3">
                <a:alphaModFix amt="0"/>
              </a:blip>
              <a:stretch>
                <a:fillRect l="0" t="-14950" r="0" b="-14950"/>
              </a:stretch>
            </a:blipFill>
          </p:spPr>
        </p:sp>
        <p:sp>
          <p:nvSpPr>
            <p:cNvPr name="TextBox 43" id="43"/>
            <p:cNvSpPr txBox="true"/>
            <p:nvPr/>
          </p:nvSpPr>
          <p:spPr>
            <a:xfrm>
              <a:off x="0" y="-28575"/>
              <a:ext cx="3657600" cy="1125855"/>
            </a:xfrm>
            <a:prstGeom prst="rect">
              <a:avLst/>
            </a:prstGeom>
          </p:spPr>
          <p:txBody>
            <a:bodyPr anchor="ctr" rtlCol="false" tIns="0" lIns="0" bIns="0" rIns="0"/>
            <a:lstStyle/>
            <a:p>
              <a:pPr algn="ctr">
                <a:lnSpc>
                  <a:spcPts val="4320"/>
                </a:lnSpc>
              </a:pPr>
              <a:r>
                <a:rPr lang="en-US" sz="3600" b="true">
                  <a:solidFill>
                    <a:srgbClr val="14B8A6"/>
                  </a:solidFill>
                  <a:latin typeface="Arial Bold"/>
                  <a:ea typeface="Arial Bold"/>
                  <a:cs typeface="Arial Bold"/>
                  <a:sym typeface="Arial Bold"/>
                </a:rPr>
                <a:t>40%</a:t>
              </a:r>
            </a:p>
          </p:txBody>
        </p:sp>
      </p:grpSp>
      <p:grpSp>
        <p:nvGrpSpPr>
          <p:cNvPr name="Group 44" id="44"/>
          <p:cNvGrpSpPr/>
          <p:nvPr/>
        </p:nvGrpSpPr>
        <p:grpSpPr>
          <a:xfrm rot="0">
            <a:off x="11558100" y="6063522"/>
            <a:ext cx="3187374" cy="796843"/>
            <a:chOff x="0" y="0"/>
            <a:chExt cx="3657600" cy="914400"/>
          </a:xfrm>
        </p:grpSpPr>
        <p:sp>
          <p:nvSpPr>
            <p:cNvPr name="Freeform 45" id="45"/>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3">
                <a:alphaModFix amt="0"/>
              </a:blip>
              <a:stretch>
                <a:fillRect l="0" t="-27940" r="0" b="-27940"/>
              </a:stretch>
            </a:blipFill>
          </p:spPr>
        </p:sp>
        <p:sp>
          <p:nvSpPr>
            <p:cNvPr name="TextBox 46" id="46"/>
            <p:cNvSpPr txBox="true"/>
            <p:nvPr/>
          </p:nvSpPr>
          <p:spPr>
            <a:xfrm>
              <a:off x="0" y="-19050"/>
              <a:ext cx="3657600" cy="933450"/>
            </a:xfrm>
            <a:prstGeom prst="rect">
              <a:avLst/>
            </a:prstGeom>
          </p:spPr>
          <p:txBody>
            <a:bodyPr anchor="ctr" rtlCol="false" tIns="0" lIns="0" bIns="0" rIns="0"/>
            <a:lstStyle/>
            <a:p>
              <a:pPr algn="ctr">
                <a:lnSpc>
                  <a:spcPts val="2160"/>
                </a:lnSpc>
              </a:pPr>
              <a:r>
                <a:rPr lang="en-US" sz="1800">
                  <a:solidFill>
                    <a:srgbClr val="94A3B8"/>
                  </a:solidFill>
                  <a:latin typeface="Arial"/>
                  <a:ea typeface="Arial"/>
                  <a:cs typeface="Arial"/>
                  <a:sym typeface="Arial"/>
                </a:rPr>
                <a:t>Reduction in access time</a:t>
              </a:r>
            </a:p>
          </p:txBody>
        </p:sp>
      </p:grpSp>
      <p:sp>
        <p:nvSpPr>
          <p:cNvPr name="Freeform 47" id="47"/>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a:ln cap="sq">
            <a:noFill/>
            <a:prstDash val="solid"/>
            <a:miter/>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661760" y="2533237"/>
            <a:ext cx="19978027" cy="1997803"/>
            <a:chOff x="0" y="0"/>
            <a:chExt cx="14630400" cy="1463040"/>
          </a:xfrm>
        </p:grpSpPr>
        <p:sp>
          <p:nvSpPr>
            <p:cNvPr name="Freeform 3" id="3"/>
            <p:cNvSpPr/>
            <p:nvPr/>
          </p:nvSpPr>
          <p:spPr>
            <a:xfrm flipH="false" flipV="false" rot="0">
              <a:off x="0" y="0"/>
              <a:ext cx="14630400" cy="1463040"/>
            </a:xfrm>
            <a:custGeom>
              <a:avLst/>
              <a:gdLst/>
              <a:ahLst/>
              <a:cxnLst/>
              <a:rect r="r" b="b" t="t" l="l"/>
              <a:pathLst>
                <a:path h="1463040" w="14630400">
                  <a:moveTo>
                    <a:pt x="0" y="0"/>
                  </a:moveTo>
                  <a:lnTo>
                    <a:pt x="14630400" y="0"/>
                  </a:lnTo>
                  <a:lnTo>
                    <a:pt x="14630400" y="1463040"/>
                  </a:lnTo>
                  <a:lnTo>
                    <a:pt x="0" y="1463040"/>
                  </a:lnTo>
                  <a:close/>
                </a:path>
              </a:pathLst>
            </a:custGeom>
            <a:blipFill>
              <a:blip r:embed="rId3">
                <a:alphaModFix amt="0"/>
              </a:blip>
              <a:stretch>
                <a:fillRect l="0" t="-144850" r="0" b="-144850"/>
              </a:stretch>
            </a:blipFill>
          </p:spPr>
        </p:sp>
        <p:sp>
          <p:nvSpPr>
            <p:cNvPr name="TextBox 4" id="4"/>
            <p:cNvSpPr txBox="true"/>
            <p:nvPr/>
          </p:nvSpPr>
          <p:spPr>
            <a:xfrm>
              <a:off x="0" y="-38100"/>
              <a:ext cx="14630400" cy="1501140"/>
            </a:xfrm>
            <a:prstGeom prst="rect">
              <a:avLst/>
            </a:prstGeom>
          </p:spPr>
          <p:txBody>
            <a:bodyPr anchor="ctr" rtlCol="false" tIns="0" lIns="0" bIns="0" rIns="0"/>
            <a:lstStyle/>
            <a:p>
              <a:pPr algn="ctr">
                <a:lnSpc>
                  <a:spcPts val="10439"/>
                </a:lnSpc>
              </a:pPr>
              <a:r>
                <a:rPr lang="en-US" sz="8699" b="true">
                  <a:solidFill>
                    <a:srgbClr val="14B8A6"/>
                  </a:solidFill>
                  <a:latin typeface="Arial Bold"/>
                  <a:ea typeface="Arial Bold"/>
                  <a:cs typeface="Arial Bold"/>
                  <a:sym typeface="Arial Bold"/>
                </a:rPr>
                <a:t>Thank You</a:t>
              </a:r>
            </a:p>
          </p:txBody>
        </p:sp>
      </p:grpSp>
      <p:grpSp>
        <p:nvGrpSpPr>
          <p:cNvPr name="Group 5" id="5"/>
          <p:cNvGrpSpPr/>
          <p:nvPr/>
        </p:nvGrpSpPr>
        <p:grpSpPr>
          <a:xfrm rot="0">
            <a:off x="2998251" y="4135477"/>
            <a:ext cx="12658005" cy="791125"/>
            <a:chOff x="0" y="0"/>
            <a:chExt cx="14630400" cy="914400"/>
          </a:xfrm>
        </p:grpSpPr>
        <p:sp>
          <p:nvSpPr>
            <p:cNvPr name="Freeform 6" id="6"/>
            <p:cNvSpPr/>
            <p:nvPr/>
          </p:nvSpPr>
          <p:spPr>
            <a:xfrm flipH="false" flipV="false" rot="0">
              <a:off x="0" y="0"/>
              <a:ext cx="14630400" cy="914400"/>
            </a:xfrm>
            <a:custGeom>
              <a:avLst/>
              <a:gdLst/>
              <a:ahLst/>
              <a:cxnLst/>
              <a:rect r="r" b="b" t="t" l="l"/>
              <a:pathLst>
                <a:path h="914400" w="14630400">
                  <a:moveTo>
                    <a:pt x="0" y="0"/>
                  </a:moveTo>
                  <a:lnTo>
                    <a:pt x="14630400" y="0"/>
                  </a:lnTo>
                  <a:lnTo>
                    <a:pt x="14630400" y="914400"/>
                  </a:lnTo>
                  <a:lnTo>
                    <a:pt x="0" y="914400"/>
                  </a:lnTo>
                  <a:close/>
                </a:path>
              </a:pathLst>
            </a:custGeom>
            <a:blipFill>
              <a:blip r:embed="rId3">
                <a:alphaModFix amt="0"/>
              </a:blip>
              <a:stretch>
                <a:fillRect l="0" t="-261760" r="0" b="-261760"/>
              </a:stretch>
            </a:blipFill>
          </p:spPr>
        </p:sp>
        <p:sp>
          <p:nvSpPr>
            <p:cNvPr name="TextBox 7" id="7"/>
            <p:cNvSpPr txBox="true"/>
            <p:nvPr/>
          </p:nvSpPr>
          <p:spPr>
            <a:xfrm>
              <a:off x="0" y="-9525"/>
              <a:ext cx="14630400" cy="923925"/>
            </a:xfrm>
            <a:prstGeom prst="rect">
              <a:avLst/>
            </a:prstGeom>
          </p:spPr>
          <p:txBody>
            <a:bodyPr anchor="ctr" rtlCol="false" tIns="0" lIns="0" bIns="0" rIns="0"/>
            <a:lstStyle/>
            <a:p>
              <a:pPr algn="ctr">
                <a:lnSpc>
                  <a:spcPts val="2879"/>
                </a:lnSpc>
              </a:pPr>
              <a:r>
                <a:rPr lang="en-US" sz="2400">
                  <a:solidFill>
                    <a:srgbClr val="94A3B8"/>
                  </a:solidFill>
                  <a:latin typeface="Arial"/>
                  <a:ea typeface="Arial"/>
                  <a:cs typeface="Arial"/>
                  <a:sym typeface="Arial"/>
                </a:rPr>
                <a:t>Smart Emergency Router</a:t>
              </a:r>
            </a:p>
          </p:txBody>
        </p:sp>
      </p:grpSp>
      <p:grpSp>
        <p:nvGrpSpPr>
          <p:cNvPr name="Group 8" id="8"/>
          <p:cNvGrpSpPr/>
          <p:nvPr/>
        </p:nvGrpSpPr>
        <p:grpSpPr>
          <a:xfrm rot="0">
            <a:off x="2998251" y="5327564"/>
            <a:ext cx="12658005" cy="791125"/>
            <a:chOff x="0" y="0"/>
            <a:chExt cx="14630400" cy="914400"/>
          </a:xfrm>
        </p:grpSpPr>
        <p:sp>
          <p:nvSpPr>
            <p:cNvPr name="Freeform 9" id="9"/>
            <p:cNvSpPr/>
            <p:nvPr/>
          </p:nvSpPr>
          <p:spPr>
            <a:xfrm flipH="false" flipV="false" rot="0">
              <a:off x="0" y="0"/>
              <a:ext cx="14630400" cy="914400"/>
            </a:xfrm>
            <a:custGeom>
              <a:avLst/>
              <a:gdLst/>
              <a:ahLst/>
              <a:cxnLst/>
              <a:rect r="r" b="b" t="t" l="l"/>
              <a:pathLst>
                <a:path h="914400" w="14630400">
                  <a:moveTo>
                    <a:pt x="0" y="0"/>
                  </a:moveTo>
                  <a:lnTo>
                    <a:pt x="14630400" y="0"/>
                  </a:lnTo>
                  <a:lnTo>
                    <a:pt x="14630400" y="914400"/>
                  </a:lnTo>
                  <a:lnTo>
                    <a:pt x="0" y="914400"/>
                  </a:lnTo>
                  <a:close/>
                </a:path>
              </a:pathLst>
            </a:custGeom>
            <a:blipFill>
              <a:blip r:embed="rId3">
                <a:alphaModFix amt="0"/>
              </a:blip>
              <a:stretch>
                <a:fillRect l="0" t="-261760" r="0" b="-261760"/>
              </a:stretch>
            </a:blipFill>
          </p:spPr>
        </p:sp>
        <p:sp>
          <p:nvSpPr>
            <p:cNvPr name="TextBox 10" id="10"/>
            <p:cNvSpPr txBox="true"/>
            <p:nvPr/>
          </p:nvSpPr>
          <p:spPr>
            <a:xfrm>
              <a:off x="0" y="-9525"/>
              <a:ext cx="14630400" cy="923925"/>
            </a:xfrm>
            <a:prstGeom prst="rect">
              <a:avLst/>
            </a:prstGeom>
          </p:spPr>
          <p:txBody>
            <a:bodyPr anchor="ctr" rtlCol="false" tIns="0" lIns="0" bIns="0" rIns="0"/>
            <a:lstStyle/>
            <a:p>
              <a:pPr algn="ctr">
                <a:lnSpc>
                  <a:spcPts val="2520"/>
                </a:lnSpc>
              </a:pPr>
              <a:r>
                <a:rPr lang="en-US" sz="2100" b="true">
                  <a:solidFill>
                    <a:srgbClr val="14B8A6"/>
                  </a:solidFill>
                  <a:latin typeface="Arial Bold"/>
                  <a:ea typeface="Arial Bold"/>
                  <a:cs typeface="Arial Bold"/>
                  <a:sym typeface="Arial Bold"/>
                </a:rPr>
                <a:t>Let's build the future of healthcare access in Egypt 🚀</a:t>
              </a:r>
            </a:p>
          </p:txBody>
        </p:sp>
      </p:grpSp>
      <p:sp>
        <p:nvSpPr>
          <p:cNvPr name="Freeform 11" id="11"/>
          <p:cNvSpPr/>
          <p:nvPr/>
        </p:nvSpPr>
        <p:spPr>
          <a:xfrm flipH="false" flipV="false" rot="0">
            <a:off x="388722" y="204515"/>
            <a:ext cx="1934404" cy="1934404"/>
          </a:xfrm>
          <a:custGeom>
            <a:avLst/>
            <a:gdLst/>
            <a:ahLst/>
            <a:cxnLst/>
            <a:rect r="r" b="b" t="t" l="l"/>
            <a:pathLst>
              <a:path h="1934404" w="1934404">
                <a:moveTo>
                  <a:pt x="0" y="0"/>
                </a:moveTo>
                <a:lnTo>
                  <a:pt x="1934404" y="0"/>
                </a:lnTo>
                <a:lnTo>
                  <a:pt x="1934404" y="1934404"/>
                </a:lnTo>
                <a:lnTo>
                  <a:pt x="0" y="193440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DAHBfI4nL9Q</dc:identifier>
  <dcterms:modified xsi:type="dcterms:W3CDTF">2011-08-01T06:04:30Z</dcterms:modified>
  <cp:revision>1</cp:revision>
  <dc:title>SER_Presentation.pptx</dc:title>
</cp:coreProperties>
</file>